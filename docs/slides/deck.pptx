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c842010-d20f-8443-8e60-acef96b2392b}">
          <p14:sldIdLst>
            <p14:sldId id="256"/>
            <p14:sldId id="257"/>
          </p14:sldIdLst>
        </p14:section>
        <p14:section name="How it works" id="{7f5518da-97cd-13a1-3d3e-2bb3468887a7}">
          <p14:sldIdLst>
            <p14:sldId id="258"/>
            <p14:sldId id="259"/>
            <p14:sldId id="260"/>
            <p14:sldId id="261"/>
          </p14:sldIdLst>
        </p14:section>
        <p14:section name="Why it holds" id="{acc0fe8a-c306-f207-4c2a-599d1c74292c}">
          <p14:sldIdLst>
            <p14:sldId id="262"/>
            <p14:sldId id="263"/>
          </p14:sldIdLst>
        </p14:section>
        <p14:section name="Where it goes" id="{064718c5-b37e-6c83-11ed-977b488ed487}">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before anything else (60-second opening, demo_script.md):
"This is a feedback ingestion service. Feedback comes from five places: Play Store reviews, tweets, Intercom conversations, Discourse forum posts, and a custom webhook that takes the record shape Enterpret's public docs describe. Some sources push to us with signed webhooks; Discourse we pull on a timer. Many customers, called tenants, share the service, and each one only ever sees its own data.
The design fits in one sentence: we save the raw payload to disk before we say yes, and everything after that is a retry or a replay. A webhook does two checks and one write. The source id in the URL picks the source, and that source's HMAC signature proves the sender. There is no API key on that route, because a third-party sender cannot add ours. Then one row goes into a raw_events table and we answer 202, which means accepted, not processed. A background worker takes rows from that table, asks the right connector to turn each one into a standard feedback record, and saves it keyed on source plus the source's own id. So duplicates collapse to one row, bad payloads go to a dead list, and anything can be replayed."
The three guarantees (whiteboard.md, step 6): durable before ack; idempotent by key; replayable.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requirement maps to code and to a test that proves it (00_architecture.md, requirements map):
- Sources: tests/unit/connectors/test_contract.py, test_registry.py, one test per connector; the custom webhook in tests/unit/connectors/test_custom.py and tests/api/test_custom_webhook.py.
- Push: tests/api/test_push_api.py (no API key, signature first, push-only), tests/e2e/test_push_to_query.py.
- Pull: tests/unit/services/test_pull.py, tests/e2e/test_pull_to_query.py, tests/live/test_discourse_live.py.
- Multi-tenancy: tests/adapters/contract_stores.py, tests/api/test_records_api.py, tests/api/test_tenants_api.py.
- Idempotency: tests/e2e/test_push_to_query.py, tests/adapters/contract_upsert.py.
- Several sources of one type: tests/e2e/test_multi_source_same_type.py.
- Beyond the brief: tests/e2e/test_dlq_replay.py, tests/e2e/test_restart_resume.py, tests/api/test_replay_api.py (bulk replay).
If asked "did you write this": "I designed it and reviewed every file; AI agents wrote and audited the code. Every big decision was argued by five independent advisor agents and is written up in docs/decisions."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Whiteboard steps 1 to 3 (whiteboard.md).
Push arrow: "The webhook does two checks and one write. The source id in the URL picks the source, and the tenant comes from that source row. Then the signature: an HMAC over the raw bytes with that source's own secret. No API key, because a third-party sender like Intercom cannot add our key. Webhooks are push-only: a pull source answers 409. Then one insert, then 202. 202 means accepted, not processed."
Pull arrow (it points from the service to the source: we fetch): "Polling is just another producer. The connector returns pages; every payload goes through the same accept call a webhook uses."
raw_events: "This table is both the audit log and the work queue. Unique on (source, external event id), so a repeated webhook is stored once."
Worker: "One SQL statement claims a batch: rows that are pending or failed and due, or whose lease expired. It sets processing and a lease and returns them. Atomic, so two workers never take the same row. A crashed worker's rows come back when the lease expires."
Ops strip: health, the dead list, replay of one event, and bulk replay by source and status.
Connectors: "Nothing else in the system knows which sources exist."
If asked "why not a real queue": "A table I can query, replay by id and filter per tenant. It is one process and zero infrastructure for a demo. The adapter boundary is where Kafka or SQS would go, and I would be honest that a broker changes the retry model, not just the adapter."
Never call raw_events an "outbox". It is an inbox, a durable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sequence (00_architecture.md) and demo step 3 (demo_script.md).
1. "The webhook does two checks and one write: the source id picks the source, its HMAC proves the sender." Order: unknown source 404; a pull source 409 (webhooks are push-only); bad signature 401 and nothing is stored; only then a disabled source 409, so state is told only to a caller who proved itself; a body that is not a JSON object 400. Any body over 1 MiB is 413 before all of this. The HMAC is checked on the raw bytes before we parse or write.
2. "202 means saved, not processed yet. The second copy has the same event id, the review id plus its last-modified time, so it is dropped, and we still answer 202 so the sender stops retrying."
3. "One SQL statement claims a batch of due rows ... Atomic, so two workers never take the same row. A crashed worker's rows come back when the lease expires."
4. "A connector validates the payload with a Pydantic input model, then maps it to our record."
5. "Unique on (source, external id). The upsert only applies a version that is not older." Outcomes: "Bad payloads die on the first try, they are never retried. Flaky things back off. Marks are fenced on the lease, so a stale worker cannot overwrite a newer claim."
6. "Every read and admin request carries an API key. We store only its hash. Every read is filtered by that tenant; a foreign id is a 404, not a 403, so we do not leak existence." Three routes take no API key: /health, the webhook, and POST /admin/tenants (the bootstrap token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sequence (00_architecture.md), whiteboard step 1, demo step 9.
"Polling is just another producer. The connector fetches pages from the real forum, and every payload goes through the same accept call as a webhook. The bookmark, the cursor, is saved only after the page's rows are on disk. The seed fixes the window to four days in January 2021, so the demo is repeatable."
Detail: the cursor is saved as the later of the stored and the page cursor. For Discourse it moves only on the final page, because Discourse does not promise oldest-first order. It moves to the newest post minus a 60 s overlap, or to the window end if that is already in the past, so a quiet window still moves forward.
Bounds on one sync: FI_PULL_DEADLINE_SECONDS (60) is checked before every upstream call; one response is capped at FI_HTTP_MAX_BYTES (2,000,000); redirects are not followed. One sync per source at a time: a second POST sync gets 409 and the scheduler skips that source.
Overlap (failure_scenarios.md): "We would rather fetch a post twice than miss it: the bookmark is set a minute back and the unique key drops the repeats."
If asked about rate limits: "The 429 becomes a transient error, the pull stops, saved pages stay saved, and the cursor has not moved past them, so the next run starts from the same place and repeats are dropped." Pull treats permanent and transient upstream errors the same way: stop, keep the cursor, retry next tick.
Bounded window (debt ledger #6): at most 10 search pages, about 500 posts, per window, so with window_days=1 about 500 posts per day is the hard limit of Discourse search. A busier window raises an error and leaves the cursor where it was; lower window_days with PATCH /v1/sources/{id}. "A hard cap with a loud error beats silently skipping posts."
A failing source shows on /health as a count, failing_sources, but does not turn /health red. /health is 503 when either thread is dead, or the worker has made no progress for about 10 s, or storage is down; the scheduler is only checked for being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Whiteboard steps 3 and 4 (whiteboard.md), demo step 4, ADR-002.
Records: "Unique on (source, external id). The upsert only applies a version that is not older. Deletes are tombstones and always win. Replaying the raw table rebuilds this table."
Source: "A source is one configured instance, so two Play Store apps are two rows with their own secrets and cursors." Re-enable a source with PATCH; a new POST is a new source, and its items ingest again.
Kind: review, conversation, post, and survey. Survey came with the custom connector: a custom record's kind comes from its type (REVIEW, CONVERSATION, FORUM_CONVERSATION_THREAD as post, SURVEY). The record id is the uuid5 of source id and external id.
Demo step 4: "Same payload, different source. It is not a duplicate, because both keys include the source id. Two apps can share a review id without colliding."
Why one table plus JSON (ADR-002 rejected alternatives): a table per source type makes every cross-source query a UNION and a new source needs a migration; content-hash dedupe would turn an edited review into a second record. "The source's id is the real identity."
Tenancy: the composite foreign key means a record whose tenant does not match its source cannot be written.
Never say language is detected. It is filled when the source provides it; detection is an enrichment stage we did not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draw when they push (whiteboard.md):
Duplicate webhook (failure_scenarios.md): "Same item, same update time, same key: the second copy is dropped and we still answer 202."
Edits out of order: draw two arrows into one record with timestamps. "COALESCE(updated, created) must not be older. Equal is accepted, so replay works." That is the COALESCE rule, applied in Python today (merge in domain/models.py) inside BEGIN IMMEDIATE; the SQL ON CONFLICT … WHERE form is the Postgres upgrade (extensions recipe 2). Or: "A record only moves forward in time: an older edit that arrives late loses the timestamp check."
Source deletes: "Only Discourse push payloads carry a delete today and it becomes a tombstone; Twitter and Intercom deletes go dead on purpose; pull-side Discourse deletes are invisible (README, not built)."
Transformer bug last week: draw an arrow from raw_events back into the pipeline. "Fix the connector, bump its version, replay. No re-fetch, nothing lost." Bulk replay: POST /admin/raw-events/replay?source_id=...&amp;status=dead (or failed, or processed), up to 500 rows a call, only the caller's tenant. There is no time-window filter. Replay goes through the same version guard, so an equal version is accepted and the fixed output overwrites the record. Order does not matter: an older version is skipped and a delete, once applied, sticks.
The stored payload is the parsed JSON, not the raw bytes, so the signature cannot be re-checked from storage; a pulled Discourse post also carries the topic title we add.
Demo step 8 shows replay: a malformed Playstore payload goes dead on the first try; replay resets attempts to 0 (the claim bumps them to 1) and it dies again because the payload really is bad. "That proves replay re-runs the stored payload. After a real connector fix, the same call brings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answers from failure_scenarios.md (10k burst from whiteboard.md).
DB down on push: "We never say yes before the row is on disk, so the sender gets a 503 and retries, and nothing we accepted is lost."
Worker crash mid-event: "The lease runs out, the row is picked up again, and the upsert makes doing it twice the same as doing it once."
Worker thread dies: "Health goes red (503) and the queue grows, but intake keeps working; restart the process and the backlog drains from disk." (Demo step 10: kill -9 with 20 pending, restart, they drain.) A failing pull source does not turn health red; it only raises the failing_sources count.
Poison payload: "A payload that retrying cannot fix goes straight to the dead list with its reason, and waits there for a fix and a replay."
10k burst: draw a thick arrow into the table. "Inserts are cheap, the 202 stays fast, the backlog drains at the worker's pace. SQLite is one writer; past that comes Postgres (extensions recipe 2)." A body over 1 MiB is refused with 413.
Noisy tenant: "Today it is first come, first served, so a burst delays others but loses nothing; the fix is a per-tenant rate limit and fair claiming." Enterpret's engineering blog names queue clogging and noisy neighbours as incidents and describes partitioning by tenant; that is the upgrade here too.
Two workers: draw a second worker box with the same claim arrow. "Same single UPDATE. On Postgres I add SKIP LOCKED to that one query." Full line: "It is safe because the claim is a single statement and the upsert is idempotent. On the pull side the per-source lock is per process, so two processes can sync one source at once; the unique raw-event key drops the repeats, it only wastes calls." Under uvicorn --workers N every process reads the same environment, so to have exactly one consumer run separate processes.
Rate-limited pull: "We stop, keep what we already saved, and try again next tick from the same bookmark; the repeats that causes are dropped by the unique key."
Never say SKIP LOCKED runs today. It is the Postgres upgrade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Connectors (whiteboard.md step 3): "A connector validates the payload with a Pydantic input model, then maps it to our record. Nothing else in the system knows which sources exist. Adding a source is five steps: an enum value, a metadata model, a connector file, a registry entry and fixtures. The contract test fails until all five exist." (Full recipe: ADR-003 "How to add a new source".) For Zendesk, a ticket is a conversation, so reuse that kind. tests/unit/connectors/test_registry.py and the every-source-has-a-metadata-model test fail first; then the contract tests run every fixture.
Worked example: the custom connector (connectors/custom.py) was added exactly this way, with one extra: its kind comes from each record's type, so it maps in KIND_BY_RECORD_TYPE instead of KIND_BY_SOURCE.
Ports and adapters: "Services only import the ports. The same contract test runs against the SQLite adapter and the in-memory fake, so I know the fake behaves like the real thing. That keeps a storage swap inside the adapters: for Postgres, three queries change, not the services."
Postgres (extensions.md recipe 2): the claim subquery gets with_for_update(skip_locked=True); upsert and enqueue move to INSERT ... ON CONFLICT; add Alembic migrations. Never say SKIP LOCKED runs today.
Kafka: "Swap the adapter, and change the retry model. Kafka: consumer offsets instead of leases, and retry topics because there is no per-message delay. SQS would use a visibility timeout." A broker cannot answer "show me tenant X's dead events" or "give me event 42", so the realistic design keeps raw_events as the durable log and puts only event ids on the broker.
Never say Kafka is a one-adapter swap without adding "and a different retry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Debt ledger, top three (debt_ledger.md):
1. #1, migrations (db.py:39). "We fail fast on schema drift today; the first schema change on real data is when I add Alembic migrations."
2. #12, the shared bootstrap token (tenants.py:18). "A shared token is enough to bootstrap a take-home; production admin needs per-person identity and an audit trail."
3. #6, the Discourse 10-page cap (discourse_pull.py:29). About 500 posts per day is the hard limit of Discourse search. "A hard cap with a loud error beats silently skipping posts, but a forum busier than about 500 posts a day would need date slicing." Mitigation today: lower window_days with PATCH /v1/sources/{id}. Upgrade: split the window by date and page through each slice, or shrink the window on its own when the cap is hit.
Demo (demo_script.md): eleven steps, about two minutes. demo.sh exports a random FI_BOOTSTRAP_TOKEN first, because the default token is refused. Two synthetic tenants: lumenote (a consumer app) and brightwave (B2B SaaS). Watch for five things: a duplicate that is stored once, two apps of the same type, a tenant that sees nothing, one custom batch that becomes three records of three kinds, an Intercom conversation and a tweet in the same record shape, and a kill -9 that loses nothing. Step 9 needs network (meta.discourse.org); without it run uv run pytest tests/e2e/test_pull_to_query.py -q.
30-second close: "So, the four things: a duplicate stored once, two apps of the same type kept apart, a tenant that sees nothing of another, and a hard kill that lost nothing. Plus a bad payload parked with its reason and replayed, and a live pull through the same pipeline. All of it rests on one rule: save the raw payload before we say yes, then everything is a retry or a replay. Adding a new source is an enum value, a metadata model, one connector file, one registry entry and fixtures, and the custom connector shows it. Happy to add a field live, or to break something and show you where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rules (docs/research/00_tailoring_decisions.md): say "their public docs describe" or "their engineering blog says", never "they do X internally". Quote no number you cannot show on the linked page.
Opening line: "Enterpret's site describes the product as Unify, Understand, Act. This service is the Unify step: it gets feedback in from many sources, keeps it safe, and turns it into one standard Feedback Record. Taxonomy, themes and Wisdom are the Understand step, and they would read our records; I did not build them."
Custom connector: "Their public webhook takes a batch of records with an id, a type, createdAt in epoch seconds and typed metadata. Our custom connector takes that same shape, so the add-a-source story is done against a contract they know. One push is one raw event. Each record upserts on source and record id. The kind comes from the type, and SURVEY needed a new kind, survey. AUDIO_RECORDING is not text, so it is refused and the batch goes dead."
Auth difference: their docs describe an api-key header per integration. Ours is a per-source URL plus an HMAC signature, so a sender proves itself without holding a tenant key. Same idea: one credential per source.
202: "Their webhook docs warn that a 200 does not guarantee the records appear. Our 202 is the same promise: the raw row is on disk and the worker does the rest, and a bad payload shows on the dead list instead of vanishing."
Duplicates: "Their default skips a repeated id, and replace is an opt-in. We skip a repeated delivery at raw_events. For the record itself we always take a newer or equal version and never an older one, which is close to their opt-in replace plus the version rule."
Version guard: "Their engineering blog says stale and out-of-order updates are rejected by version. Our upsert does the same with COALESCE(updated, created)."
Noisy neighbours: "Their engineering blog names queue clogging and noisy neighbours as incidents and describes partitioning by tenant. We have one shared queue, so a burst delays others but loses nothing. Per-tenant claiming is the upgrade."
Not built, on purpose: PII redaction before storage (we only keep it out of logs and error text), the ClickHouse analytics projection their blog describes, rate limits, users and accounts. Their help center describes a 4-hour poll for support tools and app stores; ours is FI_PULL_INTERVAL_SECONDS, 300 by default.
Verified on 2026-10-03 against the help-center pages cited in docs/research/01: the webhook article (12131693: record types incl. AUDIO_RECORDING, createdAt as epoch seconds, typed metadata, duplicate ids skipped by default with replace opt-in via support, a 200 that does not guarantee records appear, api-key header) and the Google Play (6331595) and Intercom (6320475) articles (new data every 4 hours). Dropped: the "PII obfuscated before ingestion" cell, which is not on those pages. The engineering-blog rows quote the blog and were not re-checked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91440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1783080"/>
            <a:ext cx="11094415" cy="50292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tx2"/>
                </a:solidFill>
              </a:rPr>
              <a:t>Feedback ingestion service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914400"/>
          </a:xfrm>
          <a:prstGeom prst="rect">
            <a:avLst/>
          </a:prstGeom>
          <a:noFill/>
          <a:ln/>
        </p:spPr>
        <p:txBody>
          <a:bodyPr wrap="square" lIns="0" tIns="0" rIns="0" bIns="0" rtlCol="0" anchor="ctr"/>
          <a:lstStyle/>
          <a:p>
            <a:pPr indent="0" marL="0">
              <a:buNone/>
            </a:pPr>
            <a:r>
              <a:rPr lang="en-US" sz="4400" b="1" dirty="0">
                <a:solidFill>
                  <a:schemeClr val="bg1"/>
                </a:solidFill>
              </a:rPr>
              <a:t>Feedback Ingestion Service</a:t>
            </a:r>
            <a:endParaRPr lang="en-US" sz="4400" dirty="0"/>
          </a:p>
        </p:txBody>
      </p:sp>
      <p:sp>
        <p:nvSpPr>
          <p:cNvPr id="3" name="Text 0"/>
          <p:cNvSpPr/>
          <p:nvPr>
            <p:ph idx="101" type="body" hasCustomPrompt="1"/>
          </p:nvPr>
        </p:nvSpPr>
        <p:spPr>
          <a:xfrm>
            <a:off x="548640" y="1783080"/>
            <a:ext cx="11094415" cy="502920"/>
          </a:xfrm>
          <a:prstGeom prst="rect">
            <a:avLst/>
          </a:prstGeom>
          <a:noFill/>
          <a:ln/>
        </p:spPr>
        <p:txBody>
          <a:bodyPr wrap="square" lIns="0" tIns="0" rIns="0" bIns="0" rtlCol="0" anchor="t"/>
          <a:lstStyle/>
          <a:p>
            <a:pPr indent="0" marL="0">
              <a:buNone/>
            </a:pPr>
            <a:r>
              <a:rPr lang="en-US" sz="2000" dirty="0">
                <a:solidFill>
                  <a:schemeClr val="accent4"/>
                </a:solidFill>
              </a:rPr>
              <a:t>Push, pull and one durable pipe: Intercom, Play Store, Twitter, Discourse, a custom webhook</a:t>
            </a:r>
            <a:endParaRPr lang="en-US" sz="2000" dirty="0"/>
          </a:p>
        </p:txBody>
      </p:sp>
      <p:sp>
        <p:nvSpPr>
          <p:cNvPr id="4" name="quote-mark-1"/>
          <p:cNvSpPr txBox="1"/>
          <p:nvPr/>
        </p:nvSpPr>
        <p:spPr>
          <a:xfrm>
            <a:off x="502920" y="2514600"/>
            <a:ext cx="914400" cy="914400"/>
          </a:xfrm>
          <a:prstGeom prst="rect">
            <a:avLst/>
          </a:prstGeom>
          <a:noFill/>
          <a:ln/>
        </p:spPr>
        <p:txBody>
          <a:bodyPr wrap="square" lIns="0" tIns="0" rIns="0" bIns="0" rtlCol="0" anchor="t"/>
          <a:lstStyle/>
          <a:p>
            <a:pPr indent="0" marL="0">
              <a:buNone/>
            </a:pPr>
            <a:r>
              <a:rPr lang="en-US" sz="9600" b="1" dirty="0">
                <a:solidFill>
                  <a:schemeClr val="accent1"/>
                </a:solidFill>
                <a:latin typeface="Arial" pitchFamily="34" charset="0"/>
                <a:ea typeface="Arial" pitchFamily="34" charset="-122"/>
                <a:cs typeface="Arial" pitchFamily="34" charset="-120"/>
              </a:rPr>
              <a:t>“</a:t>
            </a:r>
            <a:endParaRPr lang="en-US" sz="9600" dirty="0"/>
          </a:p>
        </p:txBody>
      </p:sp>
      <p:sp>
        <p:nvSpPr>
          <p:cNvPr id="5" name="one-sentence-2"/>
          <p:cNvSpPr txBox="1"/>
          <p:nvPr/>
        </p:nvSpPr>
        <p:spPr>
          <a:xfrm>
            <a:off x="1371600" y="2743200"/>
            <a:ext cx="10271455" cy="146304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We save the raw payload to disk before we say yes;</a:t>
            </a:r>
            <a:endParaRPr lang="en-US" sz="3200" dirty="0"/>
          </a:p>
          <a:p>
            <a:pPr indent="0" marL="0">
              <a:buNone/>
            </a:pPr>
            <a:r>
              <a:rPr lang="en-US" sz="3200" b="1" dirty="0">
                <a:solidFill>
                  <a:schemeClr val="accent1"/>
                </a:solidFill>
                <a:latin typeface="Arial" pitchFamily="34" charset="0"/>
                <a:ea typeface="Arial" pitchFamily="34" charset="-122"/>
                <a:cs typeface="Arial" pitchFamily="34" charset="-120"/>
              </a:rPr>
              <a:t>everything after that is a retry or a replay.</a:t>
            </a:r>
            <a:endParaRPr lang="en-US" sz="3200" dirty="0"/>
          </a:p>
        </p:txBody>
      </p:sp>
      <p:sp>
        <p:nvSpPr>
          <p:cNvPr id="6" name="guarantee-3"/>
          <p:cNvSpPr txBox="1"/>
          <p:nvPr/>
        </p:nvSpPr>
        <p:spPr>
          <a:xfrm>
            <a:off x="1371600" y="4892040"/>
            <a:ext cx="2971800" cy="548640"/>
          </a:xfrm>
          <a:prstGeom prst="roundRect">
            <a:avLst>
              <a:gd name="adj" fmla="val 50000"/>
            </a:avLst>
          </a:prstGeom>
          <a:solidFill>
            <a:schemeClr val="accent6"/>
          </a:solidFill>
          <a:ln w="12700">
            <a:solidFill>
              <a:schemeClr val="accent4"/>
            </a:solidFill>
          </a:ln>
        </p:spPr>
        <p:txBody>
          <a:bodyPr wrap="square" lIns="0" tIns="0" rIns="0" bIns="0" rtlCol="0" anchor="ctr"/>
          <a:lstStyle/>
          <a:p>
            <a:pPr algn="ctr" indent="0" marL="0">
              <a:buNone/>
            </a:pPr>
            <a:r>
              <a:rPr lang="en-US" sz="1700" b="1" dirty="0">
                <a:solidFill>
                  <a:schemeClr val="bg1"/>
                </a:solidFill>
              </a:rPr>
              <a:t>Durable before ack</a:t>
            </a:r>
            <a:endParaRPr lang="en-US" sz="1700" dirty="0"/>
          </a:p>
        </p:txBody>
      </p:sp>
      <p:sp>
        <p:nvSpPr>
          <p:cNvPr id="7" name="guarantee-4"/>
          <p:cNvSpPr txBox="1"/>
          <p:nvPr/>
        </p:nvSpPr>
        <p:spPr>
          <a:xfrm>
            <a:off x="4617720" y="4892040"/>
            <a:ext cx="2971800" cy="548640"/>
          </a:xfrm>
          <a:prstGeom prst="roundRect">
            <a:avLst>
              <a:gd name="adj" fmla="val 50000"/>
            </a:avLst>
          </a:prstGeom>
          <a:solidFill>
            <a:schemeClr val="accent6"/>
          </a:solidFill>
          <a:ln w="12700">
            <a:solidFill>
              <a:schemeClr val="accent4"/>
            </a:solidFill>
          </a:ln>
        </p:spPr>
        <p:txBody>
          <a:bodyPr wrap="square" lIns="0" tIns="0" rIns="0" bIns="0" rtlCol="0" anchor="ctr"/>
          <a:lstStyle/>
          <a:p>
            <a:pPr algn="ctr" indent="0" marL="0">
              <a:buNone/>
            </a:pPr>
            <a:r>
              <a:rPr lang="en-US" sz="1700" b="1" dirty="0">
                <a:solidFill>
                  <a:schemeClr val="bg1"/>
                </a:solidFill>
              </a:rPr>
              <a:t>Idempotent by key</a:t>
            </a:r>
            <a:endParaRPr lang="en-US" sz="1700" dirty="0"/>
          </a:p>
        </p:txBody>
      </p:sp>
      <p:sp>
        <p:nvSpPr>
          <p:cNvPr id="8" name="guarantee-5"/>
          <p:cNvSpPr txBox="1"/>
          <p:nvPr/>
        </p:nvSpPr>
        <p:spPr>
          <a:xfrm>
            <a:off x="7863840" y="4892040"/>
            <a:ext cx="2971800" cy="548640"/>
          </a:xfrm>
          <a:prstGeom prst="roundRect">
            <a:avLst>
              <a:gd name="adj" fmla="val 50000"/>
            </a:avLst>
          </a:prstGeom>
          <a:solidFill>
            <a:schemeClr val="accent6"/>
          </a:solidFill>
          <a:ln w="12700">
            <a:solidFill>
              <a:schemeClr val="accent4"/>
            </a:solidFill>
          </a:ln>
        </p:spPr>
        <p:txBody>
          <a:bodyPr wrap="square" lIns="0" tIns="0" rIns="0" bIns="0" rtlCol="0" anchor="ctr"/>
          <a:lstStyle/>
          <a:p>
            <a:pPr algn="ctr" indent="0" marL="0">
              <a:buNone/>
            </a:pPr>
            <a:r>
              <a:rPr lang="en-US" sz="1700" b="1" dirty="0">
                <a:solidFill>
                  <a:schemeClr val="bg1"/>
                </a:solidFill>
              </a:rPr>
              <a:t>Replayable from raw</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The assignment, and where each part is met</a:t>
            </a:r>
            <a:endParaRPr lang="en-US" sz="3400" dirty="0"/>
          </a:p>
        </p:txBody>
      </p:sp>
      <p:graphicFrame>
        <p:nvGraphicFramePr>
          <p:cNvPr id="3" name="requirements-6"/>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02920"/>
                <a:gridCol w="4572000"/>
                <a:gridCol w="1417320"/>
                <a:gridCol w="4599432"/>
              </a:tblGrid>
              <a:tr h="475488">
                <a:tc>
                  <a:txBody>
                    <a:bodyPr/>
                    <a:lstStyle/>
                    <a:p>
                      <a:pPr indent="0" marL="0">
                        <a:buNone/>
                      </a:pPr>
                      <a:endParaRPr lang="en-US" sz="14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Requirement</a:t>
                      </a:r>
                      <a:endParaRPr lang="en-US" sz="14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Level</a:t>
                      </a:r>
                      <a:endParaRPr lang="en-US" sz="14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Where it is met (feedback_ingest/)</a:t>
                      </a:r>
                      <a:endParaRPr lang="en-US" sz="14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Heterogeneous sources: Intercom, Play Store, Twitter, Discourse, custom webhook</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Must</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connectors/*.py (custom.py: Enterpret's public shape)</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Push integration</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Must</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api/ingest.py, services/ingestion.py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Pull integration</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Must</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services/pull.py, scheduler.py, connectors/discourse_pull.py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Source-specific metadata (app version, country, ...)</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Must</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domain/metadata.py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Multi-tenancy</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Must</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api/deps.py, composite FKs in tables.py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Uniform structure: kind (review, conversation, post, survey) + common attributes</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Must</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domain/models.py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Idempotency (de-dupe)</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Good-to-have</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UNIQUE keys, SqlFeedbackStore.upsert</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Several sources of one type per tenant</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Good-to-have</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keys on source_id, api/sources.py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475488">
                <a:tc>
                  <a:txBody>
                    <a:bodyPr/>
                    <a:lstStyle/>
                    <a:p>
                      <a:pPr algn="ctr" indent="0" marL="0">
                        <a:buNone/>
                      </a:pPr>
                      <a:r>
                        <a:rPr lang="en-US" sz="1800" b="1" dirty="0">
                          <a:solidFill>
                            <a:schemeClr val="accent2"/>
                          </a:solidFill>
                        </a:rPr>
                        <a:t>✓</a:t>
                      </a:r>
                      <a:endParaRPr lang="en-US" sz="18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Beyond the brief: durable ack, retry, dead letter, single and bulk replay</a:t>
                      </a:r>
                      <a:endParaRPr lang="en-US" sz="15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Extra</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services/pipeline.py, worker.py, api/admin.py</a:t>
                      </a:r>
                      <a:endParaRPr lang="en-US" sz="1200" dirty="0">
                        <a:latin typeface="Courier New" charset="0"/>
                        <a:ea typeface="Courier New" charset="0"/>
                        <a:cs typeface="Courier New" charset="0"/>
                      </a:endParaRPr>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Two doors in, one pipe</a:t>
            </a:r>
            <a:endParaRPr lang="en-US" sz="3400" dirty="0"/>
          </a:p>
        </p:txBody>
      </p:sp>
      <p:sp>
        <p:nvSpPr>
          <p:cNvPr id="3" name="source-7"/>
          <p:cNvSpPr txBox="1"/>
          <p:nvPr/>
        </p:nvSpPr>
        <p:spPr>
          <a:xfrm>
            <a:off x="548640" y="1325880"/>
            <a:ext cx="1828800" cy="2377440"/>
          </a:xfrm>
          <a:prstGeom prst="roundRect">
            <a:avLst>
              <a:gd name="adj" fmla="val 4000"/>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Source</a:t>
            </a:r>
            <a:endParaRPr lang="en-US" sz="1500" dirty="0"/>
          </a:p>
          <a:p>
            <a:pPr algn="l" indent="0" marL="0">
              <a:buNone/>
            </a:pPr>
            <a:r>
              <a:rPr lang="en-US" sz="1400" dirty="0">
                <a:solidFill>
                  <a:schemeClr val="tx2"/>
                </a:solidFill>
              </a:rPr>
              <a:t>Intercom</a:t>
            </a:r>
            <a:endParaRPr lang="en-US" sz="1500" dirty="0"/>
          </a:p>
          <a:p>
            <a:pPr algn="l" indent="0" marL="0">
              <a:buNone/>
            </a:pPr>
            <a:r>
              <a:rPr lang="en-US" sz="1400" dirty="0">
                <a:solidFill>
                  <a:schemeClr val="tx2"/>
                </a:solidFill>
              </a:rPr>
              <a:t>Play Store</a:t>
            </a:r>
            <a:endParaRPr lang="en-US" sz="1500" dirty="0"/>
          </a:p>
          <a:p>
            <a:pPr algn="l" indent="0" marL="0">
              <a:buNone/>
            </a:pPr>
            <a:r>
              <a:rPr lang="en-US" sz="1400" dirty="0">
                <a:solidFill>
                  <a:schemeClr val="tx2"/>
                </a:solidFill>
              </a:rPr>
              <a:t>Twitter</a:t>
            </a:r>
            <a:endParaRPr lang="en-US" sz="1500" dirty="0"/>
          </a:p>
          <a:p>
            <a:pPr algn="l" indent="0" marL="0">
              <a:buNone/>
            </a:pPr>
            <a:r>
              <a:rPr lang="en-US" sz="1400" dirty="0">
                <a:solidFill>
                  <a:schemeClr val="tx2"/>
                </a:solidFill>
              </a:rPr>
              <a:t>Discourse</a:t>
            </a:r>
            <a:endParaRPr lang="en-US" sz="1500" dirty="0"/>
          </a:p>
          <a:p>
            <a:pPr algn="l" indent="0" marL="0">
              <a:buNone/>
            </a:pPr>
            <a:r>
              <a:rPr lang="en-US" sz="1400" dirty="0">
                <a:solidFill>
                  <a:schemeClr val="tx2"/>
                </a:solidFill>
              </a:rPr>
              <a:t>Custom</a:t>
            </a:r>
            <a:endParaRPr lang="en-US" sz="1500" dirty="0"/>
          </a:p>
        </p:txBody>
      </p:sp>
      <p:sp>
        <p:nvSpPr>
          <p:cNvPr id="4" name="push-door-8"/>
          <p:cNvSpPr txBox="1"/>
          <p:nvPr/>
        </p:nvSpPr>
        <p:spPr>
          <a:xfrm>
            <a:off x="2743200" y="1325880"/>
            <a:ext cx="2743200" cy="1097280"/>
          </a:xfrm>
          <a:prstGeom prst="roundRect">
            <a:avLst>
              <a:gd name="adj" fmla="val 6667"/>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push · webhook</a:t>
            </a:r>
            <a:endParaRPr lang="en-US" sz="15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POST /v1/sources/{id}/events</a:t>
            </a:r>
            <a:endParaRPr lang="en-US" sz="1500" dirty="0"/>
          </a:p>
          <a:p>
            <a:pPr algn="l" indent="0" marL="0">
              <a:buNone/>
            </a:pPr>
            <a:r>
              <a:rPr lang="en-US" sz="1200" dirty="0">
                <a:solidFill>
                  <a:schemeClr val="tx2"/>
                </a:solidFill>
              </a:rPr>
              <a:t>source id → source; its HMAC over the raw body; no API key</a:t>
            </a:r>
            <a:endParaRPr lang="en-US" sz="15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api/ingest.py</a:t>
            </a:r>
            <a:endParaRPr lang="en-US" sz="1500" dirty="0"/>
          </a:p>
        </p:txBody>
      </p:sp>
      <p:sp>
        <p:nvSpPr>
          <p:cNvPr id="5" name="pull-door-9"/>
          <p:cNvSpPr txBox="1"/>
          <p:nvPr/>
        </p:nvSpPr>
        <p:spPr>
          <a:xfrm>
            <a:off x="2743200" y="2606040"/>
            <a:ext cx="2743200" cy="1097280"/>
          </a:xfrm>
          <a:prstGeom prst="roundRect">
            <a:avLst>
              <a:gd name="adj" fmla="val 6667"/>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pull · poll</a:t>
            </a:r>
            <a:endParaRPr lang="en-US" sz="15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tick or POST .../sync</a:t>
            </a:r>
            <a:endParaRPr lang="en-US" sz="1500" dirty="0"/>
          </a:p>
          <a:p>
            <a:pPr algn="l" indent="0" marL="0">
              <a:buNone/>
            </a:pPr>
            <a:r>
              <a:rPr lang="en-US" sz="1200" dirty="0">
                <a:solidFill>
                  <a:schemeClr val="tx2"/>
                </a:solidFill>
              </a:rPr>
              <a:t>PullService.sync → PULLERS[type].pull</a:t>
            </a:r>
            <a:endParaRPr lang="en-US" sz="15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services/pull.py</a:t>
            </a:r>
            <a:endParaRPr lang="en-US" sz="1500" dirty="0"/>
          </a:p>
        </p:txBody>
      </p:sp>
      <p:sp>
        <p:nvSpPr>
          <p:cNvPr id="6" name="accept-10"/>
          <p:cNvSpPr txBox="1"/>
          <p:nvPr/>
        </p:nvSpPr>
        <p:spPr>
          <a:xfrm>
            <a:off x="5852160" y="1325880"/>
            <a:ext cx="2743200" cy="2377440"/>
          </a:xfrm>
          <a:prstGeom prst="roundRect">
            <a:avLst>
              <a:gd name="adj" fmla="val 3077"/>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IngestionService.accept</a:t>
            </a:r>
            <a:endParaRPr lang="en-US" sz="1500" dirty="0"/>
          </a:p>
          <a:p>
            <a:pPr algn="l" indent="0" marL="0">
              <a:buNone/>
            </a:pPr>
            <a:r>
              <a:rPr lang="en-US" sz="1200" dirty="0">
                <a:solidFill>
                  <a:schemeClr val="tx2"/>
                </a:solidFill>
              </a:rPr>
              <a:t>one call per payload, push or pull</a:t>
            </a:r>
            <a:endParaRPr lang="en-US" sz="1500" dirty="0"/>
          </a:p>
          <a:p>
            <a:pPr algn="l" indent="0" marL="0">
              <a:buNone/>
            </a:pPr>
            <a:r>
              <a:rPr lang="en-US" sz="1200" dirty="0">
                <a:solidFill>
                  <a:schemeClr val="tx2"/>
                </a:solidFill>
              </a:rPr>
              <a:t>202 {raw_event_id, duplicate}</a:t>
            </a:r>
            <a:endParaRPr lang="en-US" sz="1500" dirty="0"/>
          </a:p>
          <a:p>
            <a:pPr algn="l" indent="0" marL="0">
              <a:buNone/>
            </a:pPr>
            <a:r>
              <a:rPr lang="en-US" sz="1200" b="1" dirty="0">
                <a:solidFill>
                  <a:schemeClr val="tx1"/>
                </a:solidFill>
              </a:rPr>
              <a:t>storage down → 503, never 202</a:t>
            </a:r>
            <a:endParaRPr lang="en-US" sz="15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services/ingestion.py</a:t>
            </a:r>
            <a:endParaRPr lang="en-US" sz="1500" dirty="0"/>
          </a:p>
        </p:txBody>
      </p:sp>
      <p:sp>
        <p:nvSpPr>
          <p:cNvPr id="7" name="raw-events-11"/>
          <p:cNvSpPr txBox="1"/>
          <p:nvPr/>
        </p:nvSpPr>
        <p:spPr>
          <a:xfrm>
            <a:off x="8961120" y="1325880"/>
            <a:ext cx="2679192" cy="2377440"/>
          </a:xfrm>
          <a:prstGeom prst="roundRect">
            <a:avLst>
              <a:gd name="adj" fmla="val 3077"/>
            </a:avLst>
          </a:prstGeom>
          <a:solidFill>
            <a:schemeClr val="accent5"/>
          </a:solidFill>
          <a:ln w="31750">
            <a:solidFill>
              <a:schemeClr val="accent1"/>
            </a:solidFill>
          </a:ln>
        </p:spPr>
        <p:txBody>
          <a:bodyPr wrap="square" lIns="101600" tIns="101600" rIns="101600" bIns="101600" rtlCol="0" anchor="ctr"/>
          <a:lstStyle/>
          <a:p>
            <a:pPr algn="l" indent="0" marL="0">
              <a:spcAft>
                <a:spcPts val="300"/>
              </a:spcAft>
              <a:buNone/>
            </a:pPr>
            <a:r>
              <a:rPr lang="en-US" sz="1700" b="1" dirty="0">
                <a:solidFill>
                  <a:schemeClr val="tx1"/>
                </a:solidFill>
              </a:rPr>
              <a:t>raw_events</a:t>
            </a:r>
            <a:endParaRPr lang="en-US" sz="1700" dirty="0"/>
          </a:p>
          <a:p>
            <a:pPr algn="l" indent="0" marL="0">
              <a:buNone/>
            </a:pPr>
            <a:r>
              <a:rPr lang="en-US" sz="1200" dirty="0">
                <a:solidFill>
                  <a:schemeClr val="tx2"/>
                </a:solidFill>
              </a:rPr>
              <a:t>audit log + work queue</a:t>
            </a:r>
            <a:endParaRPr lang="en-US" sz="1700" dirty="0"/>
          </a:p>
          <a:p>
            <a:pPr algn="l" indent="0" marL="0">
              <a:buNone/>
            </a:pPr>
            <a:r>
              <a:rPr lang="en-US" sz="1200" dirty="0">
                <a:solidFill>
                  <a:schemeClr val="tx2"/>
                </a:solidFill>
              </a:rPr>
              <a:t>status = pending</a:t>
            </a:r>
            <a:endParaRPr lang="en-US" sz="17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UNIQUE (source_id, external_event_id)</a:t>
            </a:r>
            <a:endParaRPr lang="en-US" sz="1700" dirty="0"/>
          </a:p>
        </p:txBody>
      </p:sp>
      <p:sp>
        <p:nvSpPr>
          <p:cNvPr id="8" name="arrow-12"/>
          <p:cNvSpPr/>
          <p:nvPr/>
        </p:nvSpPr>
        <p:spPr>
          <a:xfrm>
            <a:off x="2377440" y="1874520"/>
            <a:ext cx="365760" cy="0"/>
          </a:xfrm>
          <a:prstGeom prst="line">
            <a:avLst/>
          </a:prstGeom>
          <a:noFill/>
          <a:ln w="25400">
            <a:solidFill>
              <a:schemeClr val="tx1"/>
            </a:solidFill>
            <a:prstDash val="solid"/>
            <a:tailEnd type="triangle"/>
          </a:ln>
        </p:spPr>
      </p:sp>
      <p:sp>
        <p:nvSpPr>
          <p:cNvPr id="9" name="arrow-13"/>
          <p:cNvSpPr/>
          <p:nvPr/>
        </p:nvSpPr>
        <p:spPr>
          <a:xfrm flipH="1">
            <a:off x="2377440" y="3154680"/>
            <a:ext cx="365760" cy="0"/>
          </a:xfrm>
          <a:prstGeom prst="line">
            <a:avLst/>
          </a:prstGeom>
          <a:noFill/>
          <a:ln w="25400">
            <a:solidFill>
              <a:schemeClr val="tx1"/>
            </a:solidFill>
            <a:prstDash val="solid"/>
            <a:tailEnd type="triangle"/>
          </a:ln>
        </p:spPr>
      </p:sp>
      <p:sp>
        <p:nvSpPr>
          <p:cNvPr id="10" name="fetch-label-14"/>
          <p:cNvSpPr txBox="1"/>
          <p:nvPr/>
        </p:nvSpPr>
        <p:spPr>
          <a:xfrm>
            <a:off x="2331720" y="2816352"/>
            <a:ext cx="457200" cy="256032"/>
          </a:xfrm>
          <a:prstGeom prst="rect">
            <a:avLst/>
          </a:prstGeom>
          <a:noFill/>
          <a:ln/>
        </p:spPr>
        <p:txBody>
          <a:bodyPr wrap="square" lIns="0" tIns="0" rIns="0" bIns="0" rtlCol="0" anchor="ctr"/>
          <a:lstStyle/>
          <a:p>
            <a:pPr algn="ctr" indent="0" marL="0">
              <a:buNone/>
            </a:pPr>
            <a:r>
              <a:rPr lang="en-US" sz="1000" b="1" dirty="0">
                <a:solidFill>
                  <a:schemeClr val="tx2"/>
                </a:solidFill>
              </a:rPr>
              <a:t>fetch</a:t>
            </a:r>
            <a:endParaRPr lang="en-US" sz="1000" dirty="0"/>
          </a:p>
        </p:txBody>
      </p:sp>
      <p:sp>
        <p:nvSpPr>
          <p:cNvPr id="11" name="arrow-15"/>
          <p:cNvSpPr/>
          <p:nvPr/>
        </p:nvSpPr>
        <p:spPr>
          <a:xfrm>
            <a:off x="5486400" y="1874520"/>
            <a:ext cx="365760" cy="0"/>
          </a:xfrm>
          <a:prstGeom prst="line">
            <a:avLst/>
          </a:prstGeom>
          <a:noFill/>
          <a:ln w="25400">
            <a:solidFill>
              <a:schemeClr val="tx1"/>
            </a:solidFill>
            <a:prstDash val="solid"/>
            <a:tailEnd type="triangle"/>
          </a:ln>
        </p:spPr>
      </p:sp>
      <p:sp>
        <p:nvSpPr>
          <p:cNvPr id="12" name="arrow-16"/>
          <p:cNvSpPr/>
          <p:nvPr/>
        </p:nvSpPr>
        <p:spPr>
          <a:xfrm>
            <a:off x="5486400" y="3154680"/>
            <a:ext cx="365760" cy="0"/>
          </a:xfrm>
          <a:prstGeom prst="line">
            <a:avLst/>
          </a:prstGeom>
          <a:noFill/>
          <a:ln w="25400">
            <a:solidFill>
              <a:schemeClr val="tx1"/>
            </a:solidFill>
            <a:prstDash val="solid"/>
            <a:tailEnd type="triangle"/>
          </a:ln>
        </p:spPr>
      </p:sp>
      <p:sp>
        <p:nvSpPr>
          <p:cNvPr id="13" name="arrow-17"/>
          <p:cNvSpPr/>
          <p:nvPr/>
        </p:nvSpPr>
        <p:spPr>
          <a:xfrm>
            <a:off x="8595360" y="2514600"/>
            <a:ext cx="365760" cy="0"/>
          </a:xfrm>
          <a:prstGeom prst="line">
            <a:avLst/>
          </a:prstGeom>
          <a:noFill/>
          <a:ln w="25400">
            <a:solidFill>
              <a:schemeClr val="tx1"/>
            </a:solidFill>
            <a:prstDash val="solid"/>
            <a:tailEnd type="triangle"/>
          </a:ln>
        </p:spPr>
      </p:sp>
      <p:sp>
        <p:nvSpPr>
          <p:cNvPr id="14" name="worker-18"/>
          <p:cNvSpPr txBox="1"/>
          <p:nvPr/>
        </p:nvSpPr>
        <p:spPr>
          <a:xfrm>
            <a:off x="8961120" y="4434840"/>
            <a:ext cx="2679192" cy="1188720"/>
          </a:xfrm>
          <a:prstGeom prst="roundRect">
            <a:avLst>
              <a:gd name="adj" fmla="val 6154"/>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WorkerService</a:t>
            </a:r>
            <a:endParaRPr lang="en-US" sz="1500" dirty="0"/>
          </a:p>
          <a:p>
            <a:pPr algn="l" indent="0" marL="0">
              <a:buNone/>
            </a:pPr>
            <a:r>
              <a:rPr lang="en-US" sz="1200" dirty="0">
                <a:solidFill>
                  <a:schemeClr val="tx2"/>
                </a:solidFill>
              </a:rPr>
              <a:t>thread; claims a batch with a lease, attempts + 1</a:t>
            </a:r>
            <a:endParaRPr lang="en-US" sz="15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services/worker.py</a:t>
            </a:r>
            <a:endParaRPr lang="en-US" sz="1500" dirty="0"/>
          </a:p>
        </p:txBody>
      </p:sp>
      <p:sp>
        <p:nvSpPr>
          <p:cNvPr id="15" name="pipeline-19"/>
          <p:cNvSpPr txBox="1"/>
          <p:nvPr/>
        </p:nvSpPr>
        <p:spPr>
          <a:xfrm>
            <a:off x="5852160" y="4434840"/>
            <a:ext cx="2743200" cy="1188720"/>
          </a:xfrm>
          <a:prstGeom prst="roundRect">
            <a:avLst>
              <a:gd name="adj" fmla="val 6154"/>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PipelineService.process</a:t>
            </a:r>
            <a:endParaRPr lang="en-US" sz="1500" dirty="0"/>
          </a:p>
          <a:p>
            <a:pPr algn="l" indent="0" marL="0">
              <a:buNone/>
            </a:pPr>
            <a:r>
              <a:rPr lang="en-US" sz="1200" dirty="0">
                <a:solidFill>
                  <a:schemeClr val="tx2"/>
                </a:solidFill>
              </a:rPr>
              <a:t>CONNECTORS[source.type].transform → [FeedbackRecord]</a:t>
            </a:r>
            <a:endParaRPr lang="en-US" sz="15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services/pipeline.py</a:t>
            </a:r>
            <a:endParaRPr lang="en-US" sz="1500" dirty="0"/>
          </a:p>
        </p:txBody>
      </p:sp>
      <p:sp>
        <p:nvSpPr>
          <p:cNvPr id="16" name="upsert-20"/>
          <p:cNvSpPr txBox="1"/>
          <p:nvPr/>
        </p:nvSpPr>
        <p:spPr>
          <a:xfrm>
            <a:off x="2743200" y="4434840"/>
            <a:ext cx="2743200" cy="1188720"/>
          </a:xfrm>
          <a:prstGeom prst="roundRect">
            <a:avLst>
              <a:gd name="adj" fmla="val 6154"/>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FeedbackStore.upsert</a:t>
            </a:r>
            <a:endParaRPr lang="en-US" sz="15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UNIQUE (source_id, external_id)</a:t>
            </a:r>
            <a:endParaRPr lang="en-US" sz="1500" dirty="0"/>
          </a:p>
          <a:p>
            <a:pPr algn="l" indent="0" marL="0">
              <a:buNone/>
            </a:pPr>
            <a:r>
              <a:rPr lang="en-US" sz="1200" dirty="0">
                <a:solidFill>
                  <a:schemeClr val="tx2"/>
                </a:solidFill>
              </a:rPr>
              <a:t>newer or equal version wins, tombstones stick</a:t>
            </a:r>
            <a:endParaRPr lang="en-US" sz="1500" dirty="0"/>
          </a:p>
        </p:txBody>
      </p:sp>
      <p:sp>
        <p:nvSpPr>
          <p:cNvPr id="17" name="query-21"/>
          <p:cNvSpPr txBox="1"/>
          <p:nvPr/>
        </p:nvSpPr>
        <p:spPr>
          <a:xfrm>
            <a:off x="548640" y="4434840"/>
            <a:ext cx="1828800" cy="1188720"/>
          </a:xfrm>
          <a:prstGeom prst="roundRect">
            <a:avLst>
              <a:gd name="adj" fmla="val 6154"/>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500" b="1" dirty="0">
                <a:solidFill>
                  <a:schemeClr val="tx1"/>
                </a:solidFill>
              </a:rPr>
              <a:t>Query</a:t>
            </a:r>
            <a:endParaRPr lang="en-US" sz="15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GET /v1/records</a:t>
            </a:r>
            <a:endParaRPr lang="en-US" sz="1500" dirty="0"/>
          </a:p>
          <a:p>
            <a:pPr algn="l" indent="0" marL="0">
              <a:buNone/>
            </a:pPr>
            <a:r>
              <a:rPr lang="en-US" sz="1200" dirty="0">
                <a:solidFill>
                  <a:schemeClr val="tx2"/>
                </a:solidFill>
              </a:rPr>
              <a:t>?source_id &amp;kind &amp;since</a:t>
            </a:r>
            <a:endParaRPr lang="en-US" sz="1500" dirty="0"/>
          </a:p>
        </p:txBody>
      </p:sp>
      <p:sp>
        <p:nvSpPr>
          <p:cNvPr id="18" name="arrow-22"/>
          <p:cNvSpPr/>
          <p:nvPr/>
        </p:nvSpPr>
        <p:spPr>
          <a:xfrm flipH="1">
            <a:off x="8595360" y="5029200"/>
            <a:ext cx="365760" cy="0"/>
          </a:xfrm>
          <a:prstGeom prst="line">
            <a:avLst/>
          </a:prstGeom>
          <a:noFill/>
          <a:ln w="25400">
            <a:solidFill>
              <a:schemeClr val="tx1"/>
            </a:solidFill>
            <a:prstDash val="solid"/>
            <a:tailEnd type="triangle"/>
          </a:ln>
        </p:spPr>
      </p:sp>
      <p:sp>
        <p:nvSpPr>
          <p:cNvPr id="19" name="arrow-23"/>
          <p:cNvSpPr/>
          <p:nvPr/>
        </p:nvSpPr>
        <p:spPr>
          <a:xfrm flipH="1">
            <a:off x="5486400" y="5029200"/>
            <a:ext cx="365760" cy="0"/>
          </a:xfrm>
          <a:prstGeom prst="line">
            <a:avLst/>
          </a:prstGeom>
          <a:noFill/>
          <a:ln w="25400">
            <a:solidFill>
              <a:schemeClr val="tx1"/>
            </a:solidFill>
            <a:prstDash val="solid"/>
            <a:tailEnd type="triangle"/>
          </a:ln>
        </p:spPr>
      </p:sp>
      <p:sp>
        <p:nvSpPr>
          <p:cNvPr id="20" name="arrow-24"/>
          <p:cNvSpPr/>
          <p:nvPr/>
        </p:nvSpPr>
        <p:spPr>
          <a:xfrm flipH="1">
            <a:off x="2377440" y="5029200"/>
            <a:ext cx="365760" cy="0"/>
          </a:xfrm>
          <a:prstGeom prst="line">
            <a:avLst/>
          </a:prstGeom>
          <a:noFill/>
          <a:ln w="25400">
            <a:solidFill>
              <a:schemeClr val="tx1"/>
            </a:solidFill>
            <a:prstDash val="solid"/>
            <a:tailEnd type="triangle"/>
          </a:ln>
        </p:spPr>
      </p:sp>
      <p:sp>
        <p:nvSpPr>
          <p:cNvPr id="21" name="arrow-25"/>
          <p:cNvSpPr/>
          <p:nvPr/>
        </p:nvSpPr>
        <p:spPr>
          <a:xfrm>
            <a:off x="9555480" y="3703320"/>
            <a:ext cx="0" cy="731520"/>
          </a:xfrm>
          <a:prstGeom prst="line">
            <a:avLst/>
          </a:prstGeom>
          <a:noFill/>
          <a:ln w="25400">
            <a:solidFill>
              <a:schemeClr val="accent1"/>
            </a:solidFill>
            <a:prstDash val="solid"/>
            <a:tailEnd type="triangle"/>
          </a:ln>
        </p:spPr>
      </p:sp>
      <p:sp>
        <p:nvSpPr>
          <p:cNvPr id="22" name="arrow-26"/>
          <p:cNvSpPr/>
          <p:nvPr/>
        </p:nvSpPr>
        <p:spPr>
          <a:xfrm flipV="1">
            <a:off x="11064240" y="3703320"/>
            <a:ext cx="0" cy="731520"/>
          </a:xfrm>
          <a:prstGeom prst="line">
            <a:avLst/>
          </a:prstGeom>
          <a:noFill/>
          <a:ln w="25400">
            <a:solidFill>
              <a:schemeClr val="tx1"/>
            </a:solidFill>
            <a:prstDash val="solid"/>
            <a:tailEnd type="triangle"/>
          </a:ln>
        </p:spPr>
      </p:sp>
      <p:sp>
        <p:nvSpPr>
          <p:cNvPr id="23" name="claim-label-27"/>
          <p:cNvSpPr txBox="1"/>
          <p:nvPr/>
        </p:nvSpPr>
        <p:spPr>
          <a:xfrm>
            <a:off x="7315200" y="3886200"/>
            <a:ext cx="2148840" cy="365760"/>
          </a:xfrm>
          <a:prstGeom prst="rect">
            <a:avLst/>
          </a:prstGeom>
          <a:noFill/>
          <a:ln/>
        </p:spPr>
        <p:txBody>
          <a:bodyPr wrap="square" lIns="0" tIns="0" rIns="0" bIns="0" rtlCol="0" anchor="ctr"/>
          <a:lstStyle/>
          <a:p>
            <a:pPr algn="r" indent="0" marL="0">
              <a:buNone/>
            </a:pPr>
            <a:r>
              <a:rPr lang="en-US" sz="1200" b="1" dirty="0">
                <a:solidFill>
                  <a:schemeClr val="accent1"/>
                </a:solidFill>
              </a:rPr>
              <a:t>claim with lease</a:t>
            </a:r>
            <a:endParaRPr lang="en-US" sz="1200" dirty="0"/>
          </a:p>
        </p:txBody>
      </p:sp>
      <p:sp>
        <p:nvSpPr>
          <p:cNvPr id="24" name="mark-label-28"/>
          <p:cNvSpPr txBox="1"/>
          <p:nvPr/>
        </p:nvSpPr>
        <p:spPr>
          <a:xfrm>
            <a:off x="9692640" y="3840480"/>
            <a:ext cx="1280160" cy="457200"/>
          </a:xfrm>
          <a:prstGeom prst="rect">
            <a:avLst/>
          </a:prstGeom>
          <a:noFill/>
          <a:ln/>
        </p:spPr>
        <p:txBody>
          <a:bodyPr wrap="square" lIns="0" tIns="0" rIns="0" bIns="0" rtlCol="0" anchor="ctr"/>
          <a:lstStyle/>
          <a:p>
            <a:pPr algn="r" indent="0" marL="0">
              <a:buNone/>
            </a:pPr>
            <a:r>
              <a:rPr lang="en-US" sz="1100" dirty="0">
                <a:solidFill>
                  <a:schemeClr val="tx2"/>
                </a:solidFill>
              </a:rPr>
              <a:t>processed | failed | dead</a:t>
            </a:r>
            <a:endParaRPr lang="en-US" sz="1100" dirty="0"/>
          </a:p>
        </p:txBody>
      </p:sp>
      <p:sp>
        <p:nvSpPr>
          <p:cNvPr id="25" name="ops-29"/>
          <p:cNvSpPr txBox="1"/>
          <p:nvPr/>
        </p:nvSpPr>
        <p:spPr>
          <a:xfrm>
            <a:off x="548640" y="5806440"/>
            <a:ext cx="11094415" cy="457200"/>
          </a:xfrm>
          <a:prstGeom prst="roundRect">
            <a:avLst>
              <a:gd name="adj" fmla="val 16000"/>
            </a:avLst>
          </a:prstGeom>
          <a:solidFill>
            <a:schemeClr val="bg2"/>
          </a:solidFill>
          <a:ln w="6350">
            <a:solidFill>
              <a:schemeClr val="bg2"/>
            </a:solidFill>
          </a:ln>
        </p:spPr>
        <p:txBody>
          <a:bodyPr wrap="square" lIns="127000" tIns="127000" rIns="127000" bIns="127000" rtlCol="0" anchor="ctr"/>
          <a:lstStyle/>
          <a:p>
            <a:pPr indent="0" marL="0">
              <a:buNone/>
            </a:pPr>
            <a:r>
              <a:rPr lang="en-US" sz="1300" b="1" dirty="0">
                <a:solidFill>
                  <a:schemeClr val="tx1"/>
                </a:solidFill>
              </a:rPr>
              <a:t>Ops   </a:t>
            </a:r>
            <a:pPr indent="0" marL="0">
              <a:buNone/>
            </a:pPr>
            <a:r>
              <a:rPr lang="en-US" sz="1100" dirty="0">
                <a:solidFill>
                  <a:schemeClr val="tx1"/>
                </a:solidFill>
                <a:latin typeface="Courier New" pitchFamily="34" charset="0"/>
                <a:ea typeface="Courier New" pitchFamily="34" charset="-122"/>
                <a:cs typeface="Courier New" pitchFamily="34" charset="-120"/>
              </a:rPr>
              <a:t>GET /health   GET /admin/raw-events   POST /admin/raw-events/{id}/replay   POST /admin/raw-events/replay</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One payload's journey (push)</a:t>
            </a:r>
            <a:endParaRPr lang="en-US" sz="3400" dirty="0"/>
          </a:p>
        </p:txBody>
      </p:sp>
      <p:sp>
        <p:nvSpPr>
          <p:cNvPr id="3" name="card-30"/>
          <p:cNvSpPr/>
          <p:nvPr/>
        </p:nvSpPr>
        <p:spPr>
          <a:xfrm>
            <a:off x="548640" y="1325880"/>
            <a:ext cx="3383280" cy="2286000"/>
          </a:xfrm>
          <a:prstGeom prst="roundRect">
            <a:avLst>
              <a:gd name="adj" fmla="val 3200"/>
            </a:avLst>
          </a:prstGeom>
          <a:solidFill>
            <a:schemeClr val="bg1"/>
          </a:solidFill>
          <a:ln w="19050">
            <a:solidFill>
              <a:schemeClr val="tx1"/>
            </a:solidFill>
            <a:prstDash val="solid"/>
          </a:ln>
        </p:spPr>
      </p:sp>
      <p:sp>
        <p:nvSpPr>
          <p:cNvPr id="4" name="step-31"/>
          <p:cNvSpPr txBox="1"/>
          <p:nvPr/>
        </p:nvSpPr>
        <p:spPr>
          <a:xfrm>
            <a:off x="731520" y="1508760"/>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card-title-32"/>
          <p:cNvSpPr txBox="1"/>
          <p:nvPr/>
        </p:nvSpPr>
        <p:spPr>
          <a:xfrm>
            <a:off x="1325880" y="1508760"/>
            <a:ext cx="2468880" cy="45720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Webhook checks</a:t>
            </a:r>
            <a:endParaRPr lang="en-US" sz="1800" dirty="0"/>
          </a:p>
        </p:txBody>
      </p:sp>
      <p:sp>
        <p:nvSpPr>
          <p:cNvPr id="6" name="card-body-33"/>
          <p:cNvSpPr txBox="1"/>
          <p:nvPr/>
        </p:nvSpPr>
        <p:spPr>
          <a:xfrm>
            <a:off x="731520" y="2103120"/>
            <a:ext cx="30175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source id in the URL picks the source</a:t>
            </a:r>
            <a:endParaRPr lang="en-US" sz="1300" dirty="0"/>
          </a:p>
          <a:p>
            <a:pPr marL="342900" indent="-342900">
              <a:spcAft>
                <a:spcPts val="300"/>
              </a:spcAft>
              <a:buSzPct val="100000"/>
              <a:buChar char="•"/>
            </a:pPr>
            <a:r>
              <a:rPr lang="en-US" sz="1300" dirty="0">
                <a:solidFill>
                  <a:schemeClr val="tx1"/>
                </a:solidFill>
              </a:rPr>
              <a:t>push-only: a pull source gets 409</a:t>
            </a:r>
            <a:endParaRPr lang="en-US" sz="1300" dirty="0"/>
          </a:p>
          <a:p>
            <a:pPr marL="342900" indent="-342900">
              <a:spcAft>
                <a:spcPts val="300"/>
              </a:spcAft>
              <a:buSzPct val="100000"/>
              <a:buChar char="•"/>
            </a:pPr>
            <a:r>
              <a:rPr lang="en-US" sz="1300" dirty="0">
                <a:solidFill>
                  <a:schemeClr val="tx1"/>
                </a:solidFill>
              </a:rPr>
              <a:t>HMAC-SHA256 over the raw bytes</a:t>
            </a:r>
            <a:endParaRPr lang="en-US" sz="1300" dirty="0"/>
          </a:p>
          <a:p>
            <a:pPr marL="342900" indent="-342900">
              <a:spcAft>
                <a:spcPts val="300"/>
              </a:spcAft>
              <a:buSzPct val="100000"/>
              <a:buChar char="•"/>
            </a:pPr>
            <a:r>
              <a:rPr lang="en-US" sz="1300" dirty="0">
                <a:solidFill>
                  <a:schemeClr val="tx1"/>
                </a:solidFill>
              </a:rPr>
              <a:t>fails: 404, 409, 401, 400, 413</a:t>
            </a:r>
            <a:endParaRPr lang="en-US" sz="1300" dirty="0"/>
          </a:p>
        </p:txBody>
      </p:sp>
      <p:sp>
        <p:nvSpPr>
          <p:cNvPr id="7" name="card-path-34"/>
          <p:cNvSpPr txBox="1"/>
          <p:nvPr/>
        </p:nvSpPr>
        <p:spPr>
          <a:xfrm>
            <a:off x="731520" y="3246120"/>
            <a:ext cx="3017520" cy="256032"/>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api/ingest.py</a:t>
            </a:r>
            <a:endParaRPr lang="en-US" sz="1100" dirty="0"/>
          </a:p>
        </p:txBody>
      </p:sp>
      <p:sp>
        <p:nvSpPr>
          <p:cNvPr id="8" name="arrow-35"/>
          <p:cNvSpPr/>
          <p:nvPr/>
        </p:nvSpPr>
        <p:spPr>
          <a:xfrm>
            <a:off x="4005072" y="2468880"/>
            <a:ext cx="324612" cy="0"/>
          </a:xfrm>
          <a:prstGeom prst="line">
            <a:avLst/>
          </a:prstGeom>
          <a:noFill/>
          <a:ln w="25400">
            <a:solidFill>
              <a:schemeClr val="tx1"/>
            </a:solidFill>
            <a:prstDash val="solid"/>
            <a:tailEnd type="triangle"/>
          </a:ln>
        </p:spPr>
      </p:sp>
      <p:sp>
        <p:nvSpPr>
          <p:cNvPr id="9" name="card-36"/>
          <p:cNvSpPr/>
          <p:nvPr/>
        </p:nvSpPr>
        <p:spPr>
          <a:xfrm>
            <a:off x="4402836" y="1325880"/>
            <a:ext cx="3383280" cy="2286000"/>
          </a:xfrm>
          <a:prstGeom prst="roundRect">
            <a:avLst>
              <a:gd name="adj" fmla="val 3200"/>
            </a:avLst>
          </a:prstGeom>
          <a:solidFill>
            <a:schemeClr val="accent5"/>
          </a:solidFill>
          <a:ln w="31750">
            <a:solidFill>
              <a:schemeClr val="accent1"/>
            </a:solidFill>
            <a:prstDash val="solid"/>
          </a:ln>
        </p:spPr>
      </p:sp>
      <p:sp>
        <p:nvSpPr>
          <p:cNvPr id="10" name="step-37"/>
          <p:cNvSpPr txBox="1"/>
          <p:nvPr/>
        </p:nvSpPr>
        <p:spPr>
          <a:xfrm>
            <a:off x="4585716" y="1508760"/>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card-title-38"/>
          <p:cNvSpPr txBox="1"/>
          <p:nvPr/>
        </p:nvSpPr>
        <p:spPr>
          <a:xfrm>
            <a:off x="5180076" y="1508760"/>
            <a:ext cx="2468880" cy="45720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Insert into raw_events</a:t>
            </a:r>
            <a:endParaRPr lang="en-US" sz="1800" dirty="0"/>
          </a:p>
        </p:txBody>
      </p:sp>
      <p:sp>
        <p:nvSpPr>
          <p:cNvPr id="12" name="card-body-39"/>
          <p:cNvSpPr txBox="1"/>
          <p:nvPr/>
        </p:nvSpPr>
        <p:spPr>
          <a:xfrm>
            <a:off x="4585716" y="2103120"/>
            <a:ext cx="30175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status = pending</a:t>
            </a:r>
            <a:endParaRPr lang="en-US" sz="1300" dirty="0"/>
          </a:p>
          <a:p>
            <a:pPr marL="342900" indent="-342900">
              <a:spcAft>
                <a:spcPts val="300"/>
              </a:spcAft>
              <a:buSzPct val="100000"/>
              <a:buChar char="•"/>
            </a:pPr>
            <a:r>
              <a:rPr lang="en-US" sz="1300" dirty="0">
                <a:solidFill>
                  <a:schemeClr val="tx1"/>
                </a:solidFill>
              </a:rPr>
              <a:t>UNIQUE (source_id, external_event_id)</a:t>
            </a:r>
            <a:endParaRPr lang="en-US" sz="1300" dirty="0"/>
          </a:p>
          <a:p>
            <a:pPr marL="342900" indent="-342900">
              <a:spcAft>
                <a:spcPts val="300"/>
              </a:spcAft>
              <a:buSzPct val="100000"/>
              <a:buChar char="•"/>
            </a:pPr>
            <a:r>
              <a:rPr lang="en-US" sz="1300" dirty="0">
                <a:solidFill>
                  <a:schemeClr val="tx1"/>
                </a:solidFill>
              </a:rPr>
              <a:t>202 {raw_event_id, duplicate}</a:t>
            </a:r>
            <a:endParaRPr lang="en-US" sz="1300" dirty="0"/>
          </a:p>
          <a:p>
            <a:pPr marL="342900" indent="-342900">
              <a:spcAft>
                <a:spcPts val="300"/>
              </a:spcAft>
              <a:buSzPct val="100000"/>
              <a:buChar char="•"/>
            </a:pPr>
            <a:r>
              <a:rPr lang="en-US" sz="1300" dirty="0">
                <a:solidFill>
                  <a:schemeClr val="tx1"/>
                </a:solidFill>
              </a:rPr>
              <a:t>storage down → 503, never 202</a:t>
            </a:r>
            <a:endParaRPr lang="en-US" sz="1300" dirty="0"/>
          </a:p>
        </p:txBody>
      </p:sp>
      <p:sp>
        <p:nvSpPr>
          <p:cNvPr id="13" name="card-path-40"/>
          <p:cNvSpPr txBox="1"/>
          <p:nvPr/>
        </p:nvSpPr>
        <p:spPr>
          <a:xfrm>
            <a:off x="4585716" y="3246120"/>
            <a:ext cx="3017520" cy="256032"/>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services/ingestion.py</a:t>
            </a:r>
            <a:endParaRPr lang="en-US" sz="1100" dirty="0"/>
          </a:p>
        </p:txBody>
      </p:sp>
      <p:sp>
        <p:nvSpPr>
          <p:cNvPr id="14" name="arrow-41"/>
          <p:cNvSpPr/>
          <p:nvPr/>
        </p:nvSpPr>
        <p:spPr>
          <a:xfrm>
            <a:off x="7859268" y="2468880"/>
            <a:ext cx="324612" cy="0"/>
          </a:xfrm>
          <a:prstGeom prst="line">
            <a:avLst/>
          </a:prstGeom>
          <a:noFill/>
          <a:ln w="25400">
            <a:solidFill>
              <a:schemeClr val="tx1"/>
            </a:solidFill>
            <a:prstDash val="solid"/>
            <a:tailEnd type="triangle"/>
          </a:ln>
        </p:spPr>
      </p:sp>
      <p:sp>
        <p:nvSpPr>
          <p:cNvPr id="15" name="card-42"/>
          <p:cNvSpPr/>
          <p:nvPr/>
        </p:nvSpPr>
        <p:spPr>
          <a:xfrm>
            <a:off x="8257032" y="1325880"/>
            <a:ext cx="3383280" cy="2286000"/>
          </a:xfrm>
          <a:prstGeom prst="roundRect">
            <a:avLst>
              <a:gd name="adj" fmla="val 3200"/>
            </a:avLst>
          </a:prstGeom>
          <a:solidFill>
            <a:schemeClr val="bg1"/>
          </a:solidFill>
          <a:ln w="19050">
            <a:solidFill>
              <a:schemeClr val="tx1"/>
            </a:solidFill>
            <a:prstDash val="solid"/>
          </a:ln>
        </p:spPr>
      </p:sp>
      <p:sp>
        <p:nvSpPr>
          <p:cNvPr id="16" name="step-43"/>
          <p:cNvSpPr txBox="1"/>
          <p:nvPr/>
        </p:nvSpPr>
        <p:spPr>
          <a:xfrm>
            <a:off x="8439912" y="1508760"/>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card-title-44"/>
          <p:cNvSpPr txBox="1"/>
          <p:nvPr/>
        </p:nvSpPr>
        <p:spPr>
          <a:xfrm>
            <a:off x="9034272" y="1508760"/>
            <a:ext cx="2468880" cy="45720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Claim with a lease</a:t>
            </a:r>
            <a:endParaRPr lang="en-US" sz="1800" dirty="0"/>
          </a:p>
        </p:txBody>
      </p:sp>
      <p:sp>
        <p:nvSpPr>
          <p:cNvPr id="18" name="card-body-45"/>
          <p:cNvSpPr txBox="1"/>
          <p:nvPr/>
        </p:nvSpPr>
        <p:spPr>
          <a:xfrm>
            <a:off x="8439912" y="2103120"/>
            <a:ext cx="30175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one atomic UPDATE claims a batch</a:t>
            </a:r>
            <a:endParaRPr lang="en-US" sz="1300" dirty="0"/>
          </a:p>
          <a:p>
            <a:pPr marL="342900" indent="-342900">
              <a:spcAft>
                <a:spcPts val="300"/>
              </a:spcAft>
              <a:buSzPct val="100000"/>
              <a:buChar char="•"/>
            </a:pPr>
            <a:r>
              <a:rPr lang="en-US" sz="1300" dirty="0">
                <a:solidFill>
                  <a:schemeClr val="tx1"/>
                </a:solidFill>
              </a:rPr>
              <a:t>due pending or failed rows, or lease expired</a:t>
            </a:r>
            <a:endParaRPr lang="en-US" sz="1300" dirty="0"/>
          </a:p>
          <a:p>
            <a:pPr marL="342900" indent="-342900">
              <a:spcAft>
                <a:spcPts val="300"/>
              </a:spcAft>
              <a:buSzPct val="100000"/>
              <a:buChar char="•"/>
            </a:pPr>
            <a:r>
              <a:rPr lang="en-US" sz="1300" dirty="0">
                <a:solidFill>
                  <a:schemeClr val="tx1"/>
                </a:solidFill>
              </a:rPr>
              <a:t>sets processing, lease, attempts + 1</a:t>
            </a:r>
            <a:endParaRPr lang="en-US" sz="1300" dirty="0"/>
          </a:p>
        </p:txBody>
      </p:sp>
      <p:sp>
        <p:nvSpPr>
          <p:cNvPr id="19" name="card-path-46"/>
          <p:cNvSpPr txBox="1"/>
          <p:nvPr/>
        </p:nvSpPr>
        <p:spPr>
          <a:xfrm>
            <a:off x="8439912" y="3246120"/>
            <a:ext cx="3017520" cy="256032"/>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services/worker.py</a:t>
            </a:r>
            <a:endParaRPr lang="en-US" sz="1100" dirty="0"/>
          </a:p>
        </p:txBody>
      </p:sp>
      <p:sp>
        <p:nvSpPr>
          <p:cNvPr id="20" name="card-47"/>
          <p:cNvSpPr/>
          <p:nvPr/>
        </p:nvSpPr>
        <p:spPr>
          <a:xfrm>
            <a:off x="548640" y="3977640"/>
            <a:ext cx="3383280" cy="2286000"/>
          </a:xfrm>
          <a:prstGeom prst="roundRect">
            <a:avLst>
              <a:gd name="adj" fmla="val 3200"/>
            </a:avLst>
          </a:prstGeom>
          <a:solidFill>
            <a:schemeClr val="bg1"/>
          </a:solidFill>
          <a:ln w="19050">
            <a:solidFill>
              <a:schemeClr val="tx1"/>
            </a:solidFill>
            <a:prstDash val="solid"/>
          </a:ln>
        </p:spPr>
      </p:sp>
      <p:sp>
        <p:nvSpPr>
          <p:cNvPr id="21" name="step-48"/>
          <p:cNvSpPr txBox="1"/>
          <p:nvPr/>
        </p:nvSpPr>
        <p:spPr>
          <a:xfrm>
            <a:off x="731520" y="4160520"/>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card-title-49"/>
          <p:cNvSpPr txBox="1"/>
          <p:nvPr/>
        </p:nvSpPr>
        <p:spPr>
          <a:xfrm>
            <a:off x="1325880" y="4160520"/>
            <a:ext cx="2468880" cy="45720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Connector transforms</a:t>
            </a:r>
            <a:endParaRPr lang="en-US" sz="1800" dirty="0"/>
          </a:p>
        </p:txBody>
      </p:sp>
      <p:sp>
        <p:nvSpPr>
          <p:cNvPr id="23" name="card-body-50"/>
          <p:cNvSpPr txBox="1"/>
          <p:nvPr/>
        </p:nvSpPr>
        <p:spPr>
          <a:xfrm>
            <a:off x="731520" y="4754880"/>
            <a:ext cx="30175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CONNECTORS[source.type].transform</a:t>
            </a:r>
            <a:endParaRPr lang="en-US" sz="1300" dirty="0"/>
          </a:p>
          <a:p>
            <a:pPr marL="342900" indent="-342900">
              <a:spcAft>
                <a:spcPts val="300"/>
              </a:spcAft>
              <a:buSzPct val="100000"/>
              <a:buChar char="•"/>
            </a:pPr>
            <a:r>
              <a:rPr lang="en-US" sz="1300" dirty="0">
                <a:solidFill>
                  <a:schemeClr val="tx1"/>
                </a:solidFill>
              </a:rPr>
              <a:t>Pydantic input model validates first</a:t>
            </a:r>
            <a:endParaRPr lang="en-US" sz="1300" dirty="0"/>
          </a:p>
          <a:p>
            <a:pPr marL="342900" indent="-342900">
              <a:spcAft>
                <a:spcPts val="300"/>
              </a:spcAft>
              <a:buSzPct val="100000"/>
              <a:buChar char="•"/>
            </a:pPr>
            <a:r>
              <a:rPr lang="en-US" sz="1300" dirty="0">
                <a:solidFill>
                  <a:schemeClr val="tx1"/>
                </a:solidFill>
              </a:rPr>
              <a:t>returns [FeedbackRecord]</a:t>
            </a:r>
            <a:endParaRPr lang="en-US" sz="1300" dirty="0"/>
          </a:p>
        </p:txBody>
      </p:sp>
      <p:sp>
        <p:nvSpPr>
          <p:cNvPr id="24" name="card-path-51"/>
          <p:cNvSpPr txBox="1"/>
          <p:nvPr/>
        </p:nvSpPr>
        <p:spPr>
          <a:xfrm>
            <a:off x="731520" y="5897880"/>
            <a:ext cx="3017520" cy="256032"/>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connectors/registry.py</a:t>
            </a:r>
            <a:endParaRPr lang="en-US" sz="1100" dirty="0"/>
          </a:p>
        </p:txBody>
      </p:sp>
      <p:sp>
        <p:nvSpPr>
          <p:cNvPr id="25" name="arrow-52"/>
          <p:cNvSpPr/>
          <p:nvPr/>
        </p:nvSpPr>
        <p:spPr>
          <a:xfrm>
            <a:off x="4005072" y="5120640"/>
            <a:ext cx="324612" cy="0"/>
          </a:xfrm>
          <a:prstGeom prst="line">
            <a:avLst/>
          </a:prstGeom>
          <a:noFill/>
          <a:ln w="25400">
            <a:solidFill>
              <a:schemeClr val="tx1"/>
            </a:solidFill>
            <a:prstDash val="solid"/>
            <a:tailEnd type="triangle"/>
          </a:ln>
        </p:spPr>
      </p:sp>
      <p:sp>
        <p:nvSpPr>
          <p:cNvPr id="26" name="card-53"/>
          <p:cNvSpPr/>
          <p:nvPr/>
        </p:nvSpPr>
        <p:spPr>
          <a:xfrm>
            <a:off x="4402836" y="3977640"/>
            <a:ext cx="3383280" cy="2286000"/>
          </a:xfrm>
          <a:prstGeom prst="roundRect">
            <a:avLst>
              <a:gd name="adj" fmla="val 3200"/>
            </a:avLst>
          </a:prstGeom>
          <a:solidFill>
            <a:schemeClr val="bg1"/>
          </a:solidFill>
          <a:ln w="19050">
            <a:solidFill>
              <a:schemeClr val="tx1"/>
            </a:solidFill>
            <a:prstDash val="solid"/>
          </a:ln>
        </p:spPr>
      </p:sp>
      <p:sp>
        <p:nvSpPr>
          <p:cNvPr id="27" name="step-54"/>
          <p:cNvSpPr txBox="1"/>
          <p:nvPr/>
        </p:nvSpPr>
        <p:spPr>
          <a:xfrm>
            <a:off x="4585716" y="4160520"/>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card-title-55"/>
          <p:cNvSpPr txBox="1"/>
          <p:nvPr/>
        </p:nvSpPr>
        <p:spPr>
          <a:xfrm>
            <a:off x="5180076" y="4160520"/>
            <a:ext cx="2468880" cy="45720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Upsert the record</a:t>
            </a:r>
            <a:endParaRPr lang="en-US" sz="1800" dirty="0"/>
          </a:p>
        </p:txBody>
      </p:sp>
      <p:sp>
        <p:nvSpPr>
          <p:cNvPr id="29" name="card-body-56"/>
          <p:cNvSpPr txBox="1"/>
          <p:nvPr/>
        </p:nvSpPr>
        <p:spPr>
          <a:xfrm>
            <a:off x="4585716" y="4754880"/>
            <a:ext cx="30175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UNIQUE (source_id, external_id)</a:t>
            </a:r>
            <a:endParaRPr lang="en-US" sz="1300" dirty="0"/>
          </a:p>
          <a:p>
            <a:pPr marL="342900" indent="-342900">
              <a:spcAft>
                <a:spcPts val="300"/>
              </a:spcAft>
              <a:buSzPct val="100000"/>
              <a:buChar char="•"/>
            </a:pPr>
            <a:r>
              <a:rPr lang="en-US" sz="1300" dirty="0">
                <a:solidFill>
                  <a:schemeClr val="tx1"/>
                </a:solidFill>
              </a:rPr>
              <a:t>newer-or-equal version wins</a:t>
            </a:r>
            <a:endParaRPr lang="en-US" sz="1300" dirty="0"/>
          </a:p>
          <a:p>
            <a:pPr marL="342900" indent="-342900">
              <a:spcAft>
                <a:spcPts val="300"/>
              </a:spcAft>
              <a:buSzPct val="100000"/>
              <a:buChar char="•"/>
            </a:pPr>
            <a:r>
              <a:rPr lang="en-US" sz="1300" dirty="0">
                <a:solidFill>
                  <a:schemeClr val="tx1"/>
                </a:solidFill>
              </a:rPr>
              <a:t>then processed, failed (retry at 2^attempts) or dead</a:t>
            </a:r>
            <a:endParaRPr lang="en-US" sz="1300" dirty="0"/>
          </a:p>
        </p:txBody>
      </p:sp>
      <p:sp>
        <p:nvSpPr>
          <p:cNvPr id="30" name="card-path-57"/>
          <p:cNvSpPr txBox="1"/>
          <p:nvPr/>
        </p:nvSpPr>
        <p:spPr>
          <a:xfrm>
            <a:off x="4585716" y="5897880"/>
            <a:ext cx="3017520" cy="256032"/>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feedback_store.py</a:t>
            </a:r>
            <a:endParaRPr lang="en-US" sz="1100" dirty="0"/>
          </a:p>
        </p:txBody>
      </p:sp>
      <p:sp>
        <p:nvSpPr>
          <p:cNvPr id="31" name="arrow-58"/>
          <p:cNvSpPr/>
          <p:nvPr/>
        </p:nvSpPr>
        <p:spPr>
          <a:xfrm>
            <a:off x="7859268" y="5120640"/>
            <a:ext cx="324612" cy="0"/>
          </a:xfrm>
          <a:prstGeom prst="line">
            <a:avLst/>
          </a:prstGeom>
          <a:noFill/>
          <a:ln w="25400">
            <a:solidFill>
              <a:schemeClr val="tx1"/>
            </a:solidFill>
            <a:prstDash val="solid"/>
            <a:tailEnd type="triangle"/>
          </a:ln>
        </p:spPr>
      </p:sp>
      <p:sp>
        <p:nvSpPr>
          <p:cNvPr id="32" name="card-59"/>
          <p:cNvSpPr/>
          <p:nvPr/>
        </p:nvSpPr>
        <p:spPr>
          <a:xfrm>
            <a:off x="8257032" y="3977640"/>
            <a:ext cx="3383280" cy="2286000"/>
          </a:xfrm>
          <a:prstGeom prst="roundRect">
            <a:avLst>
              <a:gd name="adj" fmla="val 3200"/>
            </a:avLst>
          </a:prstGeom>
          <a:solidFill>
            <a:schemeClr val="bg1"/>
          </a:solidFill>
          <a:ln w="19050">
            <a:solidFill>
              <a:schemeClr val="tx1"/>
            </a:solidFill>
            <a:prstDash val="solid"/>
          </a:ln>
        </p:spPr>
      </p:sp>
      <p:sp>
        <p:nvSpPr>
          <p:cNvPr id="33" name="step-60"/>
          <p:cNvSpPr txBox="1"/>
          <p:nvPr/>
        </p:nvSpPr>
        <p:spPr>
          <a:xfrm>
            <a:off x="8439912" y="4160520"/>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4" name="card-title-61"/>
          <p:cNvSpPr txBox="1"/>
          <p:nvPr/>
        </p:nvSpPr>
        <p:spPr>
          <a:xfrm>
            <a:off x="9034272" y="4160520"/>
            <a:ext cx="2468880" cy="45720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Query</a:t>
            </a:r>
            <a:endParaRPr lang="en-US" sz="1800" dirty="0"/>
          </a:p>
        </p:txBody>
      </p:sp>
      <p:sp>
        <p:nvSpPr>
          <p:cNvPr id="35" name="card-body-62"/>
          <p:cNvSpPr txBox="1"/>
          <p:nvPr/>
        </p:nvSpPr>
        <p:spPr>
          <a:xfrm>
            <a:off x="8439912" y="4754880"/>
            <a:ext cx="3017520"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1"/>
                </a:solidFill>
              </a:rPr>
              <a:t>GET /v1/records?source_id=&amp;kind=&amp;since=</a:t>
            </a:r>
            <a:endParaRPr lang="en-US" sz="1300" dirty="0"/>
          </a:p>
          <a:p>
            <a:pPr marL="342900" indent="-342900">
              <a:spcAft>
                <a:spcPts val="300"/>
              </a:spcAft>
              <a:buSzPct val="100000"/>
              <a:buChar char="•"/>
            </a:pPr>
            <a:r>
              <a:rPr lang="en-US" sz="1300" dirty="0">
                <a:solidFill>
                  <a:schemeClr val="tx1"/>
                </a:solidFill>
              </a:rPr>
              <a:t>API key → tenant; every read filtered by it</a:t>
            </a:r>
            <a:endParaRPr lang="en-US" sz="1300" dirty="0"/>
          </a:p>
          <a:p>
            <a:pPr marL="342900" indent="-342900">
              <a:spcAft>
                <a:spcPts val="300"/>
              </a:spcAft>
              <a:buSzPct val="100000"/>
              <a:buChar char="•"/>
            </a:pPr>
            <a:r>
              <a:rPr lang="en-US" sz="1300" dirty="0">
                <a:solidFill>
                  <a:schemeClr val="tx1"/>
                </a:solidFill>
              </a:rPr>
              <a:t>another tenant's id → 404, not 403</a:t>
            </a:r>
            <a:endParaRPr lang="en-US" sz="1300" dirty="0"/>
          </a:p>
        </p:txBody>
      </p:sp>
      <p:sp>
        <p:nvSpPr>
          <p:cNvPr id="36" name="card-path-63"/>
          <p:cNvSpPr txBox="1"/>
          <p:nvPr/>
        </p:nvSpPr>
        <p:spPr>
          <a:xfrm>
            <a:off x="8439912" y="5897880"/>
            <a:ext cx="3017520" cy="256032"/>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api/records.py</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Pull is just another producer</a:t>
            </a:r>
            <a:endParaRPr lang="en-US" sz="3400" dirty="0"/>
          </a:p>
        </p:txBody>
      </p:sp>
      <p:sp>
        <p:nvSpPr>
          <p:cNvPr id="3" name="pull-flow-64"/>
          <p:cNvSpPr txBox="1"/>
          <p:nvPr/>
        </p:nvSpPr>
        <p:spPr>
          <a:xfrm>
            <a:off x="548640" y="1371600"/>
            <a:ext cx="3291840" cy="749808"/>
          </a:xfrm>
          <a:prstGeom prst="roundRect">
            <a:avLst>
              <a:gd name="adj" fmla="val 9756"/>
            </a:avLst>
          </a:prstGeom>
          <a:solidFill>
            <a:schemeClr val="bg1"/>
          </a:solidFill>
          <a:ln w="19050">
            <a:solidFill>
              <a:schemeClr val="tx1"/>
            </a:solidFill>
          </a:ln>
        </p:spPr>
        <p:txBody>
          <a:bodyPr wrap="square" lIns="76200" tIns="76200" rIns="76200" bIns="76200" rtlCol="0" anchor="ctr"/>
          <a:lstStyle/>
          <a:p>
            <a:pPr algn="l" indent="0" marL="0">
              <a:spcAft>
                <a:spcPts val="300"/>
              </a:spcAft>
              <a:buNone/>
            </a:pPr>
            <a:r>
              <a:rPr lang="en-US" sz="1400" b="1" dirty="0">
                <a:solidFill>
                  <a:schemeClr val="tx1"/>
                </a:solidFill>
              </a:rPr>
              <a:t>SchedulerService tick</a:t>
            </a:r>
            <a:endParaRPr lang="en-US" sz="14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or POST /v1/sources/{id}/sync</a:t>
            </a:r>
            <a:endParaRPr lang="en-US" sz="1400" dirty="0"/>
          </a:p>
        </p:txBody>
      </p:sp>
      <p:sp>
        <p:nvSpPr>
          <p:cNvPr id="4" name="arrow-65"/>
          <p:cNvSpPr/>
          <p:nvPr/>
        </p:nvSpPr>
        <p:spPr>
          <a:xfrm>
            <a:off x="2194560" y="2121408"/>
            <a:ext cx="0" cy="274320"/>
          </a:xfrm>
          <a:prstGeom prst="line">
            <a:avLst/>
          </a:prstGeom>
          <a:noFill/>
          <a:ln w="25400">
            <a:solidFill>
              <a:schemeClr val="tx1"/>
            </a:solidFill>
            <a:prstDash val="solid"/>
            <a:tailEnd type="triangle"/>
          </a:ln>
        </p:spPr>
      </p:sp>
      <p:sp>
        <p:nvSpPr>
          <p:cNvPr id="5" name="pull-flow-66"/>
          <p:cNvSpPr txBox="1"/>
          <p:nvPr/>
        </p:nvSpPr>
        <p:spPr>
          <a:xfrm>
            <a:off x="548640" y="2395728"/>
            <a:ext cx="3291840" cy="749808"/>
          </a:xfrm>
          <a:prstGeom prst="roundRect">
            <a:avLst>
              <a:gd name="adj" fmla="val 9756"/>
            </a:avLst>
          </a:prstGeom>
          <a:solidFill>
            <a:schemeClr val="bg1"/>
          </a:solidFill>
          <a:ln w="19050">
            <a:solidFill>
              <a:schemeClr val="tx1"/>
            </a:solidFill>
          </a:ln>
        </p:spPr>
        <p:txBody>
          <a:bodyPr wrap="square" lIns="76200" tIns="76200" rIns="76200" bIns="76200" rtlCol="0" anchor="ctr"/>
          <a:lstStyle/>
          <a:p>
            <a:pPr algn="l" indent="0" marL="0">
              <a:spcAft>
                <a:spcPts val="300"/>
              </a:spcAft>
              <a:buNone/>
            </a:pPr>
            <a:r>
              <a:rPr lang="en-US" sz="1400" b="1" dirty="0">
                <a:solidFill>
                  <a:schemeClr val="tx1"/>
                </a:solidFill>
              </a:rPr>
              <a:t>PullService.sync</a:t>
            </a:r>
            <a:endParaRPr lang="en-US" sz="14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services/pull.py</a:t>
            </a:r>
            <a:endParaRPr lang="en-US" sz="1400" dirty="0"/>
          </a:p>
        </p:txBody>
      </p:sp>
      <p:sp>
        <p:nvSpPr>
          <p:cNvPr id="6" name="arrow-67"/>
          <p:cNvSpPr/>
          <p:nvPr/>
        </p:nvSpPr>
        <p:spPr>
          <a:xfrm>
            <a:off x="2194560" y="3145536"/>
            <a:ext cx="0" cy="274320"/>
          </a:xfrm>
          <a:prstGeom prst="line">
            <a:avLst/>
          </a:prstGeom>
          <a:noFill/>
          <a:ln w="25400">
            <a:solidFill>
              <a:schemeClr val="tx1"/>
            </a:solidFill>
            <a:prstDash val="solid"/>
            <a:tailEnd type="triangle"/>
          </a:ln>
        </p:spPr>
      </p:sp>
      <p:sp>
        <p:nvSpPr>
          <p:cNvPr id="7" name="pull-flow-68"/>
          <p:cNvSpPr txBox="1"/>
          <p:nvPr/>
        </p:nvSpPr>
        <p:spPr>
          <a:xfrm>
            <a:off x="548640" y="3419856"/>
            <a:ext cx="3291840" cy="749808"/>
          </a:xfrm>
          <a:prstGeom prst="roundRect">
            <a:avLst>
              <a:gd name="adj" fmla="val 9756"/>
            </a:avLst>
          </a:prstGeom>
          <a:solidFill>
            <a:schemeClr val="bg1"/>
          </a:solidFill>
          <a:ln w="19050">
            <a:solidFill>
              <a:schemeClr val="tx1"/>
            </a:solidFill>
          </a:ln>
        </p:spPr>
        <p:txBody>
          <a:bodyPr wrap="square" lIns="76200" tIns="76200" rIns="76200" bIns="76200" rtlCol="0" anchor="ctr"/>
          <a:lstStyle/>
          <a:p>
            <a:pPr algn="l" indent="0" marL="0">
              <a:spcAft>
                <a:spcPts val="300"/>
              </a:spcAft>
              <a:buNone/>
            </a:pPr>
            <a:r>
              <a:rPr lang="en-US" sz="1400" b="1" dirty="0">
                <a:solidFill>
                  <a:schemeClr val="tx1"/>
                </a:solidFill>
              </a:rPr>
              <a:t>DiscourseConnector.pull</a:t>
            </a:r>
            <a:endParaRPr lang="en-US" sz="14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search.json, t/{id}/posts.json</a:t>
            </a:r>
            <a:endParaRPr lang="en-US" sz="1400" dirty="0"/>
          </a:p>
        </p:txBody>
      </p:sp>
      <p:sp>
        <p:nvSpPr>
          <p:cNvPr id="8" name="arrow-69"/>
          <p:cNvSpPr/>
          <p:nvPr/>
        </p:nvSpPr>
        <p:spPr>
          <a:xfrm>
            <a:off x="2194560" y="4169664"/>
            <a:ext cx="0" cy="274320"/>
          </a:xfrm>
          <a:prstGeom prst="line">
            <a:avLst/>
          </a:prstGeom>
          <a:noFill/>
          <a:ln w="25400">
            <a:solidFill>
              <a:schemeClr val="tx1"/>
            </a:solidFill>
            <a:prstDash val="solid"/>
            <a:tailEnd type="triangle"/>
          </a:ln>
        </p:spPr>
      </p:sp>
      <p:sp>
        <p:nvSpPr>
          <p:cNvPr id="9" name="pull-flow-70"/>
          <p:cNvSpPr txBox="1"/>
          <p:nvPr/>
        </p:nvSpPr>
        <p:spPr>
          <a:xfrm>
            <a:off x="548640" y="4443984"/>
            <a:ext cx="3291840" cy="749808"/>
          </a:xfrm>
          <a:prstGeom prst="roundRect">
            <a:avLst>
              <a:gd name="adj" fmla="val 9756"/>
            </a:avLst>
          </a:prstGeom>
          <a:solidFill>
            <a:schemeClr val="accent5"/>
          </a:solidFill>
          <a:ln w="31750">
            <a:solidFill>
              <a:schemeClr val="accent1"/>
            </a:solidFill>
          </a:ln>
        </p:spPr>
        <p:txBody>
          <a:bodyPr wrap="square" lIns="76200" tIns="76200" rIns="76200" bIns="76200" rtlCol="0" anchor="ctr"/>
          <a:lstStyle/>
          <a:p>
            <a:pPr algn="l" indent="0" marL="0">
              <a:spcAft>
                <a:spcPts val="300"/>
              </a:spcAft>
              <a:buNone/>
            </a:pPr>
            <a:r>
              <a:rPr lang="en-US" sz="1400" b="1" dirty="0">
                <a:solidFill>
                  <a:schemeClr val="tx1"/>
                </a:solidFill>
              </a:rPr>
              <a:t>IngestionService.accept</a:t>
            </a:r>
            <a:endParaRPr lang="en-US" sz="1400" dirty="0"/>
          </a:p>
          <a:p>
            <a:pPr algn="l" indent="0" marL="0">
              <a:buNone/>
            </a:pPr>
            <a:r>
              <a:rPr lang="en-US" sz="1100" dirty="0">
                <a:solidFill>
                  <a:schemeClr val="tx2"/>
                </a:solidFill>
              </a:rPr>
              <a:t>same call a webhook uses</a:t>
            </a:r>
            <a:endParaRPr lang="en-US" sz="1400" dirty="0"/>
          </a:p>
        </p:txBody>
      </p:sp>
      <p:sp>
        <p:nvSpPr>
          <p:cNvPr id="10" name="arrow-71"/>
          <p:cNvSpPr/>
          <p:nvPr/>
        </p:nvSpPr>
        <p:spPr>
          <a:xfrm>
            <a:off x="2194560" y="5193792"/>
            <a:ext cx="0" cy="274320"/>
          </a:xfrm>
          <a:prstGeom prst="line">
            <a:avLst/>
          </a:prstGeom>
          <a:noFill/>
          <a:ln w="25400">
            <a:solidFill>
              <a:schemeClr val="tx1"/>
            </a:solidFill>
            <a:prstDash val="solid"/>
            <a:tailEnd type="triangle"/>
          </a:ln>
        </p:spPr>
      </p:sp>
      <p:sp>
        <p:nvSpPr>
          <p:cNvPr id="11" name="pull-flow-72"/>
          <p:cNvSpPr txBox="1"/>
          <p:nvPr/>
        </p:nvSpPr>
        <p:spPr>
          <a:xfrm>
            <a:off x="548640" y="5468112"/>
            <a:ext cx="3291840" cy="749808"/>
          </a:xfrm>
          <a:prstGeom prst="roundRect">
            <a:avLst>
              <a:gd name="adj" fmla="val 9756"/>
            </a:avLst>
          </a:prstGeom>
          <a:solidFill>
            <a:schemeClr val="bg1"/>
          </a:solidFill>
          <a:ln w="19050">
            <a:solidFill>
              <a:schemeClr val="tx1"/>
            </a:solidFill>
          </a:ln>
        </p:spPr>
        <p:txBody>
          <a:bodyPr wrap="square" lIns="76200" tIns="76200" rIns="76200" bIns="76200" rtlCol="0" anchor="ctr"/>
          <a:lstStyle/>
          <a:p>
            <a:pPr algn="l" indent="0" marL="0">
              <a:spcAft>
                <a:spcPts val="300"/>
              </a:spcAft>
              <a:buNone/>
            </a:pPr>
            <a:r>
              <a:rPr lang="en-US" sz="1400" b="1" dirty="0">
                <a:solidFill>
                  <a:schemeClr val="tx1"/>
                </a:solidFill>
              </a:rPr>
              <a:t>SourceStore.update_cursor</a:t>
            </a:r>
            <a:endParaRPr lang="en-US" sz="1400" dirty="0"/>
          </a:p>
          <a:p>
            <a:pPr algn="l" indent="0" marL="0">
              <a:buNone/>
            </a:pPr>
            <a:r>
              <a:rPr lang="en-US" sz="1100" dirty="0">
                <a:solidFill>
                  <a:schemeClr val="tx2"/>
                </a:solidFill>
                <a:latin typeface="Courier New" pitchFamily="34" charset="0"/>
                <a:ea typeface="Courier New" pitchFamily="34" charset="-122"/>
                <a:cs typeface="Courier New" pitchFamily="34" charset="-120"/>
              </a:rPr>
              <a:t>after the page is on disk</a:t>
            </a:r>
            <a:endParaRPr lang="en-US" sz="1400" dirty="0"/>
          </a:p>
        </p:txBody>
      </p:sp>
      <p:sp>
        <p:nvSpPr>
          <p:cNvPr id="12" name="pull-row-73"/>
          <p:cNvSpPr/>
          <p:nvPr/>
        </p:nvSpPr>
        <p:spPr>
          <a:xfrm>
            <a:off x="4343400" y="1371600"/>
            <a:ext cx="7299655" cy="1024128"/>
          </a:xfrm>
          <a:prstGeom prst="roundRect">
            <a:avLst>
              <a:gd name="adj" fmla="val 7143"/>
            </a:avLst>
          </a:prstGeom>
          <a:solidFill>
            <a:schemeClr val="bg2"/>
          </a:solidFill>
          <a:ln w="6350">
            <a:solidFill>
              <a:schemeClr val="bg2"/>
            </a:solidFill>
            <a:prstDash val="solid"/>
          </a:ln>
        </p:spPr>
      </p:sp>
      <p:sp>
        <p:nvSpPr>
          <p:cNvPr id="13" name="step-74"/>
          <p:cNvSpPr txBox="1"/>
          <p:nvPr/>
        </p:nvSpPr>
        <p:spPr>
          <a:xfrm>
            <a:off x="4572000" y="1655064"/>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4" name="pull-row-title-75"/>
          <p:cNvSpPr txBox="1"/>
          <p:nvPr/>
        </p:nvSpPr>
        <p:spPr>
          <a:xfrm>
            <a:off x="5212080" y="1481328"/>
            <a:ext cx="2560320" cy="8046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Pages</a:t>
            </a:r>
            <a:endParaRPr lang="en-US" sz="1800" dirty="0"/>
          </a:p>
        </p:txBody>
      </p:sp>
      <p:sp>
        <p:nvSpPr>
          <p:cNvPr id="15" name="pull-row-body-76"/>
          <p:cNvSpPr txBox="1"/>
          <p:nvPr/>
        </p:nvSpPr>
        <p:spPr>
          <a:xfrm>
            <a:off x="7863840" y="1463040"/>
            <a:ext cx="3596335" cy="841248"/>
          </a:xfrm>
          <a:prstGeom prst="rect">
            <a:avLst/>
          </a:prstGeom>
          <a:noFill/>
          <a:ln/>
        </p:spPr>
        <p:txBody>
          <a:bodyPr wrap="square" lIns="0" tIns="0" rIns="0" bIns="0" rtlCol="0" anchor="ctr"/>
          <a:lstStyle/>
          <a:p>
            <a:pPr indent="0" marL="0">
              <a:buNone/>
            </a:pPr>
            <a:r>
              <a:rPr lang="en-US" sz="1400" dirty="0">
                <a:solidFill>
                  <a:schemeClr val="tx1"/>
                </a:solidFill>
              </a:rPr>
              <a:t>Search pages by date window, then fetch posts 20 ids per call. A 60 s deadline and a 2 MB response cap bound each sync.</a:t>
            </a:r>
            <a:endParaRPr lang="en-US" sz="1400" dirty="0"/>
          </a:p>
        </p:txBody>
      </p:sp>
      <p:sp>
        <p:nvSpPr>
          <p:cNvPr id="16" name="pull-row-77"/>
          <p:cNvSpPr/>
          <p:nvPr/>
        </p:nvSpPr>
        <p:spPr>
          <a:xfrm>
            <a:off x="4343400" y="2615184"/>
            <a:ext cx="7299655" cy="1024128"/>
          </a:xfrm>
          <a:prstGeom prst="roundRect">
            <a:avLst>
              <a:gd name="adj" fmla="val 7143"/>
            </a:avLst>
          </a:prstGeom>
          <a:solidFill>
            <a:schemeClr val="bg2"/>
          </a:solidFill>
          <a:ln w="6350">
            <a:solidFill>
              <a:schemeClr val="bg2"/>
            </a:solidFill>
            <a:prstDash val="solid"/>
          </a:ln>
        </p:spPr>
      </p:sp>
      <p:sp>
        <p:nvSpPr>
          <p:cNvPr id="17" name="step-78"/>
          <p:cNvSpPr txBox="1"/>
          <p:nvPr/>
        </p:nvSpPr>
        <p:spPr>
          <a:xfrm>
            <a:off x="4572000" y="2898648"/>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pull-row-title-79"/>
          <p:cNvSpPr txBox="1"/>
          <p:nvPr/>
        </p:nvSpPr>
        <p:spPr>
          <a:xfrm>
            <a:off x="5212080" y="2724912"/>
            <a:ext cx="2560320" cy="8046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Cursor after commit</a:t>
            </a:r>
            <a:endParaRPr lang="en-US" sz="1800" dirty="0"/>
          </a:p>
        </p:txBody>
      </p:sp>
      <p:sp>
        <p:nvSpPr>
          <p:cNvPr id="19" name="pull-row-body-80"/>
          <p:cNvSpPr txBox="1"/>
          <p:nvPr/>
        </p:nvSpPr>
        <p:spPr>
          <a:xfrm>
            <a:off x="7863840" y="2706624"/>
            <a:ext cx="3596335" cy="841248"/>
          </a:xfrm>
          <a:prstGeom prst="rect">
            <a:avLst/>
          </a:prstGeom>
          <a:noFill/>
          <a:ln/>
        </p:spPr>
        <p:txBody>
          <a:bodyPr wrap="square" lIns="0" tIns="0" rIns="0" bIns="0" rtlCol="0" anchor="ctr"/>
          <a:lstStyle/>
          <a:p>
            <a:pPr indent="0" marL="0">
              <a:buNone/>
            </a:pPr>
            <a:r>
              <a:rPr lang="en-US" sz="1400" dirty="0">
                <a:solidFill>
                  <a:schemeClr val="tx1"/>
                </a:solidFill>
              </a:rPr>
              <a:t>The bookmark moves only after the rows are on disk. A crash mid-poll re-fetches a page; the unique key absorbs the repeat.</a:t>
            </a:r>
            <a:endParaRPr lang="en-US" sz="1400" dirty="0"/>
          </a:p>
        </p:txBody>
      </p:sp>
      <p:sp>
        <p:nvSpPr>
          <p:cNvPr id="20" name="pull-row-81"/>
          <p:cNvSpPr/>
          <p:nvPr/>
        </p:nvSpPr>
        <p:spPr>
          <a:xfrm>
            <a:off x="4343400" y="3858768"/>
            <a:ext cx="7299655" cy="1024128"/>
          </a:xfrm>
          <a:prstGeom prst="roundRect">
            <a:avLst>
              <a:gd name="adj" fmla="val 7143"/>
            </a:avLst>
          </a:prstGeom>
          <a:solidFill>
            <a:schemeClr val="bg2"/>
          </a:solidFill>
          <a:ln w="6350">
            <a:solidFill>
              <a:schemeClr val="bg2"/>
            </a:solidFill>
            <a:prstDash val="solid"/>
          </a:ln>
        </p:spPr>
      </p:sp>
      <p:sp>
        <p:nvSpPr>
          <p:cNvPr id="21" name="step-82"/>
          <p:cNvSpPr txBox="1"/>
          <p:nvPr/>
        </p:nvSpPr>
        <p:spPr>
          <a:xfrm>
            <a:off x="4572000" y="4142232"/>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pull-row-title-83"/>
          <p:cNvSpPr txBox="1"/>
          <p:nvPr/>
        </p:nvSpPr>
        <p:spPr>
          <a:xfrm>
            <a:off x="5212080" y="3968496"/>
            <a:ext cx="2560320" cy="8046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Overlap window</a:t>
            </a:r>
            <a:endParaRPr lang="en-US" sz="1800" dirty="0"/>
          </a:p>
        </p:txBody>
      </p:sp>
      <p:sp>
        <p:nvSpPr>
          <p:cNvPr id="23" name="pull-row-body-84"/>
          <p:cNvSpPr txBox="1"/>
          <p:nvPr/>
        </p:nvSpPr>
        <p:spPr>
          <a:xfrm>
            <a:off x="7863840" y="3950208"/>
            <a:ext cx="3596335" cy="841248"/>
          </a:xfrm>
          <a:prstGeom prst="rect">
            <a:avLst/>
          </a:prstGeom>
          <a:noFill/>
          <a:ln/>
        </p:spPr>
        <p:txBody>
          <a:bodyPr wrap="square" lIns="0" tIns="0" rIns="0" bIns="0" rtlCol="0" anchor="ctr"/>
          <a:lstStyle/>
          <a:p>
            <a:pPr indent="0" marL="0">
              <a:buNone/>
            </a:pPr>
            <a:r>
              <a:rPr lang="en-US" sz="1400" dirty="0">
                <a:solidFill>
                  <a:schemeClr val="tx1"/>
                </a:solidFill>
              </a:rPr>
              <a:t>On the final page the cursor goes to the newest post minus 60 s, or to the window end if that is past. Twice beats missed.</a:t>
            </a:r>
            <a:endParaRPr lang="en-US" sz="1400" dirty="0"/>
          </a:p>
        </p:txBody>
      </p:sp>
      <p:sp>
        <p:nvSpPr>
          <p:cNvPr id="24" name="pull-row-85"/>
          <p:cNvSpPr/>
          <p:nvPr/>
        </p:nvSpPr>
        <p:spPr>
          <a:xfrm>
            <a:off x="4343400" y="5102352"/>
            <a:ext cx="7299655" cy="1024128"/>
          </a:xfrm>
          <a:prstGeom prst="roundRect">
            <a:avLst>
              <a:gd name="adj" fmla="val 7143"/>
            </a:avLst>
          </a:prstGeom>
          <a:solidFill>
            <a:schemeClr val="bg2"/>
          </a:solidFill>
          <a:ln w="6350">
            <a:solidFill>
              <a:schemeClr val="bg2"/>
            </a:solidFill>
            <a:prstDash val="solid"/>
          </a:ln>
        </p:spPr>
      </p:sp>
      <p:sp>
        <p:nvSpPr>
          <p:cNvPr id="25" name="step-86"/>
          <p:cNvSpPr txBox="1"/>
          <p:nvPr/>
        </p:nvSpPr>
        <p:spPr>
          <a:xfrm>
            <a:off x="4572000" y="5385816"/>
            <a:ext cx="457200" cy="45720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6" name="pull-row-title-87"/>
          <p:cNvSpPr txBox="1"/>
          <p:nvPr/>
        </p:nvSpPr>
        <p:spPr>
          <a:xfrm>
            <a:off x="5212080" y="5212080"/>
            <a:ext cx="2560320" cy="804672"/>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Bounded window</a:t>
            </a:r>
            <a:endParaRPr lang="en-US" sz="1800" dirty="0"/>
          </a:p>
        </p:txBody>
      </p:sp>
      <p:sp>
        <p:nvSpPr>
          <p:cNvPr id="27" name="pull-row-body-88"/>
          <p:cNvSpPr txBox="1"/>
          <p:nvPr/>
        </p:nvSpPr>
        <p:spPr>
          <a:xfrm>
            <a:off x="7863840" y="5193792"/>
            <a:ext cx="3596335" cy="841248"/>
          </a:xfrm>
          <a:prstGeom prst="rect">
            <a:avLst/>
          </a:prstGeom>
          <a:noFill/>
          <a:ln/>
        </p:spPr>
        <p:txBody>
          <a:bodyPr wrap="square" lIns="0" tIns="0" rIns="0" bIns="0" rtlCol="0" anchor="ctr"/>
          <a:lstStyle/>
          <a:p>
            <a:pPr indent="0" marL="0">
              <a:buNone/>
            </a:pPr>
            <a:r>
              <a:rPr lang="en-US" sz="1400" dirty="0">
                <a:solidFill>
                  <a:schemeClr val="tx1"/>
                </a:solidFill>
              </a:rPr>
              <a:t>At most 10 search pages (about 500 posts) per window. A busier window errors loudly, the cursor stays; lower window_days with PATCH.</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One record shape, keyed by source</a:t>
            </a:r>
            <a:endParaRPr lang="en-US" sz="3400" dirty="0"/>
          </a:p>
        </p:txBody>
      </p:sp>
      <p:sp>
        <p:nvSpPr>
          <p:cNvPr id="3" name="source-model-89"/>
          <p:cNvSpPr txBox="1"/>
          <p:nvPr/>
        </p:nvSpPr>
        <p:spPr>
          <a:xfrm>
            <a:off x="548640" y="1325880"/>
            <a:ext cx="3291840" cy="2926080"/>
          </a:xfrm>
          <a:prstGeom prst="roundRect">
            <a:avLst>
              <a:gd name="adj" fmla="val 2500"/>
            </a:avLst>
          </a:prstGeom>
          <a:solidFill>
            <a:schemeClr val="bg1"/>
          </a:solidFill>
          <a:ln w="19050">
            <a:solidFill>
              <a:schemeClr val="tx1"/>
            </a:solidFill>
          </a:ln>
        </p:spPr>
        <p:txBody>
          <a:bodyPr wrap="square" lIns="152400" tIns="152400" rIns="152400" bIns="152400" rtlCol="0" anchor="t"/>
          <a:lstStyle/>
          <a:p>
            <a:pPr algn="l" indent="0" marL="0">
              <a:spcAft>
                <a:spcPts val="300"/>
              </a:spcAft>
              <a:buNone/>
            </a:pPr>
            <a:r>
              <a:rPr lang="en-US" sz="1800" b="1" dirty="0">
                <a:solidFill>
                  <a:schemeClr val="tx1"/>
                </a:solidFill>
              </a:rPr>
              <a:t>Source</a:t>
            </a:r>
            <a:endParaRPr lang="en-US" sz="1800" dirty="0"/>
          </a:p>
          <a:p>
            <a:pPr algn="l" indent="0" marL="0">
              <a:buNone/>
            </a:pPr>
            <a:r>
              <a:rPr lang="en-US" sz="1300" i="1" dirty="0">
                <a:solidFill>
                  <a:schemeClr val="tx1"/>
                </a:solidFill>
              </a:rPr>
              <a:t>one tenant's configured instance</a:t>
            </a:r>
            <a:endParaRPr lang="en-US" sz="1800" dirty="0"/>
          </a:p>
          <a:p>
            <a:pPr algn="l" indent="0" marL="0">
              <a:buNone/>
            </a:pPr>
            <a:r>
              <a:rPr lang="en-US" sz="600" dirty="0">
                <a:solidFill>
                  <a:schemeClr val="tx2"/>
                </a:solidFill>
              </a:rPr>
              <a:t> </a:t>
            </a:r>
            <a:endParaRPr lang="en-US" sz="18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id, tenant_id, type, name</a:t>
            </a:r>
            <a:endParaRPr lang="en-US" sz="18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mode: push | pull</a:t>
            </a:r>
            <a:endParaRPr lang="en-US" sz="18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config, webhook_secret</a:t>
            </a:r>
            <a:endParaRPr lang="en-US" sz="18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cursor, enabled</a:t>
            </a:r>
            <a:endParaRPr lang="en-US" sz="1800" dirty="0"/>
          </a:p>
          <a:p>
            <a:pPr algn="l" indent="0" marL="0">
              <a:buNone/>
            </a:pPr>
            <a:r>
              <a:rPr lang="en-US" sz="600" dirty="0">
                <a:solidFill>
                  <a:schemeClr val="tx2"/>
                </a:solidFill>
              </a:rPr>
              <a:t> </a:t>
            </a:r>
            <a:endParaRPr lang="en-US" sz="1800" dirty="0"/>
          </a:p>
          <a:p>
            <a:pPr algn="l" indent="0" marL="0">
              <a:buNone/>
            </a:pPr>
            <a:r>
              <a:rPr lang="en-US" sz="1300" dirty="0">
                <a:solidFill>
                  <a:schemeClr val="tx2"/>
                </a:solidFill>
              </a:rPr>
              <a:t>Two Playstore apps = two rows, each with its own secret and cursor. Disabled, never deleted.</a:t>
            </a:r>
            <a:endParaRPr lang="en-US" sz="1800" dirty="0"/>
          </a:p>
        </p:txBody>
      </p:sp>
      <p:sp>
        <p:nvSpPr>
          <p:cNvPr id="4" name="records-card-90"/>
          <p:cNvSpPr/>
          <p:nvPr/>
        </p:nvSpPr>
        <p:spPr>
          <a:xfrm>
            <a:off x="4206240" y="1325880"/>
            <a:ext cx="7436815" cy="2926080"/>
          </a:xfrm>
          <a:prstGeom prst="roundRect">
            <a:avLst>
              <a:gd name="adj" fmla="val 2500"/>
            </a:avLst>
          </a:prstGeom>
          <a:solidFill>
            <a:schemeClr val="bg1"/>
          </a:solidFill>
          <a:ln w="19050">
            <a:solidFill>
              <a:schemeClr val="tx1"/>
            </a:solidFill>
            <a:prstDash val="solid"/>
          </a:ln>
        </p:spPr>
      </p:sp>
      <p:sp>
        <p:nvSpPr>
          <p:cNvPr id="5" name="records-title-91"/>
          <p:cNvSpPr txBox="1"/>
          <p:nvPr/>
        </p:nvSpPr>
        <p:spPr>
          <a:xfrm>
            <a:off x="4389120" y="1463040"/>
            <a:ext cx="7071055" cy="41148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feedback_records</a:t>
            </a:r>
            <a:pPr indent="0" marL="0">
              <a:buNone/>
            </a:pPr>
            <a:r>
              <a:rPr lang="en-US" sz="1400" dirty="0">
                <a:solidFill>
                  <a:schemeClr val="tx2"/>
                </a:solidFill>
              </a:rPr>
              <a:t>   common columns + per-source metadata</a:t>
            </a:r>
            <a:endParaRPr lang="en-US" sz="1800" dirty="0"/>
          </a:p>
        </p:txBody>
      </p:sp>
      <p:sp>
        <p:nvSpPr>
          <p:cNvPr id="6" name="cols-a-92"/>
          <p:cNvSpPr txBox="1"/>
          <p:nvPr/>
        </p:nvSpPr>
        <p:spPr>
          <a:xfrm>
            <a:off x="4389120" y="2011680"/>
            <a:ext cx="2423160" cy="2468880"/>
          </a:xfrm>
          <a:prstGeom prst="rect">
            <a:avLst/>
          </a:prstGeom>
          <a:noFill/>
          <a:ln/>
        </p:spPr>
        <p:txBody>
          <a:bodyPr wrap="square" lIns="0" tIns="0" rIns="0" bIns="0" rtlCol="0" anchor="t"/>
          <a:lstStyle/>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tenant_id</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source_id</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source_type</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external_id</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kind: review | post</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  conversation | survey</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title, text</a:t>
            </a:r>
            <a:endParaRPr lang="en-US" sz="1250" dirty="0"/>
          </a:p>
        </p:txBody>
      </p:sp>
      <p:sp>
        <p:nvSpPr>
          <p:cNvPr id="7" name="cols-b-93"/>
          <p:cNvSpPr txBox="1"/>
          <p:nvPr/>
        </p:nvSpPr>
        <p:spPr>
          <a:xfrm>
            <a:off x="6812280" y="2011680"/>
            <a:ext cx="2331720" cy="2468880"/>
          </a:xfrm>
          <a:prstGeom prst="rect">
            <a:avLst/>
          </a:prstGeom>
          <a:noFill/>
          <a:ln/>
        </p:spPr>
        <p:txBody>
          <a:bodyPr wrap="square" lIns="0" tIns="0" rIns="0" bIns="0" rtlCol="0" anchor="t"/>
          <a:lstStyle/>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author</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language</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rating</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source_created_at</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source_updated_at</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deleted_at</a:t>
            </a:r>
            <a:endParaRPr lang="en-US" sz="1250" dirty="0"/>
          </a:p>
          <a:p>
            <a:pPr indent="0" marL="0">
              <a:lnSpc>
                <a:spcPct val="115000"/>
              </a:lnSpc>
              <a:buNone/>
            </a:pPr>
            <a:r>
              <a:rPr lang="en-US" sz="1250" dirty="0">
                <a:solidFill>
                  <a:schemeClr val="tx1"/>
                </a:solidFill>
                <a:latin typeface="Courier New" pitchFamily="34" charset="0"/>
                <a:ea typeface="Courier New" pitchFamily="34" charset="-122"/>
                <a:cs typeface="Courier New" pitchFamily="34" charset="-120"/>
              </a:rPr>
              <a:t>connector_version</a:t>
            </a:r>
            <a:endParaRPr lang="en-US" sz="1250" dirty="0"/>
          </a:p>
        </p:txBody>
      </p:sp>
      <p:sp>
        <p:nvSpPr>
          <p:cNvPr id="8" name="metadata-94"/>
          <p:cNvSpPr txBox="1"/>
          <p:nvPr/>
        </p:nvSpPr>
        <p:spPr>
          <a:xfrm>
            <a:off x="9189720" y="2011680"/>
            <a:ext cx="2270455" cy="2057400"/>
          </a:xfrm>
          <a:prstGeom prst="roundRect">
            <a:avLst>
              <a:gd name="adj" fmla="val 2667"/>
            </a:avLst>
          </a:prstGeom>
          <a:solidFill>
            <a:schemeClr val="accent5"/>
          </a:solidFill>
          <a:ln w="6350">
            <a:solidFill>
              <a:schemeClr val="accent5"/>
            </a:solidFill>
          </a:ln>
        </p:spPr>
        <p:txBody>
          <a:bodyPr wrap="square" lIns="101600" tIns="101600" rIns="101600" bIns="101600" rtlCol="0" anchor="t"/>
          <a:lstStyle/>
          <a:p>
            <a:pPr indent="0" marL="0">
              <a:spcAft>
                <a:spcPts val="400"/>
              </a:spcAft>
              <a:buNone/>
            </a:pPr>
            <a:r>
              <a:rPr lang="en-US" sz="1200" b="1" dirty="0">
                <a:solidFill>
                  <a:schemeClr val="tx1"/>
                </a:solidFill>
              </a:rPr>
              <a:t>metadata JSON, one Pydantic model per source</a:t>
            </a:r>
            <a:endParaRPr lang="en-US" sz="1200" dirty="0"/>
          </a:p>
          <a:p>
            <a:pPr indent="0" marL="0">
              <a:buNone/>
            </a:pPr>
            <a:r>
              <a:rPr lang="en-US" sz="1100" b="1" dirty="0">
                <a:solidFill>
                  <a:schemeClr val="accent1"/>
                </a:solidFill>
              </a:rPr>
              <a:t>Playstore  </a:t>
            </a:r>
            <a:pPr indent="0" marL="0">
              <a:spcAft>
                <a:spcPts val="200"/>
              </a:spcAft>
              <a:buNone/>
            </a:pPr>
            <a:r>
              <a:rPr lang="en-US" sz="1100" dirty="0">
                <a:solidFill>
                  <a:schemeClr val="tx1"/>
                </a:solidFill>
              </a:rPr>
              <a:t>app_version, device, android_os_version</a:t>
            </a:r>
            <a:endParaRPr lang="en-US" sz="1200" dirty="0"/>
          </a:p>
          <a:p>
            <a:pPr indent="0" marL="0">
              <a:buNone/>
            </a:pPr>
            <a:r>
              <a:rPr lang="en-US" sz="1100" b="1" dirty="0">
                <a:solidFill>
                  <a:schemeClr val="accent1"/>
                </a:solidFill>
              </a:rPr>
              <a:t>Twitter  </a:t>
            </a:r>
            <a:pPr indent="0" marL="0">
              <a:spcAft>
                <a:spcPts val="200"/>
              </a:spcAft>
              <a:buNone/>
            </a:pPr>
            <a:r>
              <a:rPr lang="en-US" sz="1100" dirty="0">
                <a:solidFill>
                  <a:schemeClr val="tx1"/>
                </a:solidFill>
              </a:rPr>
              <a:t>country, retweets, likes</a:t>
            </a:r>
            <a:endParaRPr lang="en-US" sz="1200" dirty="0"/>
          </a:p>
          <a:p>
            <a:pPr indent="0" marL="0">
              <a:buNone/>
            </a:pPr>
            <a:r>
              <a:rPr lang="en-US" sz="1100" b="1" dirty="0">
                <a:solidFill>
                  <a:schemeClr val="accent1"/>
                </a:solidFill>
              </a:rPr>
              <a:t>Intercom  </a:t>
            </a:r>
            <a:pPr indent="0" marL="0">
              <a:spcAft>
                <a:spcPts val="200"/>
              </a:spcAft>
              <a:buNone/>
            </a:pPr>
            <a:r>
              <a:rPr lang="en-US" sz="1100" dirty="0">
                <a:solidFill>
                  <a:schemeClr val="tx1"/>
                </a:solidFill>
              </a:rPr>
              <a:t>part_count, tags, state</a:t>
            </a:r>
            <a:endParaRPr lang="en-US" sz="1200" dirty="0"/>
          </a:p>
          <a:p>
            <a:pPr indent="0" marL="0">
              <a:buNone/>
            </a:pPr>
            <a:r>
              <a:rPr lang="en-US" sz="1100" b="1" dirty="0">
                <a:solidFill>
                  <a:schemeClr val="accent1"/>
                </a:solidFill>
              </a:rPr>
              <a:t>Discourse  </a:t>
            </a:r>
            <a:pPr indent="0" marL="0">
              <a:spcAft>
                <a:spcPts val="200"/>
              </a:spcAft>
              <a:buNone/>
            </a:pPr>
            <a:r>
              <a:rPr lang="en-US" sz="1100" dirty="0">
                <a:solidFill>
                  <a:schemeClr val="tx1"/>
                </a:solidFill>
              </a:rPr>
              <a:t>topic_id, post_number, like_count, url</a:t>
            </a:r>
            <a:endParaRPr lang="en-US" sz="1200" dirty="0"/>
          </a:p>
          <a:p>
            <a:pPr indent="0" marL="0">
              <a:buNone/>
            </a:pPr>
            <a:r>
              <a:rPr lang="en-US" sz="1100" b="1" dirty="0">
                <a:solidFill>
                  <a:schemeClr val="accent1"/>
                </a:solidFill>
              </a:rPr>
              <a:t>Custom  </a:t>
            </a:r>
            <a:pPr indent="0" marL="0">
              <a:spcAft>
                <a:spcPts val="200"/>
              </a:spcAft>
              <a:buNone/>
            </a:pPr>
            <a:r>
              <a:rPr lang="en-US" sz="1100" dirty="0">
                <a:solidFill>
                  <a:schemeClr val="tx1"/>
                </a:solidFill>
              </a:rPr>
              <a:t>record_type, score, fields</a:t>
            </a:r>
            <a:endParaRPr lang="en-US" sz="1200" dirty="0"/>
          </a:p>
        </p:txBody>
      </p:sp>
      <p:sp>
        <p:nvSpPr>
          <p:cNvPr id="9" name="keys-95"/>
          <p:cNvSpPr txBox="1"/>
          <p:nvPr/>
        </p:nvSpPr>
        <p:spPr>
          <a:xfrm>
            <a:off x="548640" y="4526280"/>
            <a:ext cx="6400800" cy="1737360"/>
          </a:xfrm>
          <a:prstGeom prst="roundRect">
            <a:avLst>
              <a:gd name="adj" fmla="val 4211"/>
            </a:avLst>
          </a:prstGeom>
          <a:solidFill>
            <a:schemeClr val="bg1"/>
          </a:solidFill>
          <a:ln w="19050">
            <a:solidFill>
              <a:schemeClr val="tx1"/>
            </a:solidFill>
          </a:ln>
        </p:spPr>
        <p:txBody>
          <a:bodyPr wrap="square" lIns="127000" tIns="127000" rIns="127000" bIns="127000" rtlCol="0" anchor="t"/>
          <a:lstStyle/>
          <a:p>
            <a:pPr algn="l" indent="0" marL="0">
              <a:spcAft>
                <a:spcPts val="300"/>
              </a:spcAft>
              <a:buNone/>
            </a:pPr>
            <a:r>
              <a:rPr lang="en-US" sz="1700" b="1" dirty="0">
                <a:solidFill>
                  <a:schemeClr val="tx1"/>
                </a:solidFill>
              </a:rPr>
              <a:t>Uniqueness keys (database, not app code)</a:t>
            </a:r>
            <a:endParaRPr lang="en-US" sz="17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raw_events        UNIQUE (source_id, external_event_id)</a:t>
            </a:r>
            <a:endParaRPr lang="en-US" sz="17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feedback_records  UNIQUE (source_id, external_id)</a:t>
            </a:r>
            <a:endParaRPr lang="en-US" sz="1700" dirty="0"/>
          </a:p>
          <a:p>
            <a:pPr algn="l" indent="0" marL="0">
              <a:buNone/>
            </a:pPr>
            <a:r>
              <a:rPr lang="en-US" sz="1400" dirty="0">
                <a:solidFill>
                  <a:schemeClr val="tx1"/>
                </a:solidFill>
                <a:latin typeface="Courier New" pitchFamily="34" charset="0"/>
                <a:ea typeface="Courier New" pitchFamily="34" charset="-122"/>
                <a:cs typeface="Courier New" pitchFamily="34" charset="-120"/>
              </a:rPr>
              <a:t>composite FK (source_id, tenant_id) → sources</a:t>
            </a:r>
            <a:endParaRPr lang="en-US" sz="1700" dirty="0"/>
          </a:p>
        </p:txBody>
      </p:sp>
      <p:sp>
        <p:nvSpPr>
          <p:cNvPr id="10" name="tombstones-96"/>
          <p:cNvSpPr txBox="1"/>
          <p:nvPr/>
        </p:nvSpPr>
        <p:spPr>
          <a:xfrm>
            <a:off x="7315200" y="4526280"/>
            <a:ext cx="4327855" cy="1737360"/>
          </a:xfrm>
          <a:prstGeom prst="roundRect">
            <a:avLst>
              <a:gd name="adj" fmla="val 4211"/>
            </a:avLst>
          </a:prstGeom>
          <a:solidFill>
            <a:schemeClr val="bg1"/>
          </a:solidFill>
          <a:ln w="19050">
            <a:solidFill>
              <a:schemeClr val="tx1"/>
            </a:solidFill>
          </a:ln>
        </p:spPr>
        <p:txBody>
          <a:bodyPr wrap="square" lIns="127000" tIns="127000" rIns="127000" bIns="127000" rtlCol="0" anchor="t"/>
          <a:lstStyle/>
          <a:p>
            <a:pPr algn="l" indent="0" marL="0">
              <a:spcAft>
                <a:spcPts val="300"/>
              </a:spcAft>
              <a:buNone/>
            </a:pPr>
            <a:r>
              <a:rPr lang="en-US" sz="1700" b="1" dirty="0">
                <a:solidFill>
                  <a:schemeClr val="tx1"/>
                </a:solidFill>
              </a:rPr>
              <a:t>Tombstones</a:t>
            </a:r>
            <a:endParaRPr lang="en-US" sz="1700" dirty="0"/>
          </a:p>
          <a:p>
            <a:pPr algn="l" indent="0" marL="0">
              <a:buNone/>
            </a:pPr>
            <a:r>
              <a:rPr lang="en-US" sz="1500" dirty="0">
                <a:solidFill>
                  <a:schemeClr val="tx1"/>
                </a:solidFill>
              </a:rPr>
              <a:t>deleted_at is set once and hidden from reads by default.</a:t>
            </a:r>
            <a:endParaRPr lang="en-US" sz="1700" dirty="0"/>
          </a:p>
          <a:p>
            <a:pPr algn="l" indent="0" marL="0">
              <a:buNone/>
            </a:pPr>
            <a:r>
              <a:rPr lang="en-US" sz="1500" dirty="0">
                <a:solidFill>
                  <a:schemeClr val="tx1"/>
                </a:solidFill>
              </a:rPr>
              <a:t>A later edit never clears it; replay re-applies the delete.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Same input, same result: idempotency and replay</a:t>
            </a:r>
            <a:endParaRPr lang="en-US" sz="3400" dirty="0"/>
          </a:p>
        </p:txBody>
      </p:sp>
      <p:sp>
        <p:nvSpPr>
          <p:cNvPr id="3" name="idem-card-97"/>
          <p:cNvSpPr/>
          <p:nvPr/>
        </p:nvSpPr>
        <p:spPr>
          <a:xfrm>
            <a:off x="548640" y="1325880"/>
            <a:ext cx="3383280" cy="4937760"/>
          </a:xfrm>
          <a:prstGeom prst="roundRect">
            <a:avLst>
              <a:gd name="adj" fmla="val 2162"/>
            </a:avLst>
          </a:prstGeom>
          <a:solidFill>
            <a:schemeClr val="bg1"/>
          </a:solidFill>
          <a:ln w="19050">
            <a:solidFill>
              <a:schemeClr val="tx1"/>
            </a:solidFill>
            <a:prstDash val="solid"/>
          </a:ln>
        </p:spPr>
      </p:sp>
      <p:sp>
        <p:nvSpPr>
          <p:cNvPr id="4" name="callout-bg-98"/>
          <p:cNvSpPr/>
          <p:nvPr/>
        </p:nvSpPr>
        <p:spPr>
          <a:xfrm>
            <a:off x="731520" y="1508760"/>
            <a:ext cx="3017520" cy="1325880"/>
          </a:xfrm>
          <a:prstGeom prst="roundRect">
            <a:avLst>
              <a:gd name="adj" fmla="val 4138"/>
            </a:avLst>
          </a:prstGeom>
          <a:solidFill>
            <a:schemeClr val="accent5"/>
          </a:solidFill>
          <a:ln w="6350">
            <a:solidFill>
              <a:schemeClr val="accent5"/>
            </a:solidFill>
            <a:prstDash val="solid"/>
          </a:ln>
        </p:spPr>
      </p:sp>
      <p:sp>
        <p:nvSpPr>
          <p:cNvPr id="5" name="callout-99"/>
          <p:cNvSpPr txBox="1"/>
          <p:nvPr/>
        </p:nvSpPr>
        <p:spPr>
          <a:xfrm>
            <a:off x="822960" y="1600200"/>
            <a:ext cx="28346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2 → 1</a:t>
            </a:r>
            <a:endParaRPr lang="en-US" sz="3600" dirty="0"/>
          </a:p>
        </p:txBody>
      </p:sp>
      <p:sp>
        <p:nvSpPr>
          <p:cNvPr id="6" name="callout-label-100"/>
          <p:cNvSpPr txBox="1"/>
          <p:nvPr/>
        </p:nvSpPr>
        <p:spPr>
          <a:xfrm>
            <a:off x="822960" y="2331720"/>
            <a:ext cx="2834640" cy="365760"/>
          </a:xfrm>
          <a:prstGeom prst="rect">
            <a:avLst/>
          </a:prstGeom>
          <a:noFill/>
          <a:ln/>
        </p:spPr>
        <p:txBody>
          <a:bodyPr wrap="square" lIns="0" tIns="0" rIns="0" bIns="0" rtlCol="0" anchor="ctr"/>
          <a:lstStyle/>
          <a:p>
            <a:pPr algn="ctr" indent="0" marL="0">
              <a:buNone/>
            </a:pPr>
            <a:r>
              <a:rPr lang="en-US" sz="1300" dirty="0">
                <a:solidFill>
                  <a:schemeClr val="tx2"/>
                </a:solidFill>
              </a:rPr>
              <a:t>deliveries → rows</a:t>
            </a:r>
            <a:endParaRPr lang="en-US" sz="1300" dirty="0"/>
          </a:p>
        </p:txBody>
      </p:sp>
      <p:sp>
        <p:nvSpPr>
          <p:cNvPr id="7" name="idem-head-101"/>
          <p:cNvSpPr txBox="1"/>
          <p:nvPr/>
        </p:nvSpPr>
        <p:spPr>
          <a:xfrm>
            <a:off x="777240" y="3063240"/>
            <a:ext cx="292608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Duplicate webhook</a:t>
            </a:r>
            <a:endParaRPr lang="en-US" sz="2000" dirty="0"/>
          </a:p>
        </p:txBody>
      </p:sp>
      <p:sp>
        <p:nvSpPr>
          <p:cNvPr id="8" name="idem-body-102"/>
          <p:cNvSpPr txBox="1"/>
          <p:nvPr/>
        </p:nvSpPr>
        <p:spPr>
          <a:xfrm>
            <a:off x="777240" y="3611880"/>
            <a:ext cx="2926080" cy="2514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Same item and same update time give the same external_event_id.</a:t>
            </a:r>
            <a:endParaRPr lang="en-US" sz="1600" dirty="0"/>
          </a:p>
          <a:p>
            <a:pPr marL="342900" indent="-342900">
              <a:spcAft>
                <a:spcPts val="600"/>
              </a:spcAft>
              <a:buSzPct val="100000"/>
              <a:buChar char="•"/>
            </a:pPr>
            <a:r>
              <a:rPr lang="en-US" sz="1600" dirty="0">
                <a:solidFill>
                  <a:schemeClr val="tx1"/>
                </a:solidFill>
              </a:rPr>
              <a:t>UNIQUE (source_id, external_event_id) drops the second copy.</a:t>
            </a:r>
            <a:endParaRPr lang="en-US" sz="1600" dirty="0"/>
          </a:p>
          <a:p>
            <a:pPr marL="342900" indent="-342900">
              <a:spcAft>
                <a:spcPts val="600"/>
              </a:spcAft>
              <a:buSzPct val="100000"/>
              <a:buChar char="•"/>
            </a:pPr>
            <a:r>
              <a:rPr lang="en-US" sz="1600" dirty="0">
                <a:solidFill>
                  <a:schemeClr val="tx1"/>
                </a:solidFill>
              </a:rPr>
              <a:t>We still answer 202, duplicate=true, so the sender stops retrying.</a:t>
            </a:r>
            <a:endParaRPr lang="en-US" sz="1600" dirty="0"/>
          </a:p>
        </p:txBody>
      </p:sp>
      <p:sp>
        <p:nvSpPr>
          <p:cNvPr id="9" name="idem-card-103"/>
          <p:cNvSpPr/>
          <p:nvPr/>
        </p:nvSpPr>
        <p:spPr>
          <a:xfrm>
            <a:off x="4402836" y="1325880"/>
            <a:ext cx="3383280" cy="4937760"/>
          </a:xfrm>
          <a:prstGeom prst="roundRect">
            <a:avLst>
              <a:gd name="adj" fmla="val 2162"/>
            </a:avLst>
          </a:prstGeom>
          <a:solidFill>
            <a:schemeClr val="bg1"/>
          </a:solidFill>
          <a:ln w="19050">
            <a:solidFill>
              <a:schemeClr val="tx1"/>
            </a:solidFill>
            <a:prstDash val="solid"/>
          </a:ln>
        </p:spPr>
      </p:sp>
      <p:sp>
        <p:nvSpPr>
          <p:cNvPr id="10" name="callout-bg-104"/>
          <p:cNvSpPr/>
          <p:nvPr/>
        </p:nvSpPr>
        <p:spPr>
          <a:xfrm>
            <a:off x="4585716" y="1508760"/>
            <a:ext cx="3017520" cy="1325880"/>
          </a:xfrm>
          <a:prstGeom prst="roundRect">
            <a:avLst>
              <a:gd name="adj" fmla="val 4138"/>
            </a:avLst>
          </a:prstGeom>
          <a:solidFill>
            <a:schemeClr val="accent5"/>
          </a:solidFill>
          <a:ln w="6350">
            <a:solidFill>
              <a:schemeClr val="accent5"/>
            </a:solidFill>
            <a:prstDash val="solid"/>
          </a:ln>
        </p:spPr>
      </p:sp>
      <p:sp>
        <p:nvSpPr>
          <p:cNvPr id="11" name="callout-105"/>
          <p:cNvSpPr txBox="1"/>
          <p:nvPr/>
        </p:nvSpPr>
        <p:spPr>
          <a:xfrm>
            <a:off x="4677156" y="1600200"/>
            <a:ext cx="28346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newest wins</a:t>
            </a:r>
            <a:endParaRPr lang="en-US" sz="3600" dirty="0"/>
          </a:p>
        </p:txBody>
      </p:sp>
      <p:sp>
        <p:nvSpPr>
          <p:cNvPr id="12" name="callout-label-106"/>
          <p:cNvSpPr txBox="1"/>
          <p:nvPr/>
        </p:nvSpPr>
        <p:spPr>
          <a:xfrm>
            <a:off x="4677156" y="2331720"/>
            <a:ext cx="2834640" cy="365760"/>
          </a:xfrm>
          <a:prstGeom prst="rect">
            <a:avLst/>
          </a:prstGeom>
          <a:noFill/>
          <a:ln/>
        </p:spPr>
        <p:txBody>
          <a:bodyPr wrap="square" lIns="0" tIns="0" rIns="0" bIns="0" rtlCol="0" anchor="ctr"/>
          <a:lstStyle/>
          <a:p>
            <a:pPr algn="ctr" indent="0" marL="0">
              <a:buNone/>
            </a:pPr>
            <a:r>
              <a:rPr lang="en-US" sz="1300" dirty="0">
                <a:solidFill>
                  <a:schemeClr val="tx2"/>
                </a:solidFill>
              </a:rPr>
              <a:t>by the source's own timestamp</a:t>
            </a:r>
            <a:endParaRPr lang="en-US" sz="1300" dirty="0"/>
          </a:p>
        </p:txBody>
      </p:sp>
      <p:sp>
        <p:nvSpPr>
          <p:cNvPr id="13" name="idem-head-107"/>
          <p:cNvSpPr txBox="1"/>
          <p:nvPr/>
        </p:nvSpPr>
        <p:spPr>
          <a:xfrm>
            <a:off x="4631436" y="3063240"/>
            <a:ext cx="292608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Out-of-order edit</a:t>
            </a:r>
            <a:endParaRPr lang="en-US" sz="2000" dirty="0"/>
          </a:p>
        </p:txBody>
      </p:sp>
      <p:sp>
        <p:nvSpPr>
          <p:cNvPr id="14" name="idem-body-108"/>
          <p:cNvSpPr txBox="1"/>
          <p:nvPr/>
        </p:nvSpPr>
        <p:spPr>
          <a:xfrm>
            <a:off x="4631436" y="3611880"/>
            <a:ext cx="2926080" cy="2514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Upsert compares COALESCE(source_updated_at, source_created_at).</a:t>
            </a:r>
            <a:endParaRPr lang="en-US" sz="1600" dirty="0"/>
          </a:p>
          <a:p>
            <a:pPr marL="342900" indent="-342900">
              <a:spcAft>
                <a:spcPts val="600"/>
              </a:spcAft>
              <a:buSzPct val="100000"/>
              <a:buChar char="•"/>
            </a:pPr>
            <a:r>
              <a:rPr lang="en-US" sz="1600" dirty="0">
                <a:solidFill>
                  <a:schemeClr val="tx1"/>
                </a:solidFill>
              </a:rPr>
              <a:t>An older copy is skipped; an equal one is accepted, so replay works.</a:t>
            </a:r>
            <a:endParaRPr lang="en-US" sz="1600" dirty="0"/>
          </a:p>
          <a:p>
            <a:pPr marL="342900" indent="-342900">
              <a:spcAft>
                <a:spcPts val="600"/>
              </a:spcAft>
              <a:buSzPct val="100000"/>
              <a:buChar char="•"/>
            </a:pPr>
            <a:r>
              <a:rPr lang="en-US" sz="1600" dirty="0">
                <a:solidFill>
                  <a:schemeClr val="tx1"/>
                </a:solidFill>
              </a:rPr>
              <a:t>Runs in Python today; ON CONFLICT … WHERE on Postgres.</a:t>
            </a:r>
            <a:endParaRPr lang="en-US" sz="1600" dirty="0"/>
          </a:p>
        </p:txBody>
      </p:sp>
      <p:sp>
        <p:nvSpPr>
          <p:cNvPr id="15" name="idem-card-109"/>
          <p:cNvSpPr/>
          <p:nvPr/>
        </p:nvSpPr>
        <p:spPr>
          <a:xfrm>
            <a:off x="8257032" y="1325880"/>
            <a:ext cx="3383280" cy="4937760"/>
          </a:xfrm>
          <a:prstGeom prst="roundRect">
            <a:avLst>
              <a:gd name="adj" fmla="val 2162"/>
            </a:avLst>
          </a:prstGeom>
          <a:solidFill>
            <a:schemeClr val="bg1"/>
          </a:solidFill>
          <a:ln w="19050">
            <a:solidFill>
              <a:schemeClr val="tx1"/>
            </a:solidFill>
            <a:prstDash val="solid"/>
          </a:ln>
        </p:spPr>
      </p:sp>
      <p:sp>
        <p:nvSpPr>
          <p:cNvPr id="16" name="callout-bg-110"/>
          <p:cNvSpPr/>
          <p:nvPr/>
        </p:nvSpPr>
        <p:spPr>
          <a:xfrm>
            <a:off x="8439912" y="1508760"/>
            <a:ext cx="3017520" cy="1325880"/>
          </a:xfrm>
          <a:prstGeom prst="roundRect">
            <a:avLst>
              <a:gd name="adj" fmla="val 4138"/>
            </a:avLst>
          </a:prstGeom>
          <a:solidFill>
            <a:schemeClr val="accent5"/>
          </a:solidFill>
          <a:ln w="6350">
            <a:solidFill>
              <a:schemeClr val="accent5"/>
            </a:solidFill>
            <a:prstDash val="solid"/>
          </a:ln>
        </p:spPr>
      </p:sp>
      <p:sp>
        <p:nvSpPr>
          <p:cNvPr id="17" name="callout-111"/>
          <p:cNvSpPr txBox="1"/>
          <p:nvPr/>
        </p:nvSpPr>
        <p:spPr>
          <a:xfrm>
            <a:off x="8531352" y="1600200"/>
            <a:ext cx="28346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fix + replay</a:t>
            </a:r>
            <a:endParaRPr lang="en-US" sz="3600" dirty="0"/>
          </a:p>
        </p:txBody>
      </p:sp>
      <p:sp>
        <p:nvSpPr>
          <p:cNvPr id="18" name="callout-label-112"/>
          <p:cNvSpPr txBox="1"/>
          <p:nvPr/>
        </p:nvSpPr>
        <p:spPr>
          <a:xfrm>
            <a:off x="8531352" y="2331720"/>
            <a:ext cx="2834640" cy="365760"/>
          </a:xfrm>
          <a:prstGeom prst="rect">
            <a:avLst/>
          </a:prstGeom>
          <a:noFill/>
          <a:ln/>
        </p:spPr>
        <p:txBody>
          <a:bodyPr wrap="square" lIns="0" tIns="0" rIns="0" bIns="0" rtlCol="0" anchor="ctr"/>
          <a:lstStyle/>
          <a:p>
            <a:pPr algn="ctr" indent="0" marL="0">
              <a:buNone/>
            </a:pPr>
            <a:r>
              <a:rPr lang="en-US" sz="1300" dirty="0">
                <a:solidFill>
                  <a:schemeClr val="tx2"/>
                </a:solidFill>
              </a:rPr>
              <a:t>no re-fetch, nothing lost</a:t>
            </a:r>
            <a:endParaRPr lang="en-US" sz="1300" dirty="0"/>
          </a:p>
        </p:txBody>
      </p:sp>
      <p:sp>
        <p:nvSpPr>
          <p:cNvPr id="19" name="idem-head-113"/>
          <p:cNvSpPr txBox="1"/>
          <p:nvPr/>
        </p:nvSpPr>
        <p:spPr>
          <a:xfrm>
            <a:off x="8485632" y="3063240"/>
            <a:ext cx="2926080" cy="411480"/>
          </a:xfrm>
          <a:prstGeom prst="rect">
            <a:avLst/>
          </a:prstGeom>
          <a:noFill/>
          <a:ln/>
        </p:spPr>
        <p:txBody>
          <a:bodyPr wrap="square" lIns="0" tIns="0" rIns="0" bIns="0" rtlCol="0" anchor="ctr"/>
          <a:lstStyle/>
          <a:p>
            <a:pPr indent="0" marL="0">
              <a:buNone/>
            </a:pPr>
            <a:r>
              <a:rPr lang="en-US" sz="2000" b="1" dirty="0">
                <a:solidFill>
                  <a:schemeClr val="tx1"/>
                </a:solidFill>
                <a:latin typeface="Arial" pitchFamily="34" charset="0"/>
                <a:ea typeface="Arial" pitchFamily="34" charset="-122"/>
                <a:cs typeface="Arial" pitchFamily="34" charset="-120"/>
              </a:rPr>
              <a:t>Transformer bug</a:t>
            </a:r>
            <a:endParaRPr lang="en-US" sz="2000" dirty="0"/>
          </a:p>
        </p:txBody>
      </p:sp>
      <p:sp>
        <p:nvSpPr>
          <p:cNvPr id="20" name="idem-body-114"/>
          <p:cNvSpPr txBox="1"/>
          <p:nvPr/>
        </p:nvSpPr>
        <p:spPr>
          <a:xfrm>
            <a:off x="8485632" y="3611880"/>
            <a:ext cx="2926080" cy="2514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The parsed JSON payload is saved before we answer.</a:t>
            </a:r>
            <a:endParaRPr lang="en-US" sz="1600" dirty="0"/>
          </a:p>
          <a:p>
            <a:pPr marL="342900" indent="-342900">
              <a:spcAft>
                <a:spcPts val="600"/>
              </a:spcAft>
              <a:buSzPct val="100000"/>
              <a:buChar char="•"/>
            </a:pPr>
            <a:r>
              <a:rPr lang="en-US" sz="1600" dirty="0">
                <a:solidFill>
                  <a:schemeClr val="tx1"/>
                </a:solidFill>
              </a:rPr>
              <a:t>Fix the connector, bump connector_version, replay one event or in bulk.</a:t>
            </a:r>
            <a:endParaRPr lang="en-US" sz="1600" dirty="0"/>
          </a:p>
          <a:p>
            <a:pPr marL="342900" indent="-342900">
              <a:spcAft>
                <a:spcPts val="600"/>
              </a:spcAft>
              <a:buSzPct val="100000"/>
              <a:buChar char="•"/>
            </a:pPr>
            <a:r>
              <a:rPr lang="en-US" sz="1600" dirty="0">
                <a:solidFill>
                  <a:schemeClr val="tx1"/>
                </a:solidFill>
              </a:rPr>
              <a:t>Order does not matter: older versions skip, deletes stick.</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When something breaks</a:t>
            </a:r>
            <a:endParaRPr lang="en-US" sz="3400" dirty="0"/>
          </a:p>
        </p:txBody>
      </p:sp>
      <p:graphicFrame>
        <p:nvGraphicFramePr>
          <p:cNvPr id="9" name="failures-115"/>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743200"/>
                <a:gridCol w="8351215"/>
              </a:tblGrid>
              <a:tr h="411480">
                <a:tc>
                  <a:txBody>
                    <a:bodyPr/>
                    <a:lstStyle/>
                    <a:p>
                      <a:pPr indent="0" marL="0">
                        <a:buNone/>
                      </a:pPr>
                      <a:r>
                        <a:rPr lang="en-US" sz="1500" b="1" dirty="0">
                          <a:solidFill>
                            <a:schemeClr val="bg1"/>
                          </a:solidFill>
                        </a:rPr>
                        <a:t>Scenario</a:t>
                      </a:r>
                      <a:endParaRPr lang="en-US" sz="150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The one-sentence answer</a:t>
                      </a:r>
                      <a:endParaRPr lang="en-US" sz="150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r>
              <a:tr h="749808">
                <a:tc>
                  <a:txBody>
                    <a:bodyPr/>
                    <a:lstStyle/>
                    <a:p>
                      <a:pPr indent="0" marL="0">
                        <a:buNone/>
                      </a:pPr>
                      <a:r>
                        <a:rPr lang="en-US" sz="1700" b="1" dirty="0">
                          <a:solidFill>
                            <a:schemeClr val="tx1"/>
                          </a:solidFill>
                          <a:latin typeface="Arial" pitchFamily="34" charset="0"/>
                          <a:ea typeface="Arial" pitchFamily="34" charset="-122"/>
                          <a:cs typeface="Arial" pitchFamily="34" charset="-120"/>
                        </a:rPr>
                        <a:t>DB down on push</a:t>
                      </a:r>
                      <a:endParaRPr lang="en-US" sz="1700" dirty="0">
                        <a:latin typeface="Arial" charset="0"/>
                        <a:ea typeface="Arial" charset="0"/>
                        <a:cs typeface="Arial" charset="0"/>
                      </a:endParaRPr>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We never say yes before the row is on disk, so the sender gets a 503 and retries, and nothing we accepted is lost.</a:t>
                      </a:r>
                      <a:endParaRPr lang="en-US" sz="155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749808">
                <a:tc>
                  <a:txBody>
                    <a:bodyPr/>
                    <a:lstStyle/>
                    <a:p>
                      <a:pPr indent="0" marL="0">
                        <a:buNone/>
                      </a:pPr>
                      <a:r>
                        <a:rPr lang="en-US" sz="1700" b="1" dirty="0">
                          <a:solidFill>
                            <a:schemeClr val="tx1"/>
                          </a:solidFill>
                          <a:latin typeface="Arial" pitchFamily="34" charset="0"/>
                          <a:ea typeface="Arial" pitchFamily="34" charset="-122"/>
                          <a:cs typeface="Arial" pitchFamily="34" charset="-120"/>
                        </a:rPr>
                        <a:t>Worker dies mid-event</a:t>
                      </a:r>
                      <a:endParaRPr lang="en-US" sz="1700" dirty="0">
                        <a:latin typeface="Arial" charset="0"/>
                        <a:ea typeface="Arial" charset="0"/>
                        <a:cs typeface="Arial" charset="0"/>
                      </a:endParaRPr>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The lease runs out, the row is picked up again, and the upsert makes doing it twice the same as doing it once.</a:t>
                      </a:r>
                      <a:endParaRPr lang="en-US" sz="155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749808">
                <a:tc>
                  <a:txBody>
                    <a:bodyPr/>
                    <a:lstStyle/>
                    <a:p>
                      <a:pPr indent="0" marL="0">
                        <a:buNone/>
                      </a:pPr>
                      <a:r>
                        <a:rPr lang="en-US" sz="1700" b="1" dirty="0">
                          <a:solidFill>
                            <a:schemeClr val="tx1"/>
                          </a:solidFill>
                          <a:latin typeface="Arial" pitchFamily="34" charset="0"/>
                          <a:ea typeface="Arial" pitchFamily="34" charset="-122"/>
                          <a:cs typeface="Arial" pitchFamily="34" charset="-120"/>
                        </a:rPr>
                        <a:t>Poison payload</a:t>
                      </a:r>
                      <a:endParaRPr lang="en-US" sz="1700" dirty="0">
                        <a:latin typeface="Arial" charset="0"/>
                        <a:ea typeface="Arial" charset="0"/>
                        <a:cs typeface="Arial" charset="0"/>
                      </a:endParaRPr>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A payload that retrying cannot fix goes straight to the dead list with its reason, and waits there for a fix and a replay.</a:t>
                      </a:r>
                      <a:endParaRPr lang="en-US" sz="155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749808">
                <a:tc>
                  <a:txBody>
                    <a:bodyPr/>
                    <a:lstStyle/>
                    <a:p>
                      <a:pPr indent="0" marL="0">
                        <a:buNone/>
                      </a:pPr>
                      <a:r>
                        <a:rPr lang="en-US" sz="1700" b="1" dirty="0">
                          <a:solidFill>
                            <a:schemeClr val="tx1"/>
                          </a:solidFill>
                          <a:latin typeface="Arial" pitchFamily="34" charset="0"/>
                          <a:ea typeface="Arial" pitchFamily="34" charset="-122"/>
                          <a:cs typeface="Arial" pitchFamily="34" charset="-120"/>
                        </a:rPr>
                        <a:t>10k burst</a:t>
                      </a:r>
                      <a:endParaRPr lang="en-US" sz="1700" dirty="0">
                        <a:latin typeface="Arial" charset="0"/>
                        <a:ea typeface="Arial" charset="0"/>
                        <a:cs typeface="Arial" charset="0"/>
                      </a:endParaRPr>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Inserts are cheap, the 202 stays fast, the backlog drains at the worker's pace. SQLite is one writer; past that comes Postgres.</a:t>
                      </a:r>
                      <a:endParaRPr lang="en-US" sz="155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749808">
                <a:tc>
                  <a:txBody>
                    <a:bodyPr/>
                    <a:lstStyle/>
                    <a:p>
                      <a:pPr indent="0" marL="0">
                        <a:buNone/>
                      </a:pPr>
                      <a:r>
                        <a:rPr lang="en-US" sz="1700" b="1" dirty="0">
                          <a:solidFill>
                            <a:schemeClr val="tx1"/>
                          </a:solidFill>
                          <a:latin typeface="Arial" pitchFamily="34" charset="0"/>
                          <a:ea typeface="Arial" pitchFamily="34" charset="-122"/>
                          <a:cs typeface="Arial" pitchFamily="34" charset="-120"/>
                        </a:rPr>
                        <a:t>Two workers</a:t>
                      </a:r>
                      <a:endParaRPr lang="en-US" sz="1700" dirty="0">
                        <a:latin typeface="Arial" charset="0"/>
                        <a:ea typeface="Arial" charset="0"/>
                        <a:cs typeface="Arial" charset="0"/>
                      </a:endParaRPr>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550" dirty="0">
                          <a:solidFill>
                            <a:schemeClr val="tx1"/>
                          </a:solidFill>
                        </a:rPr>
                        <a:t>It is safe because the claim is a single statement and the upsert is idempotent; two schedulers only waste calls.</a:t>
                      </a:r>
                      <a:endParaRPr lang="en-US" sz="155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749808">
                <a:tc>
                  <a:txBody>
                    <a:bodyPr/>
                    <a:lstStyle/>
                    <a:p>
                      <a:pPr indent="0" marL="0">
                        <a:buNone/>
                      </a:pPr>
                      <a:r>
                        <a:rPr lang="en-US" sz="1700" b="1" dirty="0">
                          <a:solidFill>
                            <a:schemeClr val="tx1"/>
                          </a:solidFill>
                          <a:latin typeface="Arial" pitchFamily="34" charset="0"/>
                          <a:ea typeface="Arial" pitchFamily="34" charset="-122"/>
                          <a:cs typeface="Arial" pitchFamily="34" charset="-120"/>
                        </a:rPr>
                        <a:t>Rate-limited pull</a:t>
                      </a:r>
                      <a:endParaRPr lang="en-US" sz="1700" dirty="0">
                        <a:latin typeface="Arial" charset="0"/>
                        <a:ea typeface="Arial" charset="0"/>
                        <a:cs typeface="Arial" charset="0"/>
                      </a:endParaRPr>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550" dirty="0">
                          <a:solidFill>
                            <a:schemeClr val="tx1"/>
                          </a:solidFill>
                        </a:rPr>
                        <a:t>We stop, keep what we already saved, and try again next tick from the same bookmark; the unique key drops the repeats.</a:t>
                      </a:r>
                      <a:endParaRPr lang="en-US" sz="1550" dirty="0"/>
                    </a:p>
                  </a:txBody>
                  <a:tcPr marL="109728" marR="109728"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Built to grow: new sources, new infrastructure</a:t>
            </a:r>
            <a:endParaRPr lang="en-US" sz="3400" dirty="0"/>
          </a:p>
        </p:txBody>
      </p:sp>
      <p:sp>
        <p:nvSpPr>
          <p:cNvPr id="3" name="zendesk-head-116"/>
          <p:cNvSpPr txBox="1"/>
          <p:nvPr/>
        </p:nvSpPr>
        <p:spPr>
          <a:xfrm>
            <a:off x="548640" y="1325880"/>
            <a:ext cx="3749040"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Add Zendesk in five pieces</a:t>
            </a:r>
            <a:endParaRPr lang="en-US" sz="1900" dirty="0"/>
          </a:p>
        </p:txBody>
      </p:sp>
      <p:sp>
        <p:nvSpPr>
          <p:cNvPr id="4" name="step-117"/>
          <p:cNvSpPr txBox="1"/>
          <p:nvPr/>
        </p:nvSpPr>
        <p:spPr>
          <a:xfrm>
            <a:off x="548640" y="1938528"/>
            <a:ext cx="411480" cy="41148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zendesk-step-118"/>
          <p:cNvSpPr txBox="1"/>
          <p:nvPr/>
        </p:nvSpPr>
        <p:spPr>
          <a:xfrm>
            <a:off x="1097280" y="1828800"/>
            <a:ext cx="3200400" cy="640080"/>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domain/enums.py</a:t>
            </a:r>
            <a:endParaRPr lang="en-US" sz="1250" dirty="0"/>
          </a:p>
          <a:p>
            <a:pPr indent="0" marL="0">
              <a:buNone/>
            </a:pPr>
            <a:r>
              <a:rPr lang="en-US" sz="1250" dirty="0">
                <a:solidFill>
                  <a:schemeClr val="tx2"/>
                </a:solidFill>
              </a:rPr>
              <a:t>SourceType value and its KIND_BY_SOURCE entry</a:t>
            </a:r>
            <a:endParaRPr lang="en-US" sz="1250" dirty="0"/>
          </a:p>
        </p:txBody>
      </p:sp>
      <p:sp>
        <p:nvSpPr>
          <p:cNvPr id="6" name="step-119"/>
          <p:cNvSpPr txBox="1"/>
          <p:nvPr/>
        </p:nvSpPr>
        <p:spPr>
          <a:xfrm>
            <a:off x="548640" y="2651760"/>
            <a:ext cx="411480" cy="41148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zendesk-step-120"/>
          <p:cNvSpPr txBox="1"/>
          <p:nvPr/>
        </p:nvSpPr>
        <p:spPr>
          <a:xfrm>
            <a:off x="1097280" y="2542032"/>
            <a:ext cx="3200400" cy="640080"/>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domain/metadata.py</a:t>
            </a:r>
            <a:endParaRPr lang="en-US" sz="1250" dirty="0"/>
          </a:p>
          <a:p>
            <a:pPr indent="0" marL="0">
              <a:buNone/>
            </a:pPr>
            <a:r>
              <a:rPr lang="en-US" sz="1250" dirty="0">
                <a:solidFill>
                  <a:schemeClr val="tx2"/>
                </a:solidFill>
              </a:rPr>
              <a:t>metadata model in the SourceMetadata union</a:t>
            </a:r>
            <a:endParaRPr lang="en-US" sz="1250" dirty="0"/>
          </a:p>
        </p:txBody>
      </p:sp>
      <p:sp>
        <p:nvSpPr>
          <p:cNvPr id="8" name="step-121"/>
          <p:cNvSpPr txBox="1"/>
          <p:nvPr/>
        </p:nvSpPr>
        <p:spPr>
          <a:xfrm>
            <a:off x="548640" y="3364992"/>
            <a:ext cx="411480" cy="41148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9" name="zendesk-step-122"/>
          <p:cNvSpPr txBox="1"/>
          <p:nvPr/>
        </p:nvSpPr>
        <p:spPr>
          <a:xfrm>
            <a:off x="1097280" y="3255264"/>
            <a:ext cx="3200400" cy="640080"/>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connectors/zendesk.py</a:t>
            </a:r>
            <a:endParaRPr lang="en-US" sz="1250" dirty="0"/>
          </a:p>
          <a:p>
            <a:pPr indent="0" marL="0">
              <a:buNone/>
            </a:pPr>
            <a:r>
              <a:rPr lang="en-US" sz="1250" dirty="0">
                <a:solidFill>
                  <a:schemeClr val="tx2"/>
                </a:solidFill>
              </a:rPr>
              <a:t>connector file with its input model</a:t>
            </a:r>
            <a:endParaRPr lang="en-US" sz="1250" dirty="0"/>
          </a:p>
        </p:txBody>
      </p:sp>
      <p:sp>
        <p:nvSpPr>
          <p:cNvPr id="10" name="step-123"/>
          <p:cNvSpPr txBox="1"/>
          <p:nvPr/>
        </p:nvSpPr>
        <p:spPr>
          <a:xfrm>
            <a:off x="548640" y="4078224"/>
            <a:ext cx="411480" cy="41148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1" name="zendesk-step-124"/>
          <p:cNvSpPr txBox="1"/>
          <p:nvPr/>
        </p:nvSpPr>
        <p:spPr>
          <a:xfrm>
            <a:off x="1097280" y="3968496"/>
            <a:ext cx="3200400" cy="640080"/>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connectors/registry.py</a:t>
            </a:r>
            <a:endParaRPr lang="en-US" sz="1250" dirty="0"/>
          </a:p>
          <a:p>
            <a:pPr indent="0" marL="0">
              <a:buNone/>
            </a:pPr>
            <a:r>
              <a:rPr lang="en-US" sz="1250" dirty="0">
                <a:solidFill>
                  <a:schemeClr val="tx2"/>
                </a:solidFill>
              </a:rPr>
              <a:t>its entry in CONNECTORS (and PULLERS if it pulls)</a:t>
            </a:r>
            <a:endParaRPr lang="en-US" sz="1250" dirty="0"/>
          </a:p>
        </p:txBody>
      </p:sp>
      <p:sp>
        <p:nvSpPr>
          <p:cNvPr id="12" name="step-125"/>
          <p:cNvSpPr txBox="1"/>
          <p:nvPr/>
        </p:nvSpPr>
        <p:spPr>
          <a:xfrm>
            <a:off x="548640" y="4791456"/>
            <a:ext cx="411480" cy="41148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3" name="zendesk-step-126"/>
          <p:cNvSpPr txBox="1"/>
          <p:nvPr/>
        </p:nvSpPr>
        <p:spPr>
          <a:xfrm>
            <a:off x="1097280" y="4681728"/>
            <a:ext cx="3200400" cy="640080"/>
          </a:xfrm>
          <a:prstGeom prst="rect">
            <a:avLst/>
          </a:prstGeom>
          <a:noFill/>
          <a:ln/>
        </p:spPr>
        <p:txBody>
          <a:bodyPr wrap="square" lIns="0" tIns="0" rIns="0" bIns="0" rtlCol="0" anchor="ctr"/>
          <a:lstStyle/>
          <a:p>
            <a:pPr indent="0" marL="0">
              <a:buNone/>
            </a:pPr>
            <a:r>
              <a:rPr lang="en-US" sz="1250" b="1" dirty="0">
                <a:solidFill>
                  <a:schemeClr val="tx1"/>
                </a:solidFill>
                <a:latin typeface="Courier New" pitchFamily="34" charset="0"/>
                <a:ea typeface="Courier New" pitchFamily="34" charset="-122"/>
                <a:cs typeface="Courier New" pitchFamily="34" charset="-120"/>
              </a:rPr>
              <a:t>tests/fixtures/zendesk/</a:t>
            </a:r>
            <a:endParaRPr lang="en-US" sz="1250" dirty="0"/>
          </a:p>
          <a:p>
            <a:pPr indent="0" marL="0">
              <a:buNone/>
            </a:pPr>
            <a:r>
              <a:rPr lang="en-US" sz="1250" dirty="0">
                <a:solidFill>
                  <a:schemeClr val="tx2"/>
                </a:solidFill>
              </a:rPr>
              <a:t>fixtures: ticket, edited ticket, malformed</a:t>
            </a:r>
            <a:endParaRPr lang="en-US" sz="1250" dirty="0"/>
          </a:p>
        </p:txBody>
      </p:sp>
      <p:sp>
        <p:nvSpPr>
          <p:cNvPr id="14" name="zendesk-foot-127"/>
          <p:cNvSpPr txBox="1"/>
          <p:nvPr/>
        </p:nvSpPr>
        <p:spPr>
          <a:xfrm>
            <a:off x="548640" y="5440680"/>
            <a:ext cx="3749040" cy="777240"/>
          </a:xfrm>
          <a:prstGeom prst="rect">
            <a:avLst/>
          </a:prstGeom>
          <a:noFill/>
          <a:ln/>
        </p:spPr>
        <p:txBody>
          <a:bodyPr wrap="square" lIns="0" tIns="0" rIns="0" bIns="0" rtlCol="0" anchor="t"/>
          <a:lstStyle/>
          <a:p>
            <a:pPr indent="0" marL="0">
              <a:buNone/>
            </a:pPr>
            <a:r>
              <a:rPr lang="en-US" sz="1300" i="1" dirty="0">
                <a:solidFill>
                  <a:schemeClr val="tx1"/>
                </a:solidFill>
              </a:rPr>
              <a:t>The contract test fails until all five exist. No service, route, worker or table changes. Worked example: custom.py.</a:t>
            </a:r>
            <a:endParaRPr lang="en-US" sz="1300" dirty="0"/>
          </a:p>
        </p:txBody>
      </p:sp>
      <p:sp>
        <p:nvSpPr>
          <p:cNvPr id="15" name="ports-head-128"/>
          <p:cNvSpPr txBox="1"/>
          <p:nvPr/>
        </p:nvSpPr>
        <p:spPr>
          <a:xfrm>
            <a:off x="4617720" y="1325880"/>
            <a:ext cx="3246120"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Ports and adapters</a:t>
            </a:r>
            <a:endParaRPr lang="en-US" sz="1900" dirty="0"/>
          </a:p>
        </p:txBody>
      </p:sp>
      <p:sp>
        <p:nvSpPr>
          <p:cNvPr id="16" name="svc-129"/>
          <p:cNvSpPr txBox="1"/>
          <p:nvPr/>
        </p:nvSpPr>
        <p:spPr>
          <a:xfrm>
            <a:off x="4617720" y="1874520"/>
            <a:ext cx="3246120" cy="1051560"/>
          </a:xfrm>
          <a:prstGeom prst="roundRect">
            <a:avLst>
              <a:gd name="adj" fmla="val 6957"/>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400" b="1" dirty="0">
                <a:solidFill>
                  <a:schemeClr val="tx1"/>
                </a:solidFill>
                <a:latin typeface="Courier New" pitchFamily="34" charset="0"/>
                <a:ea typeface="Courier New" pitchFamily="34" charset="-122"/>
                <a:cs typeface="Courier New" pitchFamily="34" charset="-120"/>
              </a:rPr>
              <a:t>services/</a:t>
            </a:r>
            <a:endParaRPr lang="en-US" sz="1400" dirty="0"/>
          </a:p>
          <a:p>
            <a:pPr algn="l" indent="0" marL="0">
              <a:buNone/>
            </a:pPr>
            <a:r>
              <a:rPr lang="en-US" sz="1250" dirty="0">
                <a:solidFill>
                  <a:schemeClr val="tx2"/>
                </a:solidFill>
              </a:rPr>
              <a:t>ingestion, pipeline, worker, pull, scheduler</a:t>
            </a:r>
            <a:endParaRPr lang="en-US" sz="1400" dirty="0"/>
          </a:p>
        </p:txBody>
      </p:sp>
      <p:sp>
        <p:nvSpPr>
          <p:cNvPr id="17" name="ports-130"/>
          <p:cNvSpPr txBox="1"/>
          <p:nvPr/>
        </p:nvSpPr>
        <p:spPr>
          <a:xfrm>
            <a:off x="4617720" y="3246120"/>
            <a:ext cx="3246120" cy="1051560"/>
          </a:xfrm>
          <a:prstGeom prst="roundRect">
            <a:avLst>
              <a:gd name="adj" fmla="val 6957"/>
            </a:avLst>
          </a:prstGeom>
          <a:solidFill>
            <a:schemeClr val="accent5"/>
          </a:solidFill>
          <a:ln w="31750">
            <a:solidFill>
              <a:schemeClr val="accent1"/>
            </a:solidFill>
          </a:ln>
        </p:spPr>
        <p:txBody>
          <a:bodyPr wrap="square" lIns="101600" tIns="101600" rIns="101600" bIns="101600" rtlCol="0" anchor="ctr"/>
          <a:lstStyle/>
          <a:p>
            <a:pPr algn="l" indent="0" marL="0">
              <a:spcAft>
                <a:spcPts val="300"/>
              </a:spcAft>
              <a:buNone/>
            </a:pPr>
            <a:r>
              <a:rPr lang="en-US" sz="1400" b="1" dirty="0">
                <a:solidFill>
                  <a:schemeClr val="tx1"/>
                </a:solidFill>
                <a:latin typeface="Courier New" pitchFamily="34" charset="0"/>
                <a:ea typeface="Courier New" pitchFamily="34" charset="-122"/>
                <a:cs typeface="Courier New" pitchFamily="34" charset="-120"/>
              </a:rPr>
              <a:t>ports/ (Protocols)</a:t>
            </a:r>
            <a:endParaRPr lang="en-US" sz="1400" dirty="0"/>
          </a:p>
          <a:p>
            <a:pPr algn="l" indent="0" marL="0">
              <a:buNone/>
            </a:pPr>
            <a:r>
              <a:rPr lang="en-US" sz="1200" dirty="0">
                <a:solidFill>
                  <a:schemeClr val="tx2"/>
                </a:solidFill>
              </a:rPr>
              <a:t>TenantStore, SourceStore, FeedbackStore, RawEventQueue, HttpClient, Clock</a:t>
            </a:r>
            <a:endParaRPr lang="en-US" sz="1400" dirty="0"/>
          </a:p>
        </p:txBody>
      </p:sp>
      <p:sp>
        <p:nvSpPr>
          <p:cNvPr id="18" name="adapters-131"/>
          <p:cNvSpPr txBox="1"/>
          <p:nvPr/>
        </p:nvSpPr>
        <p:spPr>
          <a:xfrm>
            <a:off x="4617720" y="4617720"/>
            <a:ext cx="3246120" cy="1051560"/>
          </a:xfrm>
          <a:prstGeom prst="roundRect">
            <a:avLst>
              <a:gd name="adj" fmla="val 6957"/>
            </a:avLst>
          </a:prstGeom>
          <a:solidFill>
            <a:schemeClr val="bg1"/>
          </a:solidFill>
          <a:ln w="19050">
            <a:solidFill>
              <a:schemeClr val="tx1"/>
            </a:solidFill>
          </a:ln>
        </p:spPr>
        <p:txBody>
          <a:bodyPr wrap="square" lIns="101600" tIns="101600" rIns="101600" bIns="101600" rtlCol="0" anchor="ctr"/>
          <a:lstStyle/>
          <a:p>
            <a:pPr algn="l" indent="0" marL="0">
              <a:spcAft>
                <a:spcPts val="300"/>
              </a:spcAft>
              <a:buNone/>
            </a:pPr>
            <a:r>
              <a:rPr lang="en-US" sz="1400" b="1" dirty="0">
                <a:solidFill>
                  <a:schemeClr val="tx1"/>
                </a:solidFill>
                <a:latin typeface="Courier New" pitchFamily="34" charset="0"/>
                <a:ea typeface="Courier New" pitchFamily="34" charset="-122"/>
                <a:cs typeface="Courier New" pitchFamily="34" charset="-120"/>
              </a:rPr>
              <a:t>adapters/</a:t>
            </a:r>
            <a:endParaRPr lang="en-US" sz="1400" dirty="0"/>
          </a:p>
          <a:p>
            <a:pPr algn="l" indent="0" marL="0">
              <a:buNone/>
            </a:pPr>
            <a:r>
              <a:rPr lang="en-US" sz="1250" dirty="0">
                <a:solidFill>
                  <a:schemeClr val="tx2"/>
                </a:solidFill>
              </a:rPr>
              <a:t>sqlalchemy/, http/HttpxClient, memory/ fakes for tests</a:t>
            </a:r>
            <a:endParaRPr lang="en-US" sz="1400" dirty="0"/>
          </a:p>
        </p:txBody>
      </p:sp>
      <p:sp>
        <p:nvSpPr>
          <p:cNvPr id="19" name="arrow-132"/>
          <p:cNvSpPr/>
          <p:nvPr/>
        </p:nvSpPr>
        <p:spPr>
          <a:xfrm>
            <a:off x="6240780" y="2926080"/>
            <a:ext cx="0" cy="320040"/>
          </a:xfrm>
          <a:prstGeom prst="line">
            <a:avLst/>
          </a:prstGeom>
          <a:noFill/>
          <a:ln w="25400">
            <a:solidFill>
              <a:schemeClr val="tx1"/>
            </a:solidFill>
            <a:prstDash val="solid"/>
            <a:tailEnd type="triangle"/>
          </a:ln>
        </p:spPr>
      </p:sp>
      <p:sp>
        <p:nvSpPr>
          <p:cNvPr id="20" name="arrow-133"/>
          <p:cNvSpPr/>
          <p:nvPr/>
        </p:nvSpPr>
        <p:spPr>
          <a:xfrm flipV="1">
            <a:off x="6240780" y="4297680"/>
            <a:ext cx="0" cy="320040"/>
          </a:xfrm>
          <a:prstGeom prst="line">
            <a:avLst/>
          </a:prstGeom>
          <a:noFill/>
          <a:ln w="25400">
            <a:solidFill>
              <a:schemeClr val="tx1"/>
            </a:solidFill>
            <a:prstDash val="solid"/>
            <a:tailEnd type="triangle"/>
          </a:ln>
        </p:spPr>
      </p:sp>
      <p:sp>
        <p:nvSpPr>
          <p:cNvPr id="21" name="ports-foot-134"/>
          <p:cNvSpPr txBox="1"/>
          <p:nvPr/>
        </p:nvSpPr>
        <p:spPr>
          <a:xfrm>
            <a:off x="4617720" y="5760720"/>
            <a:ext cx="3246120" cy="457200"/>
          </a:xfrm>
          <a:prstGeom prst="rect">
            <a:avLst/>
          </a:prstGeom>
          <a:noFill/>
          <a:ln/>
        </p:spPr>
        <p:txBody>
          <a:bodyPr wrap="square" lIns="0" tIns="0" rIns="0" bIns="0" rtlCol="0" anchor="t"/>
          <a:lstStyle/>
          <a:p>
            <a:pPr indent="0" marL="0">
              <a:buNone/>
            </a:pPr>
            <a:r>
              <a:rPr lang="en-US" sz="1250" i="1" dirty="0">
                <a:solidFill>
                  <a:schemeClr val="tx2"/>
                </a:solidFill>
              </a:rPr>
              <a:t>One contract test runs on SQLite and on the fake.</a:t>
            </a:r>
            <a:endParaRPr lang="en-US" sz="1250" dirty="0"/>
          </a:p>
        </p:txBody>
      </p:sp>
      <p:sp>
        <p:nvSpPr>
          <p:cNvPr id="22" name="swap-head-135"/>
          <p:cNvSpPr txBox="1"/>
          <p:nvPr/>
        </p:nvSpPr>
        <p:spPr>
          <a:xfrm>
            <a:off x="8275320" y="1325880"/>
            <a:ext cx="3367735" cy="41148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Swaps, honestly</a:t>
            </a:r>
            <a:endParaRPr lang="en-US" sz="1900" dirty="0"/>
          </a:p>
        </p:txBody>
      </p:sp>
      <p:sp>
        <p:nvSpPr>
          <p:cNvPr id="23" name="pg-136"/>
          <p:cNvSpPr txBox="1"/>
          <p:nvPr/>
        </p:nvSpPr>
        <p:spPr>
          <a:xfrm>
            <a:off x="8275320" y="1874520"/>
            <a:ext cx="3367735" cy="1920240"/>
          </a:xfrm>
          <a:prstGeom prst="roundRect">
            <a:avLst>
              <a:gd name="adj" fmla="val 3810"/>
            </a:avLst>
          </a:prstGeom>
          <a:solidFill>
            <a:schemeClr val="bg1"/>
          </a:solidFill>
          <a:ln w="19050">
            <a:solidFill>
              <a:schemeClr val="tx1"/>
            </a:solidFill>
          </a:ln>
        </p:spPr>
        <p:txBody>
          <a:bodyPr wrap="square" lIns="127000" tIns="127000" rIns="127000" bIns="127000" rtlCol="0" anchor="t"/>
          <a:lstStyle/>
          <a:p>
            <a:pPr algn="l" indent="0" marL="0">
              <a:spcAft>
                <a:spcPts val="300"/>
              </a:spcAft>
              <a:buNone/>
            </a:pPr>
            <a:r>
              <a:rPr lang="en-US" sz="1700" b="1" dirty="0">
                <a:solidFill>
                  <a:schemeClr val="tx1"/>
                </a:solidFill>
              </a:rPr>
              <a:t>Postgres</a:t>
            </a:r>
            <a:endParaRPr lang="en-US" sz="1700" dirty="0"/>
          </a:p>
          <a:p>
            <a:pPr algn="l" indent="0" marL="0">
              <a:buNone/>
            </a:pPr>
            <a:r>
              <a:rPr lang="en-US" sz="1400" dirty="0">
                <a:solidFill>
                  <a:schemeClr val="tx1"/>
                </a:solidFill>
              </a:rPr>
              <a:t>Set FI_DATABASE_URL, add a driver.</a:t>
            </a:r>
            <a:endParaRPr lang="en-US" sz="1700" dirty="0"/>
          </a:p>
          <a:p>
            <a:pPr algn="l" indent="0" marL="0">
              <a:buNone/>
            </a:pPr>
            <a:r>
              <a:rPr lang="en-US" sz="1400" dirty="0">
                <a:solidFill>
                  <a:schemeClr val="tx2"/>
                </a:solidFill>
              </a:rPr>
              <a:t>Three queries change: the claim gets SKIP LOCKED; upsert and enqueue become INSERT ... ON CONFLICT.</a:t>
            </a:r>
            <a:endParaRPr lang="en-US" sz="1700" dirty="0"/>
          </a:p>
          <a:p>
            <a:pPr algn="l" indent="0" marL="0">
              <a:buNone/>
            </a:pPr>
            <a:r>
              <a:rPr lang="en-US" sz="1400" dirty="0">
                <a:solidFill>
                  <a:schemeClr val="tx2"/>
                </a:solidFill>
              </a:rPr>
              <a:t>Add Alembic migrations.</a:t>
            </a:r>
            <a:endParaRPr lang="en-US" sz="1700" dirty="0"/>
          </a:p>
        </p:txBody>
      </p:sp>
      <p:sp>
        <p:nvSpPr>
          <p:cNvPr id="24" name="broker-137"/>
          <p:cNvSpPr txBox="1"/>
          <p:nvPr/>
        </p:nvSpPr>
        <p:spPr>
          <a:xfrm>
            <a:off x="8275320" y="4069080"/>
            <a:ext cx="3367735" cy="2148840"/>
          </a:xfrm>
          <a:prstGeom prst="roundRect">
            <a:avLst>
              <a:gd name="adj" fmla="val 3404"/>
            </a:avLst>
          </a:prstGeom>
          <a:solidFill>
            <a:schemeClr val="accent5"/>
          </a:solidFill>
          <a:ln w="31750">
            <a:solidFill>
              <a:schemeClr val="accent1"/>
            </a:solidFill>
          </a:ln>
        </p:spPr>
        <p:txBody>
          <a:bodyPr wrap="square" lIns="127000" tIns="127000" rIns="127000" bIns="127000" rtlCol="0" anchor="t"/>
          <a:lstStyle/>
          <a:p>
            <a:pPr algn="l" indent="0" marL="0">
              <a:spcAft>
                <a:spcPts val="300"/>
              </a:spcAft>
              <a:buNone/>
            </a:pPr>
            <a:r>
              <a:rPr lang="en-US" sz="1700" b="1" dirty="0">
                <a:solidFill>
                  <a:schemeClr val="tx1"/>
                </a:solidFill>
              </a:rPr>
              <a:t>Kafka or SQS</a:t>
            </a:r>
            <a:endParaRPr lang="en-US" sz="1700" dirty="0"/>
          </a:p>
          <a:p>
            <a:pPr algn="l" indent="0" marL="0">
              <a:buNone/>
            </a:pPr>
            <a:r>
              <a:rPr lang="en-US" sz="1400" b="1" dirty="0">
                <a:solidFill>
                  <a:schemeClr val="accent1"/>
                </a:solidFill>
              </a:rPr>
              <a:t>A new adapter and a new retry model.</a:t>
            </a:r>
            <a:endParaRPr lang="en-US" sz="1700" dirty="0"/>
          </a:p>
          <a:p>
            <a:pPr algn="l" indent="0" marL="0">
              <a:buNone/>
            </a:pPr>
            <a:r>
              <a:rPr lang="en-US" sz="1400" dirty="0">
                <a:solidFill>
                  <a:schemeClr val="tx2"/>
                </a:solidFill>
              </a:rPr>
              <a:t>SQS: visibility timeout. Kafka: no per-message delay, so retry topics.</a:t>
            </a:r>
            <a:endParaRPr lang="en-US" sz="1700" dirty="0"/>
          </a:p>
          <a:p>
            <a:pPr algn="l" indent="0" marL="0">
              <a:buNone/>
            </a:pPr>
            <a:r>
              <a:rPr lang="en-US" sz="1400" dirty="0">
                <a:solidFill>
                  <a:schemeClr val="tx2"/>
                </a:solidFill>
              </a:rPr>
              <a:t>Keep raw_events as the log; put ids on the broker.</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rPr>
              <a:t>What I would do next, and the demo</a:t>
            </a:r>
            <a:endParaRPr lang="en-US" sz="3400" dirty="0"/>
          </a:p>
        </p:txBody>
      </p:sp>
      <p:sp>
        <p:nvSpPr>
          <p:cNvPr id="3" name="next-head-138"/>
          <p:cNvSpPr txBox="1"/>
          <p:nvPr/>
        </p:nvSpPr>
        <p:spPr>
          <a:xfrm>
            <a:off x="548640" y="1325880"/>
            <a:ext cx="5394960" cy="411480"/>
          </a:xfrm>
          <a:prstGeom prst="rect">
            <a:avLst/>
          </a:prstGeom>
          <a:noFill/>
          <a:ln/>
        </p:spPr>
        <p:txBody>
          <a:bodyPr wrap="square" lIns="0" tIns="0" rIns="0" bIns="0" rtlCol="0" anchor="ctr"/>
          <a:lstStyle/>
          <a:p>
            <a:pPr indent="0" marL="0">
              <a:buNone/>
            </a:pPr>
            <a:r>
              <a:rPr lang="en-US" sz="1800" b="1" dirty="0">
                <a:solidFill>
                  <a:schemeClr val="accent4"/>
                </a:solidFill>
                <a:latin typeface="Arial" pitchFamily="34" charset="0"/>
                <a:ea typeface="Arial" pitchFamily="34" charset="-122"/>
                <a:cs typeface="Arial" pitchFamily="34" charset="-120"/>
              </a:rPr>
              <a:t>Top three from the debt ledger</a:t>
            </a:r>
            <a:endParaRPr lang="en-US" sz="1800" dirty="0"/>
          </a:p>
        </p:txBody>
      </p:sp>
      <p:sp>
        <p:nvSpPr>
          <p:cNvPr id="4" name="step-139"/>
          <p:cNvSpPr txBox="1"/>
          <p:nvPr/>
        </p:nvSpPr>
        <p:spPr>
          <a:xfrm>
            <a:off x="548640" y="1965960"/>
            <a:ext cx="502920" cy="50292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next-item-140"/>
          <p:cNvSpPr txBox="1"/>
          <p:nvPr/>
        </p:nvSpPr>
        <p:spPr>
          <a:xfrm>
            <a:off x="1280160" y="1920240"/>
            <a:ext cx="4663440" cy="114300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latin typeface="Arial" pitchFamily="34" charset="0"/>
                <a:ea typeface="Arial" pitchFamily="34" charset="-122"/>
                <a:cs typeface="Arial" pitchFamily="34" charset="-120"/>
              </a:rPr>
              <a:t>Add migrations (Alembic)</a:t>
            </a:r>
            <a:endParaRPr lang="en-US" sz="1900" dirty="0"/>
          </a:p>
          <a:p>
            <a:pPr indent="0" marL="0">
              <a:buNone/>
            </a:pPr>
            <a:r>
              <a:rPr lang="en-US" sz="1500" dirty="0">
                <a:solidFill>
                  <a:schemeClr val="accent4"/>
                </a:solidFill>
              </a:rPr>
              <a:t>The first schema change on real data turns “delete the db file” into data loss.</a:t>
            </a:r>
            <a:endParaRPr lang="en-US" sz="1900" dirty="0"/>
          </a:p>
        </p:txBody>
      </p:sp>
      <p:sp>
        <p:nvSpPr>
          <p:cNvPr id="6" name="step-141"/>
          <p:cNvSpPr txBox="1"/>
          <p:nvPr/>
        </p:nvSpPr>
        <p:spPr>
          <a:xfrm>
            <a:off x="548640" y="3337560"/>
            <a:ext cx="502920" cy="50292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next-item-142"/>
          <p:cNvSpPr txBox="1"/>
          <p:nvPr/>
        </p:nvSpPr>
        <p:spPr>
          <a:xfrm>
            <a:off x="1280160" y="3291840"/>
            <a:ext cx="4663440" cy="114300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latin typeface="Arial" pitchFamily="34" charset="0"/>
                <a:ea typeface="Arial" pitchFamily="34" charset="-122"/>
                <a:cs typeface="Arial" pitchFamily="34" charset="-120"/>
              </a:rPr>
              <a:t>Replace the shared bootstrap token</a:t>
            </a:r>
            <a:endParaRPr lang="en-US" sz="1900" dirty="0"/>
          </a:p>
          <a:p>
            <a:pPr indent="0" marL="0">
              <a:buNone/>
            </a:pPr>
            <a:r>
              <a:rPr lang="en-US" sz="1500" dirty="0">
                <a:solidFill>
                  <a:schemeClr val="accent4"/>
                </a:solidFill>
              </a:rPr>
              <a:t>The main security gap: a leaked token creates tenants, with no audit trail.</a:t>
            </a:r>
            <a:endParaRPr lang="en-US" sz="1900" dirty="0"/>
          </a:p>
        </p:txBody>
      </p:sp>
      <p:sp>
        <p:nvSpPr>
          <p:cNvPr id="8" name="step-143"/>
          <p:cNvSpPr txBox="1"/>
          <p:nvPr/>
        </p:nvSpPr>
        <p:spPr>
          <a:xfrm>
            <a:off x="548640" y="4709160"/>
            <a:ext cx="502920" cy="502920"/>
          </a:xfrm>
          <a:prstGeom prst="ellipse">
            <a:avLst/>
          </a:prstGeom>
          <a:solidFill>
            <a:schemeClr val="accent1"/>
          </a:solidFill>
          <a:ln w="9525">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next-item-144"/>
          <p:cNvSpPr txBox="1"/>
          <p:nvPr/>
        </p:nvSpPr>
        <p:spPr>
          <a:xfrm>
            <a:off x="1280160" y="4663440"/>
            <a:ext cx="4663440" cy="1143000"/>
          </a:xfrm>
          <a:prstGeom prst="rect">
            <a:avLst/>
          </a:prstGeom>
          <a:noFill/>
          <a:ln/>
        </p:spPr>
        <p:txBody>
          <a:bodyPr wrap="square" lIns="0" tIns="0" rIns="0" bIns="0" rtlCol="0" anchor="t"/>
          <a:lstStyle/>
          <a:p>
            <a:pPr indent="0" marL="0">
              <a:spcAft>
                <a:spcPts val="400"/>
              </a:spcAft>
              <a:buNone/>
            </a:pPr>
            <a:r>
              <a:rPr lang="en-US" sz="1900" b="1" dirty="0">
                <a:solidFill>
                  <a:schemeClr val="bg1"/>
                </a:solidFill>
                <a:latin typeface="Arial" pitchFamily="34" charset="0"/>
                <a:ea typeface="Arial" pitchFamily="34" charset="-122"/>
                <a:cs typeface="Arial" pitchFamily="34" charset="-120"/>
              </a:rPr>
              <a:t>Lift the Discourse 10-page cap</a:t>
            </a:r>
            <a:endParaRPr lang="en-US" sz="1900" dirty="0"/>
          </a:p>
          <a:p>
            <a:pPr indent="0" marL="0">
              <a:buNone/>
            </a:pPr>
            <a:r>
              <a:rPr lang="en-US" sz="1500" dirty="0">
                <a:solidFill>
                  <a:schemeClr val="accent4"/>
                </a:solidFill>
              </a:rPr>
              <a:t>A busy forum stalls the source; today PATCH window_days lowers the window.</a:t>
            </a:r>
            <a:endParaRPr lang="en-US" sz="1900" dirty="0"/>
          </a:p>
        </p:txBody>
      </p:sp>
      <p:sp>
        <p:nvSpPr>
          <p:cNvPr id="10" name="demo-card-145"/>
          <p:cNvSpPr/>
          <p:nvPr/>
        </p:nvSpPr>
        <p:spPr>
          <a:xfrm>
            <a:off x="6400800" y="1325880"/>
            <a:ext cx="5242255" cy="4343400"/>
          </a:xfrm>
          <a:prstGeom prst="roundRect">
            <a:avLst>
              <a:gd name="adj" fmla="val 1684"/>
            </a:avLst>
          </a:prstGeom>
          <a:solidFill>
            <a:schemeClr val="accent6"/>
          </a:solidFill>
          <a:ln w="6350">
            <a:solidFill>
              <a:schemeClr val="accent6"/>
            </a:solidFill>
            <a:prstDash val="solid"/>
          </a:ln>
        </p:spPr>
      </p:sp>
      <p:sp>
        <p:nvSpPr>
          <p:cNvPr id="11" name="demo-head-146"/>
          <p:cNvSpPr txBox="1"/>
          <p:nvPr/>
        </p:nvSpPr>
        <p:spPr>
          <a:xfrm>
            <a:off x="6675120" y="1508760"/>
            <a:ext cx="4693615" cy="41148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Demo  </a:t>
            </a:r>
            <a:pPr indent="0" marL="0">
              <a:buNone/>
            </a:pPr>
            <a:r>
              <a:rPr lang="en-US" sz="1500" b="1" dirty="0">
                <a:solidFill>
                  <a:schemeClr val="accent1"/>
                </a:solidFill>
                <a:latin typeface="Courier New" pitchFamily="34" charset="0"/>
                <a:ea typeface="Courier New" pitchFamily="34" charset="-122"/>
                <a:cs typeface="Courier New" pitchFamily="34" charset="-120"/>
              </a:rPr>
              <a:t>./scripts/demo.sh</a:t>
            </a:r>
            <a:endParaRPr lang="en-US" sz="1800" dirty="0"/>
          </a:p>
        </p:txBody>
      </p:sp>
      <p:sp>
        <p:nvSpPr>
          <p:cNvPr id="12" name="demo-steps-147"/>
          <p:cNvSpPr txBox="1"/>
          <p:nvPr/>
        </p:nvSpPr>
        <p:spPr>
          <a:xfrm>
            <a:off x="6675120" y="2057400"/>
            <a:ext cx="4693615" cy="34747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50" dirty="0">
                <a:solidFill>
                  <a:schemeClr val="bg1"/>
                </a:solidFill>
              </a:rPr>
              <a:t>Start the server, show /health</a:t>
            </a:r>
            <a:endParaRPr lang="en-US" sz="1550" dirty="0"/>
          </a:p>
          <a:p>
            <a:pPr marL="342900" indent="-342900">
              <a:spcAft>
                <a:spcPts val="500"/>
              </a:spcAft>
              <a:buSzPct val="100000"/>
              <a:buFont typeface="+mj-lt"/>
              <a:buAutoNum type="arabicPeriod" startAt="1"/>
            </a:pPr>
            <a:r>
              <a:rPr lang="en-US" sz="1550" dirty="0">
                <a:solidFill>
                  <a:schemeClr val="bg1"/>
                </a:solidFill>
              </a:rPr>
              <a:t>Seed two tenants: lumenote and brightwave</a:t>
            </a:r>
            <a:endParaRPr lang="en-US" sz="1550" dirty="0"/>
          </a:p>
          <a:p>
            <a:pPr marL="342900" indent="-342900">
              <a:spcAft>
                <a:spcPts val="500"/>
              </a:spcAft>
              <a:buSzPct val="100000"/>
              <a:buFont typeface="+mj-lt"/>
              <a:buAutoNum type="arabicPeriod" startAt="1"/>
            </a:pPr>
            <a:r>
              <a:rPr lang="en-US" sz="1550" dirty="0">
                <a:solidFill>
                  <a:schemeClr val="bg1"/>
                </a:solidFill>
              </a:rPr>
              <a:t>Same review twice: duplicate false, then true</a:t>
            </a:r>
            <a:endParaRPr lang="en-US" sz="1550" dirty="0"/>
          </a:p>
          <a:p>
            <a:pPr marL="342900" indent="-342900">
              <a:spcAft>
                <a:spcPts val="500"/>
              </a:spcAft>
              <a:buSzPct val="100000"/>
              <a:buFont typeface="+mj-lt"/>
              <a:buAutoNum type="arabicPeriod" startAt="1"/>
            </a:pPr>
            <a:r>
              <a:rPr lang="en-US" sz="1550" dirty="0">
                <a:solidFill>
                  <a:schemeClr val="bg1"/>
                </a:solidFill>
              </a:rPr>
              <a:t>Same review to a second Play Store source</a:t>
            </a:r>
            <a:endParaRPr lang="en-US" sz="1550" dirty="0"/>
          </a:p>
          <a:p>
            <a:pPr marL="342900" indent="-342900">
              <a:spcAft>
                <a:spcPts val="500"/>
              </a:spcAft>
              <a:buSzPct val="100000"/>
              <a:buFont typeface="+mj-lt"/>
              <a:buAutoNum type="arabicPeriod" startAt="1"/>
            </a:pPr>
            <a:r>
              <a:rPr lang="en-US" sz="1550" dirty="0">
                <a:solidFill>
                  <a:schemeClr val="bg1"/>
                </a:solidFill>
              </a:rPr>
              <a:t>lumenote sees two records; brightwave none</a:t>
            </a:r>
            <a:endParaRPr lang="en-US" sz="1550" dirty="0"/>
          </a:p>
          <a:p>
            <a:pPr marL="342900" indent="-342900">
              <a:spcAft>
                <a:spcPts val="500"/>
              </a:spcAft>
              <a:buSzPct val="100000"/>
              <a:buFont typeface="+mj-lt"/>
              <a:buAutoNum type="arabicPeriod" startAt="1"/>
            </a:pPr>
            <a:r>
              <a:rPr lang="en-US" sz="1550" dirty="0">
                <a:solidFill>
                  <a:schemeClr val="bg1"/>
                </a:solidFill>
              </a:rPr>
              <a:t>Custom webhook: one batch, three kinds</a:t>
            </a:r>
            <a:endParaRPr lang="en-US" sz="1550" dirty="0"/>
          </a:p>
          <a:p>
            <a:pPr marL="342900" indent="-342900">
              <a:spcAft>
                <a:spcPts val="500"/>
              </a:spcAft>
              <a:buSzPct val="100000"/>
              <a:buFont typeface="+mj-lt"/>
              <a:buAutoNum type="arabicPeriod" startAt="1"/>
            </a:pPr>
            <a:r>
              <a:rPr lang="en-US" sz="1550" dirty="0">
                <a:solidFill>
                  <a:schemeClr val="bg1"/>
                </a:solidFill>
              </a:rPr>
              <a:t>Intercom and a tweet: one record shape</a:t>
            </a:r>
            <a:endParaRPr lang="en-US" sz="1550" dirty="0"/>
          </a:p>
          <a:p>
            <a:pPr marL="342900" indent="-342900">
              <a:spcAft>
                <a:spcPts val="500"/>
              </a:spcAft>
              <a:buSzPct val="100000"/>
              <a:buFont typeface="+mj-lt"/>
              <a:buAutoNum type="arabicPeriod" startAt="1"/>
            </a:pPr>
            <a:r>
              <a:rPr lang="en-US" sz="1550" dirty="0">
                <a:solidFill>
                  <a:schemeClr val="bg1"/>
                </a:solidFill>
              </a:rPr>
              <a:t>Malformed payload goes dead; replay it</a:t>
            </a:r>
            <a:endParaRPr lang="en-US" sz="1550" dirty="0"/>
          </a:p>
          <a:p>
            <a:pPr marL="342900" indent="-342900">
              <a:spcAft>
                <a:spcPts val="500"/>
              </a:spcAft>
              <a:buSzPct val="100000"/>
              <a:buFont typeface="+mj-lt"/>
              <a:buAutoNum type="arabicPeriod" startAt="1"/>
            </a:pPr>
            <a:r>
              <a:rPr lang="en-US" sz="1550" dirty="0">
                <a:solidFill>
                  <a:schemeClr val="bg1"/>
                </a:solidFill>
              </a:rPr>
              <a:t>Live Discourse sync, then the posts</a:t>
            </a:r>
            <a:endParaRPr lang="en-US" sz="1550" dirty="0"/>
          </a:p>
          <a:p>
            <a:pPr marL="342900" indent="-342900">
              <a:spcAft>
                <a:spcPts val="500"/>
              </a:spcAft>
              <a:buSzPct val="100000"/>
              <a:buFont typeface="+mj-lt"/>
              <a:buAutoNum type="arabicPeriod" startAt="1"/>
            </a:pPr>
            <a:r>
              <a:rPr lang="en-US" sz="1550" dirty="0">
                <a:solidFill>
                  <a:schemeClr val="bg1"/>
                </a:solidFill>
              </a:rPr>
              <a:t>20 pushes queued, kill -9, restart: drains</a:t>
            </a:r>
            <a:endParaRPr lang="en-US" sz="1550" dirty="0"/>
          </a:p>
          <a:p>
            <a:pPr marL="342900" indent="-342900">
              <a:spcAft>
                <a:spcPts val="500"/>
              </a:spcAft>
              <a:buSzPct val="100000"/>
              <a:buFont typeface="+mj-lt"/>
              <a:buAutoNum type="arabicPeriod" startAt="1"/>
            </a:pPr>
            <a:r>
              <a:rPr lang="en-US" sz="1550" dirty="0">
                <a:solidFill>
                  <a:schemeClr val="bg1"/>
                </a:solidFill>
              </a:rPr>
              <a:t>Stop the server: “done”</a:t>
            </a:r>
            <a:endParaRPr lang="en-US" sz="15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tx1"/>
                </a:solidFill>
              </a:rPr>
              <a:t>Where this sits in Enterpret's pipeline</a:t>
            </a:r>
            <a:endParaRPr lang="en-US" sz="3400" dirty="0"/>
          </a:p>
        </p:txBody>
      </p:sp>
      <p:sp>
        <p:nvSpPr>
          <p:cNvPr id="3" name="stage-148"/>
          <p:cNvSpPr txBox="1"/>
          <p:nvPr/>
        </p:nvSpPr>
        <p:spPr>
          <a:xfrm>
            <a:off x="548640" y="1280160"/>
            <a:ext cx="3429000" cy="1325880"/>
          </a:xfrm>
          <a:prstGeom prst="roundRect">
            <a:avLst>
              <a:gd name="adj" fmla="val 5517"/>
            </a:avLst>
          </a:prstGeom>
          <a:solidFill>
            <a:schemeClr val="accent5"/>
          </a:solidFill>
          <a:ln w="31750">
            <a:solidFill>
              <a:schemeClr val="accent1"/>
            </a:solidFill>
          </a:ln>
        </p:spPr>
        <p:txBody>
          <a:bodyPr wrap="square" lIns="127000" tIns="127000" rIns="127000" bIns="127000" rtlCol="0" anchor="t"/>
          <a:lstStyle/>
          <a:p>
            <a:pPr algn="l" indent="0" marL="0">
              <a:spcAft>
                <a:spcPts val="300"/>
              </a:spcAft>
              <a:buNone/>
            </a:pPr>
            <a:r>
              <a:rPr lang="en-US" sz="1800" b="1" dirty="0">
                <a:solidFill>
                  <a:schemeClr val="tx1"/>
                </a:solidFill>
              </a:rPr>
              <a:t>Unify</a:t>
            </a:r>
            <a:endParaRPr lang="en-US" sz="1800" dirty="0"/>
          </a:p>
          <a:p>
            <a:pPr algn="l" indent="0" marL="0">
              <a:buNone/>
            </a:pPr>
            <a:r>
              <a:rPr lang="en-US" sz="1250" dirty="0">
                <a:solidFill>
                  <a:schemeClr val="tx1"/>
                </a:solidFill>
              </a:rPr>
              <a:t>connectors, webhook, normalised Feedback Records</a:t>
            </a:r>
            <a:endParaRPr lang="en-US" sz="1800" dirty="0"/>
          </a:p>
          <a:p>
            <a:pPr algn="l" indent="0" marL="0">
              <a:buNone/>
            </a:pPr>
            <a:r>
              <a:rPr lang="en-US" sz="1250" b="1" dirty="0">
                <a:solidFill>
                  <a:schemeClr val="accent1"/>
                </a:solidFill>
              </a:rPr>
              <a:t>this service</a:t>
            </a:r>
            <a:endParaRPr lang="en-US" sz="1800" dirty="0"/>
          </a:p>
        </p:txBody>
      </p:sp>
      <p:sp>
        <p:nvSpPr>
          <p:cNvPr id="4" name="arrow-149"/>
          <p:cNvSpPr/>
          <p:nvPr/>
        </p:nvSpPr>
        <p:spPr>
          <a:xfrm>
            <a:off x="4032504" y="1943100"/>
            <a:ext cx="292608" cy="0"/>
          </a:xfrm>
          <a:prstGeom prst="line">
            <a:avLst/>
          </a:prstGeom>
          <a:noFill/>
          <a:ln w="25400">
            <a:solidFill>
              <a:schemeClr val="tx1"/>
            </a:solidFill>
            <a:prstDash val="solid"/>
            <a:tailEnd type="triangle"/>
          </a:ln>
        </p:spPr>
      </p:sp>
      <p:sp>
        <p:nvSpPr>
          <p:cNvPr id="5" name="stage-150"/>
          <p:cNvSpPr txBox="1"/>
          <p:nvPr/>
        </p:nvSpPr>
        <p:spPr>
          <a:xfrm>
            <a:off x="4379976" y="1280160"/>
            <a:ext cx="3429000" cy="1325880"/>
          </a:xfrm>
          <a:prstGeom prst="roundRect">
            <a:avLst>
              <a:gd name="adj" fmla="val 5517"/>
            </a:avLst>
          </a:prstGeom>
          <a:solidFill>
            <a:schemeClr val="bg2"/>
          </a:solidFill>
          <a:ln w="12700">
            <a:solidFill>
              <a:schemeClr val="accent4"/>
            </a:solidFill>
          </a:ln>
        </p:spPr>
        <p:txBody>
          <a:bodyPr wrap="square" lIns="127000" tIns="127000" rIns="127000" bIns="127000" rtlCol="0" anchor="t"/>
          <a:lstStyle/>
          <a:p>
            <a:pPr algn="l" indent="0" marL="0">
              <a:spcAft>
                <a:spcPts val="300"/>
              </a:spcAft>
              <a:buNone/>
            </a:pPr>
            <a:r>
              <a:rPr lang="en-US" sz="1800" b="1" dirty="0">
                <a:solidFill>
                  <a:schemeClr val="tx1"/>
                </a:solidFill>
              </a:rPr>
              <a:t>Understand</a:t>
            </a:r>
            <a:endParaRPr lang="en-US" sz="1800" dirty="0"/>
          </a:p>
          <a:p>
            <a:pPr algn="l" indent="0" marL="0">
              <a:buNone/>
            </a:pPr>
            <a:r>
              <a:rPr lang="en-US" sz="1250" dirty="0">
                <a:solidFill>
                  <a:schemeClr val="tx1"/>
                </a:solidFill>
              </a:rPr>
              <a:t>taxonomy: Keywords, Themes, Categories (Reasons); Wisdom Q&amp;A</a:t>
            </a:r>
            <a:endParaRPr lang="en-US" sz="1800" dirty="0"/>
          </a:p>
          <a:p>
            <a:pPr algn="l" indent="0" marL="0">
              <a:buNone/>
            </a:pPr>
            <a:r>
              <a:rPr lang="en-US" sz="1250" b="1" dirty="0">
                <a:solidFill>
                  <a:schemeClr val="tx2"/>
                </a:solidFill>
              </a:rPr>
              <a:t>downstream, not built</a:t>
            </a:r>
            <a:endParaRPr lang="en-US" sz="1800" dirty="0"/>
          </a:p>
        </p:txBody>
      </p:sp>
      <p:sp>
        <p:nvSpPr>
          <p:cNvPr id="6" name="arrow-151"/>
          <p:cNvSpPr/>
          <p:nvPr/>
        </p:nvSpPr>
        <p:spPr>
          <a:xfrm>
            <a:off x="7863840" y="1943100"/>
            <a:ext cx="292608" cy="0"/>
          </a:xfrm>
          <a:prstGeom prst="line">
            <a:avLst/>
          </a:prstGeom>
          <a:noFill/>
          <a:ln w="25400">
            <a:solidFill>
              <a:schemeClr val="tx1"/>
            </a:solidFill>
            <a:prstDash val="solid"/>
            <a:tailEnd type="triangle"/>
          </a:ln>
        </p:spPr>
      </p:sp>
      <p:sp>
        <p:nvSpPr>
          <p:cNvPr id="7" name="stage-152"/>
          <p:cNvSpPr txBox="1"/>
          <p:nvPr/>
        </p:nvSpPr>
        <p:spPr>
          <a:xfrm>
            <a:off x="8211312" y="1280160"/>
            <a:ext cx="3429000" cy="1325880"/>
          </a:xfrm>
          <a:prstGeom prst="roundRect">
            <a:avLst>
              <a:gd name="adj" fmla="val 5517"/>
            </a:avLst>
          </a:prstGeom>
          <a:solidFill>
            <a:schemeClr val="bg2"/>
          </a:solidFill>
          <a:ln w="12700">
            <a:solidFill>
              <a:schemeClr val="accent4"/>
            </a:solidFill>
          </a:ln>
        </p:spPr>
        <p:txBody>
          <a:bodyPr wrap="square" lIns="127000" tIns="127000" rIns="127000" bIns="127000" rtlCol="0" anchor="t"/>
          <a:lstStyle/>
          <a:p>
            <a:pPr algn="l" indent="0" marL="0">
              <a:spcAft>
                <a:spcPts val="300"/>
              </a:spcAft>
              <a:buNone/>
            </a:pPr>
            <a:r>
              <a:rPr lang="en-US" sz="1800" b="1" dirty="0">
                <a:solidFill>
                  <a:schemeClr val="tx1"/>
                </a:solidFill>
              </a:rPr>
              <a:t>Act</a:t>
            </a:r>
            <a:endParaRPr lang="en-US" sz="1800" dirty="0"/>
          </a:p>
          <a:p>
            <a:pPr algn="l" indent="0" marL="0">
              <a:buNone/>
            </a:pPr>
            <a:r>
              <a:rPr lang="en-US" sz="1250" dirty="0">
                <a:solidFill>
                  <a:schemeClr val="tx1"/>
                </a:solidFill>
              </a:rPr>
              <a:t>Slack, Jira, Linear, reports</a:t>
            </a:r>
            <a:endParaRPr lang="en-US" sz="1800" dirty="0"/>
          </a:p>
          <a:p>
            <a:pPr algn="l" indent="0" marL="0">
              <a:buNone/>
            </a:pPr>
            <a:r>
              <a:rPr lang="en-US" sz="1250" b="1" dirty="0">
                <a:solidFill>
                  <a:schemeClr val="tx2"/>
                </a:solidFill>
              </a:rPr>
              <a:t>downstream, not built</a:t>
            </a:r>
            <a:endParaRPr lang="en-US" sz="1800" dirty="0"/>
          </a:p>
        </p:txBody>
      </p:sp>
      <p:graphicFrame>
        <p:nvGraphicFramePr>
          <p:cNvPr id="12" name="mapping-153"/>
          <p:cNvGraphicFramePr>
            <a:graphicFrameLocks noGrp="1"/>
          </p:cNvGraphicFramePr>
          <p:nvPr>
            <p:extLst>
              <p:ext uri="{D42A27DB-BD31-4B8C-83A1-F6EECF244321}">
                <p14:modId xmlns:p14="http://schemas.microsoft.com/office/powerpoint/2010/main" val="1579011935"/>
              </p:ext>
            </p:extLst>
          </p:nvPr>
        </p:nvGraphicFramePr>
        <p:xfrm>
          <a:off x="548640" y="2834640"/>
          <a:ext cx="11094415" cy="914400"/>
        </p:xfrm>
        <a:graphic>
          <a:graphicData uri="http://schemas.openxmlformats.org/drawingml/2006/table">
            <a:tbl>
              <a:tblPr/>
              <a:tblGrid>
                <a:gridCol w="5120640"/>
                <a:gridCol w="5973775"/>
              </a:tblGrid>
              <a:tr h="347472">
                <a:tc>
                  <a:txBody>
                    <a:bodyPr/>
                    <a:lstStyle/>
                    <a:p>
                      <a:pPr indent="0" marL="0">
                        <a:buNone/>
                      </a:pPr>
                      <a:r>
                        <a:rPr lang="en-US" sz="1300" b="1" dirty="0">
                          <a:solidFill>
                            <a:schemeClr val="bg1"/>
                          </a:solidFill>
                        </a:rPr>
                        <a:t>Their public docs and engineering blog describe</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This service</a:t>
                      </a:r>
                      <a:endParaRPr lang="en-US" sz="130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tx1"/>
                    </a:solidFill>
                  </a:tcPr>
                </a:tc>
              </a:tr>
              <a:tr h="457200">
                <a:tc>
                  <a:txBody>
                    <a:bodyPr/>
                    <a:lstStyle/>
                    <a:p>
                      <a:pPr indent="0" marL="0">
                        <a:buNone/>
                      </a:pPr>
                      <a:r>
                        <a:rPr lang="en-US" sz="1250" dirty="0">
                          <a:solidFill>
                            <a:schemeClr val="tx1"/>
                          </a:solidFill>
                        </a:rPr>
                        <a:t>Public webhook: a batch of records with id, type, createdAt (epoch s), typed metadata</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custom connector takes that shape; one push = one raw event; kind from type; AUDIO_RECORDING refused</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02336">
                <a:tc>
                  <a:txBody>
                    <a:bodyPr/>
                    <a:lstStyle/>
                    <a:p>
                      <a:pPr indent="0" marL="0">
                        <a:buNone/>
                      </a:pPr>
                      <a:r>
                        <a:rPr lang="en-US" sz="1250" dirty="0">
                          <a:solidFill>
                            <a:schemeClr val="tx1"/>
                          </a:solidFill>
                        </a:rPr>
                        <a:t>A 200 does not guarantee the records appear</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202 only after the raw row commits; the worker processes later; a bad payload is listed dead</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457200">
                <a:tc>
                  <a:txBody>
                    <a:bodyPr/>
                    <a:lstStyle/>
                    <a:p>
                      <a:pPr indent="0" marL="0">
                        <a:buNone/>
                      </a:pPr>
                      <a:r>
                        <a:rPr lang="en-US" sz="1250" dirty="0">
                          <a:solidFill>
                            <a:schemeClr val="tx1"/>
                          </a:solidFill>
                        </a:rPr>
                        <a:t>A repeated id is skipped by default; replace is opt-in (via support)</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 repeated delivery is skipped in raw_events; a newer or equal version of a record replaces it, an older one never</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02336">
                <a:tc>
                  <a:txBody>
                    <a:bodyPr/>
                    <a:lstStyle/>
                    <a:p>
                      <a:pPr indent="0" marL="0">
                        <a:buNone/>
                      </a:pPr>
                      <a:r>
                        <a:rPr lang="en-US" sz="1250" dirty="0">
                          <a:solidFill>
                            <a:schemeClr val="tx1"/>
                          </a:solidFill>
                        </a:rPr>
                        <a:t>Engineering blog: stale, out-of-order updates are rejected by version</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the upsert's version guard: COALESCE(updated, created) must not be older</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r h="402336">
                <a:tc>
                  <a:txBody>
                    <a:bodyPr/>
                    <a:lstStyle/>
                    <a:p>
                      <a:pPr indent="0" marL="0">
                        <a:buNone/>
                      </a:pPr>
                      <a:r>
                        <a:rPr lang="en-US" sz="1250" dirty="0">
                          <a:solidFill>
                            <a:schemeClr val="tx1"/>
                          </a:solidFill>
                        </a:rPr>
                        <a:t>Engineering blog: partition by tenant against queue clogging and noisy neighbours</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gap: one shared queue today; per-tenant claiming is the upgrade</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1"/>
                    </a:solidFill>
                  </a:tcPr>
                </a:tc>
              </a:tr>
              <a:tr h="402336">
                <a:tc>
                  <a:txBody>
                    <a:bodyPr/>
                    <a:lstStyle/>
                    <a:p>
                      <a:pPr indent="0" marL="0">
                        <a:buNone/>
                      </a:pPr>
                      <a:r>
                        <a:rPr lang="en-US" sz="1250" dirty="0">
                          <a:solidFill>
                            <a:schemeClr val="tx1"/>
                          </a:solidFill>
                        </a:rPr>
                        <a:t>Engineering blog: ClickHouse as the analytics projection</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not built: a projection fed from our records</a:t>
                      </a:r>
                      <a:endParaRPr lang="en-US" sz="1250" dirty="0"/>
                    </a:p>
                  </a:txBody>
                  <a:tcPr marL="91440" marR="91440" marT="0" marB="0" anchor="ctr">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chemeClr val="bg2"/>
                    </a:solidFill>
                  </a:tcPr>
                </a:tc>
              </a:tr>
            </a:tbl>
          </a:graphicData>
        </a:graphic>
      </p:graphicFrame>
      <p:sp>
        <p:nvSpPr>
          <p:cNvPr id="9" name="honesty-154"/>
          <p:cNvSpPr txBox="1"/>
          <p:nvPr/>
        </p:nvSpPr>
        <p:spPr>
          <a:xfrm>
            <a:off x="548640" y="5943600"/>
            <a:ext cx="11094415" cy="320040"/>
          </a:xfrm>
          <a:prstGeom prst="rect">
            <a:avLst/>
          </a:prstGeom>
          <a:noFill/>
          <a:ln/>
        </p:spPr>
        <p:txBody>
          <a:bodyPr wrap="square" lIns="0" tIns="0" rIns="0" bIns="0" rtlCol="0" anchor="ctr"/>
          <a:lstStyle/>
          <a:p>
            <a:pPr indent="0" marL="0">
              <a:buNone/>
            </a:pPr>
            <a:r>
              <a:rPr lang="en-US" sz="1200" i="1" dirty="0">
                <a:solidFill>
                  <a:schemeClr val="tx2"/>
                </a:solidFill>
              </a:rPr>
              <a:t>From public pages only (docs/research/). No claim about how Enterpret works inside.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Whiteboard Ink">
  <a:themeElements>
    <a:clrScheme name="Whiteboard Ink">
      <a:dk1>
        <a:srgbClr val="1A1D21"/>
      </a:dk1>
      <a:lt1>
        <a:srgbClr val="FFFFFF"/>
      </a:lt1>
      <a:dk2>
        <a:srgbClr val="495057"/>
      </a:dk2>
      <a:lt2>
        <a:srgbClr val="F1F3F5"/>
      </a:lt2>
      <a:accent1>
        <a:srgbClr val="E8590C"/>
      </a:accent1>
      <a:accent2>
        <a:srgbClr val="2B8A3E"/>
      </a:accent2>
      <a:accent3>
        <a:srgbClr val="C92A2A"/>
      </a:accent3>
      <a:accent4>
        <a:srgbClr val="ADB5BD"/>
      </a:accent4>
      <a:accent5>
        <a:srgbClr val="FFF0E0"/>
      </a:accent5>
      <a:accent6>
        <a:srgbClr val="2C3137"/>
      </a:accent6>
      <a:hlink>
        <a:srgbClr val="1971C2"/>
      </a:hlink>
      <a:folHlink>
        <a:srgbClr val="862E9C"/>
      </a:folHlink>
    </a:clrScheme>
    <a:fontScheme name="Whiteboard In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Feedback Ingestion Service</dc:title>
  <dc:subject>PptxGenJS Presentation</dc:subject>
  <dc:creator>Feedback ingestion take-home</dc:creator>
  <cp:lastModifiedBy>Feedback ingestion take-home</cp:lastModifiedBy>
  <cp:revision>1</cp:revision>
  <dcterms:created xsi:type="dcterms:W3CDTF">2026-10-03T08:50:31Z</dcterms:created>
  <dcterms:modified xsi:type="dcterms:W3CDTF">2026-10-03T08:50:31Z</dcterms:modified>
</cp:coreProperties>
</file>