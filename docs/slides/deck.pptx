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b7f6467-3516-b048-2ab7-ab748f210a94}">
          <p14:sldIdLst>
            <p14:sldId id="256"/>
            <p14:sldId id="257"/>
          </p14:sldIdLst>
        </p14:section>
        <p14:section name="How it works" id="{11e06800-6713-0c99-cc43-8a6976050635}">
          <p14:sldIdLst>
            <p14:sldId id="258"/>
            <p14:sldId id="259"/>
            <p14:sldId id="260"/>
            <p14:sldId id="261"/>
          </p14:sldIdLst>
        </p14:section>
        <p14:section name="Why it holds" id="{9de4ed65-67a9-1d99-bde5-6e285bdea58d}">
          <p14:sldIdLst>
            <p14:sldId id="262"/>
            <p14:sldId id="263"/>
          </p14:sldIdLst>
        </p14:section>
        <p14:section name="Where it goes" id="{8c96e5fe-923a-a39c-0a9f-2c281cc3abee}">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anything else (60-second opening, demo_script.md):
"This is a feedback ingestion service. Feedback comes from four places: Playstore reviews, tweets, Intercom conversations and Discourse forum posts. Some sources push to us with signed webhooks; Discourse we pull on a timer. Many customers, called tenants, share the service, and each one only ever sees its own data.
The design fits in one sentence: we save the raw payload to disk before we say yes, and everything after that is a retry or a replay. A webhook checks the API key, the source and the signature, writes one row to a raw_events table, and answers 202. A background worker takes rows from that table, asks the right connector to turn each one into a standard feedback record, and saves it keyed on source plus the source's own id. So duplicates collapse to one row, bad payloads go to a dead list, and anything can be replayed."
The three guarantees (whiteboard.md, step 6): durable before ack; idempotent by key; replayable.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requirement maps to code and to a test that proves it (00_architecture.md, requirements map):
- Sources: tests/unit/connectors/test_contract.py, test_registry.py, one test per connector.
- Push: tests/api/test_push_api.py, tests/e2e/test_push_to_query.py.
- Pull: tests/unit/services/test_pull.py, tests/e2e/test_pull_to_query.py, tests/live/test_discourse_live.py.
- Multi-tenancy: tests/adapters/contract_stores.py, tests/api/test_records_api.py.
- Idempotency: tests/e2e/test_push_to_query.py, tests/adapters/contract_upsert.py.
- Several sources of one type: tests/e2e/test_multi_source_same_type.py.
- Beyond the brief: tests/e2e/test_dlq_replay.py, tests/e2e/test_restart_resume.py.
If asked "did you write this": "I designed it and reviewed every file; AI agents wrote and audited the code. Every decision went through a five-advisor council and is in docs/decisions."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1 to 3 (whiteboard.md).
Push arrow: "The webhook does three checks and one write. Whose tenant (API key), which source (id must belong to that tenant), is the signature right (HMAC over the raw bytes with that source's secret). Then one insert, then 202. 202 means saved, not processed."
Pull arrow: "Polling is just another producer. The connector returns pages; every payload goes through the same accept call a webhook uses."
raw_events: "This table is both the audit log and the work queue. Unique on (source, external event id), so a repeated webhook is stored once."
Worker: "One SQL statement: update rows that are pending-and-due or whose lease expired, set processing and a lease, return them. Atomic, so two workers never take the same row. A crashed worker's rows come back when the lease expires."
Connectors: "Nothing else in the system knows which sources exist."
If asked "why not a real queue": "A table I can query, replay by id and filter per tenant. It is one process and zero infrastructure for a demo. The adapter boundary is where Kafka or SQS would go, and I would be honest that a broker changes the retry model, not just the adapter."
Never call raw_events an "outbox". It is an inbox, a durable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sequence (00_architecture.md) and demo step 3 (demo_script.md).
1. "The webhook does three checks and one write." A bad signature is 401 and nothing is stored; the HMAC is checked on the raw bytes before we parse or write.
2. "202 means saved, not processed yet. The second copy has the same event id, the review id plus its last-modified time, so it is dropped, and we still answer 202 so the sender stops retrying."
3. "One SQL statement ... Atomic, so two workers never take the same row. A crashed worker's rows come back when the lease expires."
4. "A connector validates the payload with a Pydantic input model, then maps it to our record."
5. "Unique on (source, external id). The upsert only applies a version that is not older." Outcomes: "Bad payloads die on the first try, they are never retried. Flaky things back off. Marks are fenced on the lease, so a stale worker cannot overwrite a newer claim."
6. "Every request carries an API key. We store only its hash. Every read is filtered by that tenant; a foreign id is a 404, not a 403, so we do not leak existence."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sequence (00_architecture.md), whiteboard step 1, demo step 7.
"Polling is just another producer. The connector fetches pages from the real forum, and every payload goes through the same accept call as a webhook. The bookmark, the cursor, is saved only after the page's rows are on disk. The seed fixes the window to four days in January 2021, so the demo is repeatable."
Detail: the cursor is saved as the max of stored and page cursor; for Discourse it moves only on the final page, because Discourse does not promise oldest-first order, to the newest post minus a 60 s overlap.
Overlap (failure_scenarios.md): "We would rather fetch a post twice than miss it: the bookmark is set a minute back and the unique key drops the repeats."
If asked about rate limits: "The 429 becomes a transient error, the pull stops, saved pages stay saved, and the cursor has not moved, so the next run starts from the same place and repeats are dropped."
Bounded window (debt ledger #6): at most 20 search pages, about 1000 posts, per window; a busier window raises an error and leaves the cursor where it was. "A hard cap with a loud error beats silently skipping posts."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3 and 4 (whiteboard.md), demo step 4, ADR-002.
Records: "Unique on (source, external id). The upsert only applies a version that is not older. Deletes are tombstones and always win. Replaying the raw table rebuilds this table."
Source: "A source is one configured instance, so two Playstore apps are two rows with their own secrets and cursors."
Demo step 4: "Same payload, different source. It is not a duplicate, because both keys include the source id. Two apps can share a review id without colliding."
Why one table plus JSON (ADR-002 rejected alternatives): a table per source type makes every cross-source query a UNION and a new source needs a migration; content-hash dedupe would turn an edited review into a second record. "The source's id is the real identity."
Tenancy: the composite foreign key means a record whose tenant does not match its source cannot be written.
Never say language is detected. It is filled when the source provides it; detection is an enrichment stage we did not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draw when they push (whiteboard.md):
Duplicate webhook (failure_scenarios.md): "Same item, same update time, same key: the second copy is dropped and we still answer 202."
Edits out of order: draw two arrows into one record with timestamps. "COALESCE(updated, created) must not be older. Equal is accepted, so replay works." Or: "A record only moves forward in time: an older edit that arrives late loses the timestamp check."
Source deletes: "deleted_at set, hidden by default, never undone by a later edit."
Transformer bug last week: draw an arrow from raw_events back into the pipeline. "Fix the connector, bump its version, replay the window. No re-fetch, nothing lost." Or: "We keep every raw payload, so a bug costs a replay, not data: fix it, bump the version, replay."
Demo step 6 shows replay: a malformed Playstore payload goes dead on the first try; replay resets attempts and it dies again because the payload really is bad. "That proves replay re-runs the stored payload. After a real connector fix, the same call brings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One-sentence answers from failure_scenarios.md (10k burst from whiteboard.md).
DB down on push: "We never say yes before the row is on disk, so the sender gets a 503 and retries, and nothing we accepted is lost."
Worker crash mid-event: "The lease runs out, the row is picked up again, and the upsert makes doing it twice the same as doing it once."
Worker thread dies: "Health goes red and the queue grows, but intake keeps working; restart the process and the backlog drains from disk." (Demo step 8: kill -9 with 20 pending, restart, they drain.)
Poison payload: "A payload that retrying cannot fix goes straight to the dead list with its reason, and waits there for a fix and a replay."
10k burst: draw a thick arrow into the table. "Inserts are cheap, the 202 stays fast, the backlog drains at the worker's pace. SQLite is one writer; past that, DATABASE_URL points at Postgres."
Noisy tenant: "Today it is first come, first served, so a burst delays others but loses nothing; the fix is a per-tenant rate limit and fair claiming."
Two workers: draw a second worker box with the same claim arrow. "Same single UPDATE. On Postgres I add SKIP LOCKED to that one query." Full line: "It is safe because the claim is a single statement and the upsert is idempotent; it only wastes calls on the scheduler side, so in production one scheduler runs."
Rate-limited pull: "We stop, keep what we already saved, and try again next tick from the same bookmark; the repeats that causes are dropped by the unique key."
Never say SKIP LOCKED runs today. It is the Postgres upgrade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Connectors (whiteboard.md step 3): "A connector validates the payload with a Pydantic input model, then maps it to our record. Nothing else in the system knows which sources exist. Adding Zendesk is one file, one metadata model, one registry entry, one fixture; the contract test fails until all four exist."
(extensions.md recipe 1 also adds SourceType.ZENDESK to domain/enums.py and KIND_BY_SOURCE, reusing a kind: a ticket is a conversation. The completeness test fails right away until it is there.)
Ports and adapters: "Services only import the ports. The same contract test runs against the SQLite adapter and the in-memory fake, so I know the fake behaves like the real thing. That is how a Postgres or broker swap stays a one-file change."
Postgres (extensions.md recipe 2): the claim subquery gets with_for_update(skip_locked=True); upsert and enqueue move to INSERT ... ON CONFLICT; add Alembic migrations. Never say SKIP LOCKED runs today.
Kafka: "Swap the adapter, and change the retry model: visibility timeout instead of leases, no per-message delay." A broker cannot answer "show me tenant X's dead events" or "give me event 42", so the realistic design keeps raw_events as the durable log and puts only event ids on the broker.
Never say Kafka is a one-adapter swap without adding "and a different retry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Debt ledger, top three (debt_ledger.md):
1. #6, the Discourse 20-page cap (discourse_pull.py:26). "A hard cap with a loud error beats silently skipping posts, but a busy forum would get stuck until someone shrinks the window." Upgrade: split the window by date and page through each slice, or shrink the window on its own when the cap is hit.
2. #1, migrations (db.py:30). "We fail fast on schema drift today; the first schema change on real data is when I add Alembic migrations."
3. #12, the shared bootstrap token (tenants.py:18). "A shared token is enough to bootstrap a take-home; production admin needs per-person identity and an audit trail."
Demo (demo_script.md): nine steps, about two minutes. Watch for four things: a duplicate that is stored once, two apps of the same type, a tenant that sees nothing, and a kill -9 that loses nothing. Step 7 needs network (meta.discourse.org); without it run uv run pytest tests/e2e/test_pull_to_query.py -q.
30-second close: "So, the four things: a duplicate stored once, two apps of the same type kept apart, a tenant that sees nothing of another, and a hard kill that lost nothing. Plus a bad payload parked with its reason and replayed, and a live pull through the same pipeline. All of it rests on one rule: save the raw payload before we say yes, then everything is a retry or a replay. Adding a new source is one connector file, one metadata model, one registry line and fixtures. Happy to add a field live, or to break something and show you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Feedback ingestion service</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lIns="0" tIns="0" rIns="0" bIns="0" rtlCol="0" anchor="ctr"/>
          <a:lstStyle/>
          <a:p>
            <a:pPr indent="0" marL="0">
              <a:buNone/>
            </a:pPr>
            <a:r>
              <a:rPr lang="en-US" sz="4400" b="1" dirty="0">
                <a:solidFill>
                  <a:schemeClr val="bg1"/>
                </a:solidFill>
              </a:rPr>
              <a:t>Feedback Ingestion Service</a:t>
            </a: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lIns="0" tIns="0" rIns="0" bIns="0" rtlCol="0" anchor="t"/>
          <a:lstStyle/>
          <a:p>
            <a:pPr indent="0" marL="0">
              <a:buNone/>
            </a:pPr>
            <a:r>
              <a:rPr lang="en-US" sz="2000" dirty="0">
                <a:solidFill>
                  <a:schemeClr val="accent4"/>
                </a:solidFill>
              </a:rPr>
              <a:t>Push, pull and one durable pipe: Intercom, Play Store, Twitter, Discourse</a:t>
            </a:r>
            <a:endParaRPr lang="en-US" sz="2000" dirty="0"/>
          </a:p>
        </p:txBody>
      </p:sp>
      <p:sp>
        <p:nvSpPr>
          <p:cNvPr id="4" name="quote-mark-1"/>
          <p:cNvSpPr txBox="1"/>
          <p:nvPr/>
        </p:nvSpPr>
        <p:spPr>
          <a:xfrm>
            <a:off x="502920" y="2514600"/>
            <a:ext cx="914400" cy="914400"/>
          </a:xfrm>
          <a:prstGeom prst="rect">
            <a:avLst/>
          </a:prstGeom>
          <a:noFill/>
          <a:ln/>
        </p:spPr>
        <p:txBody>
          <a:bodyPr wrap="square" lIns="0" tIns="0" rIns="0" bIns="0" rtlCol="0" anchor="t"/>
          <a:lstStyle/>
          <a:p>
            <a:pPr indent="0" marL="0">
              <a:buNone/>
            </a:pPr>
            <a:r>
              <a:rPr lang="en-US" sz="9600" b="1" dirty="0">
                <a:solidFill>
                  <a:schemeClr val="accent1"/>
                </a:solidFill>
                <a:latin typeface="Arial" pitchFamily="34" charset="0"/>
                <a:ea typeface="Arial" pitchFamily="34" charset="-122"/>
                <a:cs typeface="Arial" pitchFamily="34" charset="-120"/>
              </a:rPr>
              <a:t>“</a:t>
            </a:r>
            <a:endParaRPr lang="en-US" sz="9600" dirty="0"/>
          </a:p>
        </p:txBody>
      </p:sp>
      <p:sp>
        <p:nvSpPr>
          <p:cNvPr id="5" name="one-sentence-2"/>
          <p:cNvSpPr txBox="1"/>
          <p:nvPr/>
        </p:nvSpPr>
        <p:spPr>
          <a:xfrm>
            <a:off x="1371600" y="2743200"/>
            <a:ext cx="10271455" cy="1463040"/>
          </a:xfrm>
          <a:prstGeom prst="rect">
            <a:avLst/>
          </a:prstGeom>
          <a:noFill/>
          <a:ln/>
        </p:spPr>
        <p:txBody>
          <a:bodyPr wrap="square" lIns="0" tIns="0" rIns="0" bIns="0" rtlCol="0" anchor="ctr"/>
          <a:lstStyle/>
          <a:p>
            <a:pPr indent="0" marL="0">
              <a:buNone/>
            </a:pPr>
            <a:r>
              <a:rPr lang="en-US" sz="3200" b="1" dirty="0">
                <a:solidFill>
                  <a:schemeClr val="bg1"/>
                </a:solidFill>
                <a:latin typeface="Arial" pitchFamily="34" charset="0"/>
                <a:ea typeface="Arial" pitchFamily="34" charset="-122"/>
                <a:cs typeface="Arial" pitchFamily="34" charset="-120"/>
              </a:rPr>
              <a:t>We save the raw payload to disk before we say yes;</a:t>
            </a:r>
            <a:endParaRPr lang="en-US" sz="3200" dirty="0"/>
          </a:p>
          <a:p>
            <a:pPr indent="0" marL="0">
              <a:buNone/>
            </a:pPr>
            <a:r>
              <a:rPr lang="en-US" sz="3200" b="1" dirty="0">
                <a:solidFill>
                  <a:schemeClr val="accent1"/>
                </a:solidFill>
                <a:latin typeface="Arial" pitchFamily="34" charset="0"/>
                <a:ea typeface="Arial" pitchFamily="34" charset="-122"/>
                <a:cs typeface="Arial" pitchFamily="34" charset="-120"/>
              </a:rPr>
              <a:t>everything after that is a retry or a replay.</a:t>
            </a:r>
            <a:endParaRPr lang="en-US" sz="3200" dirty="0"/>
          </a:p>
        </p:txBody>
      </p:sp>
      <p:sp>
        <p:nvSpPr>
          <p:cNvPr id="6" name="guarantee-3"/>
          <p:cNvSpPr txBox="1"/>
          <p:nvPr/>
        </p:nvSpPr>
        <p:spPr>
          <a:xfrm>
            <a:off x="137160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Durable before ack</a:t>
            </a:r>
            <a:endParaRPr lang="en-US" sz="1700" dirty="0"/>
          </a:p>
        </p:txBody>
      </p:sp>
      <p:sp>
        <p:nvSpPr>
          <p:cNvPr id="7" name="guarantee-4"/>
          <p:cNvSpPr txBox="1"/>
          <p:nvPr/>
        </p:nvSpPr>
        <p:spPr>
          <a:xfrm>
            <a:off x="461772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Idempotent by key</a:t>
            </a:r>
            <a:endParaRPr lang="en-US" sz="1700" dirty="0"/>
          </a:p>
        </p:txBody>
      </p:sp>
      <p:sp>
        <p:nvSpPr>
          <p:cNvPr id="8" name="guarantee-5"/>
          <p:cNvSpPr txBox="1"/>
          <p:nvPr/>
        </p:nvSpPr>
        <p:spPr>
          <a:xfrm>
            <a:off x="786384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Replayable from raw</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The assignment, and where each part is met</a:t>
            </a:r>
            <a:endParaRPr lang="en-US" sz="3400" dirty="0"/>
          </a:p>
        </p:txBody>
      </p:sp>
      <p:graphicFrame>
        <p:nvGraphicFramePr>
          <p:cNvPr id="3" name="requirements-6"/>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02920"/>
                <a:gridCol w="4572000"/>
                <a:gridCol w="1417320"/>
                <a:gridCol w="4599432"/>
              </a:tblGrid>
              <a:tr h="475488">
                <a:tc>
                  <a:txBody>
                    <a:bodyPr/>
                    <a:lstStyle/>
                    <a:p>
                      <a:pPr indent="0" marL="0">
                        <a:buNone/>
                      </a:pP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Requirement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Level</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Where it is met (feedback_ingest/)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Heterogeneous sources: Intercom, Play Store, Twitter, Discourse</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connectors/*.py, connectors/registry.py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Push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api/ingest.py, services/ingestion.py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Pull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services/pull.py, scheduler.py, connectors/discourse_pull.py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Source-specific metadata (app version, country, ...)</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domain/metadata.py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Multi-tenancy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api/deps.py, composite FKs in tables.py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Uniform structure: kind + common attributes</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domain/models.py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Idempotency (de-dupe)</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UNIQUE keys, SqlFeedbackStore.upsert</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Several sources of one type per tenant</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keys on source_id, api/sources.py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Beyond the brief: durable ack, retry, dead letter, replay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Extra</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services/pipeline.py, worker.py, api/admin.py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Two doors in, one pipe</a:t>
            </a:r>
            <a:endParaRPr lang="en-US" sz="3400" dirty="0"/>
          </a:p>
        </p:txBody>
      </p:sp>
      <p:sp>
        <p:nvSpPr>
          <p:cNvPr id="3" name="source-7"/>
          <p:cNvSpPr txBox="1"/>
          <p:nvPr/>
        </p:nvSpPr>
        <p:spPr>
          <a:xfrm>
            <a:off x="548640" y="1325880"/>
            <a:ext cx="1828800" cy="2377440"/>
          </a:xfrm>
          <a:prstGeom prst="roundRect">
            <a:avLst>
              <a:gd name="adj" fmla="val 4000"/>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Source</a:t>
            </a:r>
            <a:endParaRPr lang="en-US" sz="1500" dirty="0"/>
          </a:p>
          <a:p>
            <a:pPr algn="l" indent="0" marL="0">
              <a:buNone/>
            </a:pPr>
            <a:r>
              <a:rPr lang="en-US" sz="1400" dirty="0">
                <a:solidFill>
                  <a:schemeClr val="tx2"/>
                </a:solidFill>
              </a:rPr>
              <a:t>Intercom</a:t>
            </a:r>
            <a:endParaRPr lang="en-US" sz="1500" dirty="0"/>
          </a:p>
          <a:p>
            <a:pPr algn="l" indent="0" marL="0">
              <a:buNone/>
            </a:pPr>
            <a:r>
              <a:rPr lang="en-US" sz="1400" dirty="0">
                <a:solidFill>
                  <a:schemeClr val="tx2"/>
                </a:solidFill>
              </a:rPr>
              <a:t>Playstore</a:t>
            </a:r>
            <a:endParaRPr lang="en-US" sz="1500" dirty="0"/>
          </a:p>
          <a:p>
            <a:pPr algn="l" indent="0" marL="0">
              <a:buNone/>
            </a:pPr>
            <a:r>
              <a:rPr lang="en-US" sz="1400" dirty="0">
                <a:solidFill>
                  <a:schemeClr val="tx2"/>
                </a:solidFill>
              </a:rPr>
              <a:t>Twitter</a:t>
            </a:r>
            <a:endParaRPr lang="en-US" sz="1500" dirty="0"/>
          </a:p>
          <a:p>
            <a:pPr algn="l" indent="0" marL="0">
              <a:buNone/>
            </a:pPr>
            <a:r>
              <a:rPr lang="en-US" sz="1400" dirty="0">
                <a:solidFill>
                  <a:schemeClr val="tx2"/>
                </a:solidFill>
              </a:rPr>
              <a:t>Discourse</a:t>
            </a:r>
            <a:endParaRPr lang="en-US" sz="1500" dirty="0"/>
          </a:p>
        </p:txBody>
      </p:sp>
      <p:sp>
        <p:nvSpPr>
          <p:cNvPr id="4" name="push-door-8"/>
          <p:cNvSpPr txBox="1"/>
          <p:nvPr/>
        </p:nvSpPr>
        <p:spPr>
          <a:xfrm>
            <a:off x="2743200" y="132588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push · webhook</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POST /v1/sources/{id}/events</a:t>
            </a:r>
            <a:endParaRPr lang="en-US" sz="1500" dirty="0"/>
          </a:p>
          <a:p>
            <a:pPr algn="l" indent="0" marL="0">
              <a:buNone/>
            </a:pPr>
            <a:r>
              <a:rPr lang="en-US" sz="1200" dirty="0">
                <a:solidFill>
                  <a:schemeClr val="tx2"/>
                </a:solidFill>
              </a:rPr>
              <a:t>API key → tenant, source ∈ tenant, HMAC over raw body</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500" dirty="0"/>
          </a:p>
        </p:txBody>
      </p:sp>
      <p:sp>
        <p:nvSpPr>
          <p:cNvPr id="5" name="pull-door-9"/>
          <p:cNvSpPr txBox="1"/>
          <p:nvPr/>
        </p:nvSpPr>
        <p:spPr>
          <a:xfrm>
            <a:off x="2743200" y="260604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pull · poll</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tick or POST .../sync</a:t>
            </a:r>
            <a:endParaRPr lang="en-US" sz="1500" dirty="0"/>
          </a:p>
          <a:p>
            <a:pPr algn="l" indent="0" marL="0">
              <a:buNone/>
            </a:pPr>
            <a:r>
              <a:rPr lang="en-US" sz="1200" dirty="0">
                <a:solidFill>
                  <a:schemeClr val="tx2"/>
                </a:solidFill>
              </a:rPr>
              <a:t>PullService.sync → PULLERS[type].pull</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500" dirty="0"/>
          </a:p>
        </p:txBody>
      </p:sp>
      <p:sp>
        <p:nvSpPr>
          <p:cNvPr id="6" name="accept-10"/>
          <p:cNvSpPr txBox="1"/>
          <p:nvPr/>
        </p:nvSpPr>
        <p:spPr>
          <a:xfrm>
            <a:off x="5852160" y="1325880"/>
            <a:ext cx="2743200" cy="2377440"/>
          </a:xfrm>
          <a:prstGeom prst="roundRect">
            <a:avLst>
              <a:gd name="adj" fmla="val 307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IngestionService.accept</a:t>
            </a:r>
            <a:endParaRPr lang="en-US" sz="1500" dirty="0"/>
          </a:p>
          <a:p>
            <a:pPr algn="l" indent="0" marL="0">
              <a:buNone/>
            </a:pPr>
            <a:r>
              <a:rPr lang="en-US" sz="1200" dirty="0">
                <a:solidFill>
                  <a:schemeClr val="tx2"/>
                </a:solidFill>
              </a:rPr>
              <a:t>one call per payload, push or pull</a:t>
            </a:r>
            <a:endParaRPr lang="en-US" sz="1500" dirty="0"/>
          </a:p>
          <a:p>
            <a:pPr algn="l" indent="0" marL="0">
              <a:buNone/>
            </a:pPr>
            <a:r>
              <a:rPr lang="en-US" sz="1200" dirty="0">
                <a:solidFill>
                  <a:schemeClr val="tx2"/>
                </a:solidFill>
              </a:rPr>
              <a:t>202 {raw_event_id, duplicate}</a:t>
            </a:r>
            <a:endParaRPr lang="en-US" sz="1500" dirty="0"/>
          </a:p>
          <a:p>
            <a:pPr algn="l" indent="0" marL="0">
              <a:buNone/>
            </a:pPr>
            <a:r>
              <a:rPr lang="en-US" sz="1200" b="1" dirty="0">
                <a:solidFill>
                  <a:schemeClr val="tx1"/>
                </a:solidFill>
              </a:rPr>
              <a:t>storage down → 503, never 202</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500" dirty="0"/>
          </a:p>
        </p:txBody>
      </p:sp>
      <p:sp>
        <p:nvSpPr>
          <p:cNvPr id="7" name="raw-events-11"/>
          <p:cNvSpPr txBox="1"/>
          <p:nvPr/>
        </p:nvSpPr>
        <p:spPr>
          <a:xfrm>
            <a:off x="8961120" y="1325880"/>
            <a:ext cx="2679192" cy="2377440"/>
          </a:xfrm>
          <a:prstGeom prst="roundRect">
            <a:avLst>
              <a:gd name="adj" fmla="val 307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700" b="1" dirty="0">
                <a:solidFill>
                  <a:schemeClr val="tx1"/>
                </a:solidFill>
              </a:rPr>
              <a:t>raw_events</a:t>
            </a:r>
            <a:endParaRPr lang="en-US" sz="1700" dirty="0"/>
          </a:p>
          <a:p>
            <a:pPr algn="l" indent="0" marL="0">
              <a:buNone/>
            </a:pPr>
            <a:r>
              <a:rPr lang="en-US" sz="1200" dirty="0">
                <a:solidFill>
                  <a:schemeClr val="tx2"/>
                </a:solidFill>
              </a:rPr>
              <a:t>audit log + work queue</a:t>
            </a:r>
            <a:endParaRPr lang="en-US" sz="1700" dirty="0"/>
          </a:p>
          <a:p>
            <a:pPr algn="l" indent="0" marL="0">
              <a:buNone/>
            </a:pPr>
            <a:r>
              <a:rPr lang="en-US" sz="1200" dirty="0">
                <a:solidFill>
                  <a:schemeClr val="tx2"/>
                </a:solidFill>
              </a:rPr>
              <a:t>status = pending</a:t>
            </a:r>
            <a:endParaRPr lang="en-US" sz="17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external_event_id)</a:t>
            </a:r>
            <a:endParaRPr lang="en-US" sz="1700" dirty="0"/>
          </a:p>
        </p:txBody>
      </p:sp>
      <p:sp>
        <p:nvSpPr>
          <p:cNvPr id="8" name="arrow-12"/>
          <p:cNvSpPr/>
          <p:nvPr/>
        </p:nvSpPr>
        <p:spPr>
          <a:xfrm>
            <a:off x="2377440" y="1874520"/>
            <a:ext cx="365760" cy="0"/>
          </a:xfrm>
          <a:prstGeom prst="line">
            <a:avLst/>
          </a:prstGeom>
          <a:noFill/>
          <a:ln w="25400">
            <a:solidFill>
              <a:schemeClr val="tx1"/>
            </a:solidFill>
            <a:prstDash val="solid"/>
            <a:tailEnd type="triangle"/>
          </a:ln>
        </p:spPr>
      </p:sp>
      <p:sp>
        <p:nvSpPr>
          <p:cNvPr id="9" name="arrow-13"/>
          <p:cNvSpPr/>
          <p:nvPr/>
        </p:nvSpPr>
        <p:spPr>
          <a:xfrm>
            <a:off x="2377440" y="3154680"/>
            <a:ext cx="365760" cy="0"/>
          </a:xfrm>
          <a:prstGeom prst="line">
            <a:avLst/>
          </a:prstGeom>
          <a:noFill/>
          <a:ln w="25400">
            <a:solidFill>
              <a:schemeClr val="tx1"/>
            </a:solidFill>
            <a:prstDash val="solid"/>
            <a:tailEnd type="triangle"/>
          </a:ln>
        </p:spPr>
      </p:sp>
      <p:sp>
        <p:nvSpPr>
          <p:cNvPr id="10" name="arrow-14"/>
          <p:cNvSpPr/>
          <p:nvPr/>
        </p:nvSpPr>
        <p:spPr>
          <a:xfrm>
            <a:off x="5486400" y="1874520"/>
            <a:ext cx="365760" cy="0"/>
          </a:xfrm>
          <a:prstGeom prst="line">
            <a:avLst/>
          </a:prstGeom>
          <a:noFill/>
          <a:ln w="25400">
            <a:solidFill>
              <a:schemeClr val="tx1"/>
            </a:solidFill>
            <a:prstDash val="solid"/>
            <a:tailEnd type="triangle"/>
          </a:ln>
        </p:spPr>
      </p:sp>
      <p:sp>
        <p:nvSpPr>
          <p:cNvPr id="11" name="arrow-15"/>
          <p:cNvSpPr/>
          <p:nvPr/>
        </p:nvSpPr>
        <p:spPr>
          <a:xfrm>
            <a:off x="5486400" y="3154680"/>
            <a:ext cx="365760" cy="0"/>
          </a:xfrm>
          <a:prstGeom prst="line">
            <a:avLst/>
          </a:prstGeom>
          <a:noFill/>
          <a:ln w="25400">
            <a:solidFill>
              <a:schemeClr val="tx1"/>
            </a:solidFill>
            <a:prstDash val="solid"/>
            <a:tailEnd type="triangle"/>
          </a:ln>
        </p:spPr>
      </p:sp>
      <p:sp>
        <p:nvSpPr>
          <p:cNvPr id="12" name="arrow-16"/>
          <p:cNvSpPr/>
          <p:nvPr/>
        </p:nvSpPr>
        <p:spPr>
          <a:xfrm>
            <a:off x="8595360" y="2514600"/>
            <a:ext cx="365760" cy="0"/>
          </a:xfrm>
          <a:prstGeom prst="line">
            <a:avLst/>
          </a:prstGeom>
          <a:noFill/>
          <a:ln w="25400">
            <a:solidFill>
              <a:schemeClr val="tx1"/>
            </a:solidFill>
            <a:prstDash val="solid"/>
            <a:tailEnd type="triangle"/>
          </a:ln>
        </p:spPr>
      </p:sp>
      <p:sp>
        <p:nvSpPr>
          <p:cNvPr id="13" name="worker-17"/>
          <p:cNvSpPr txBox="1"/>
          <p:nvPr/>
        </p:nvSpPr>
        <p:spPr>
          <a:xfrm>
            <a:off x="8961120" y="4434840"/>
            <a:ext cx="2679192"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WorkerService</a:t>
            </a:r>
            <a:endParaRPr lang="en-US" sz="1500" dirty="0"/>
          </a:p>
          <a:p>
            <a:pPr algn="l" indent="0" marL="0">
              <a:buNone/>
            </a:pPr>
            <a:r>
              <a:rPr lang="en-US" sz="1200" dirty="0">
                <a:solidFill>
                  <a:schemeClr val="tx2"/>
                </a:solidFill>
              </a:rPr>
              <a:t>thread; claims a batch with a lease, attempts + 1</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500" dirty="0"/>
          </a:p>
        </p:txBody>
      </p:sp>
      <p:sp>
        <p:nvSpPr>
          <p:cNvPr id="14" name="pipeline-18"/>
          <p:cNvSpPr txBox="1"/>
          <p:nvPr/>
        </p:nvSpPr>
        <p:spPr>
          <a:xfrm>
            <a:off x="585216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PipelineService.process</a:t>
            </a:r>
            <a:endParaRPr lang="en-US" sz="1500" dirty="0"/>
          </a:p>
          <a:p>
            <a:pPr algn="l" indent="0" marL="0">
              <a:buNone/>
            </a:pPr>
            <a:r>
              <a:rPr lang="en-US" sz="1200" dirty="0">
                <a:solidFill>
                  <a:schemeClr val="tx2"/>
                </a:solidFill>
              </a:rPr>
              <a:t>CONNECTORS[source.type].transform → [FeedbackRecord]</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services/pipeline.py</a:t>
            </a:r>
            <a:endParaRPr lang="en-US" sz="1500" dirty="0"/>
          </a:p>
        </p:txBody>
      </p:sp>
      <p:sp>
        <p:nvSpPr>
          <p:cNvPr id="15" name="upsert-19"/>
          <p:cNvSpPr txBox="1"/>
          <p:nvPr/>
        </p:nvSpPr>
        <p:spPr>
          <a:xfrm>
            <a:off x="274320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FeedbackStore.upsert</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external_id)</a:t>
            </a:r>
            <a:endParaRPr lang="en-US" sz="1500" dirty="0"/>
          </a:p>
          <a:p>
            <a:pPr algn="l" indent="0" marL="0">
              <a:buNone/>
            </a:pPr>
            <a:r>
              <a:rPr lang="en-US" sz="1200" dirty="0">
                <a:solidFill>
                  <a:schemeClr val="tx2"/>
                </a:solidFill>
              </a:rPr>
              <a:t>newer version wins, tombstones stick</a:t>
            </a:r>
            <a:endParaRPr lang="en-US" sz="1500" dirty="0"/>
          </a:p>
        </p:txBody>
      </p:sp>
      <p:sp>
        <p:nvSpPr>
          <p:cNvPr id="16" name="query-20"/>
          <p:cNvSpPr txBox="1"/>
          <p:nvPr/>
        </p:nvSpPr>
        <p:spPr>
          <a:xfrm>
            <a:off x="548640" y="4434840"/>
            <a:ext cx="18288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Query</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GET /v1/records</a:t>
            </a:r>
            <a:endParaRPr lang="en-US" sz="1500" dirty="0"/>
          </a:p>
          <a:p>
            <a:pPr algn="l" indent="0" marL="0">
              <a:buNone/>
            </a:pPr>
            <a:r>
              <a:rPr lang="en-US" sz="1200" dirty="0">
                <a:solidFill>
                  <a:schemeClr val="tx2"/>
                </a:solidFill>
              </a:rPr>
              <a:t>?source_id &amp;kind &amp;since</a:t>
            </a:r>
            <a:endParaRPr lang="en-US" sz="1500" dirty="0"/>
          </a:p>
        </p:txBody>
      </p:sp>
      <p:sp>
        <p:nvSpPr>
          <p:cNvPr id="17" name="arrow-21"/>
          <p:cNvSpPr/>
          <p:nvPr/>
        </p:nvSpPr>
        <p:spPr>
          <a:xfrm flipH="1">
            <a:off x="8595360" y="5029200"/>
            <a:ext cx="365760" cy="0"/>
          </a:xfrm>
          <a:prstGeom prst="line">
            <a:avLst/>
          </a:prstGeom>
          <a:noFill/>
          <a:ln w="25400">
            <a:solidFill>
              <a:schemeClr val="tx1"/>
            </a:solidFill>
            <a:prstDash val="solid"/>
            <a:tailEnd type="triangle"/>
          </a:ln>
        </p:spPr>
      </p:sp>
      <p:sp>
        <p:nvSpPr>
          <p:cNvPr id="18" name="arrow-22"/>
          <p:cNvSpPr/>
          <p:nvPr/>
        </p:nvSpPr>
        <p:spPr>
          <a:xfrm flipH="1">
            <a:off x="5486400" y="5029200"/>
            <a:ext cx="365760" cy="0"/>
          </a:xfrm>
          <a:prstGeom prst="line">
            <a:avLst/>
          </a:prstGeom>
          <a:noFill/>
          <a:ln w="25400">
            <a:solidFill>
              <a:schemeClr val="tx1"/>
            </a:solidFill>
            <a:prstDash val="solid"/>
            <a:tailEnd type="triangle"/>
          </a:ln>
        </p:spPr>
      </p:sp>
      <p:sp>
        <p:nvSpPr>
          <p:cNvPr id="19" name="arrow-23"/>
          <p:cNvSpPr/>
          <p:nvPr/>
        </p:nvSpPr>
        <p:spPr>
          <a:xfrm flipH="1">
            <a:off x="2377440" y="5029200"/>
            <a:ext cx="365760" cy="0"/>
          </a:xfrm>
          <a:prstGeom prst="line">
            <a:avLst/>
          </a:prstGeom>
          <a:noFill/>
          <a:ln w="25400">
            <a:solidFill>
              <a:schemeClr val="tx1"/>
            </a:solidFill>
            <a:prstDash val="solid"/>
            <a:tailEnd type="triangle"/>
          </a:ln>
        </p:spPr>
      </p:sp>
      <p:sp>
        <p:nvSpPr>
          <p:cNvPr id="20" name="arrow-24"/>
          <p:cNvSpPr/>
          <p:nvPr/>
        </p:nvSpPr>
        <p:spPr>
          <a:xfrm>
            <a:off x="9555480" y="3703320"/>
            <a:ext cx="0" cy="731520"/>
          </a:xfrm>
          <a:prstGeom prst="line">
            <a:avLst/>
          </a:prstGeom>
          <a:noFill/>
          <a:ln w="25400">
            <a:solidFill>
              <a:schemeClr val="accent1"/>
            </a:solidFill>
            <a:prstDash val="solid"/>
            <a:tailEnd type="triangle"/>
          </a:ln>
        </p:spPr>
      </p:sp>
      <p:sp>
        <p:nvSpPr>
          <p:cNvPr id="21" name="arrow-25"/>
          <p:cNvSpPr/>
          <p:nvPr/>
        </p:nvSpPr>
        <p:spPr>
          <a:xfrm flipV="1">
            <a:off x="11064240" y="3703320"/>
            <a:ext cx="0" cy="731520"/>
          </a:xfrm>
          <a:prstGeom prst="line">
            <a:avLst/>
          </a:prstGeom>
          <a:noFill/>
          <a:ln w="25400">
            <a:solidFill>
              <a:schemeClr val="tx1"/>
            </a:solidFill>
            <a:prstDash val="solid"/>
            <a:tailEnd type="triangle"/>
          </a:ln>
        </p:spPr>
      </p:sp>
      <p:sp>
        <p:nvSpPr>
          <p:cNvPr id="22" name="claim-label-26"/>
          <p:cNvSpPr txBox="1"/>
          <p:nvPr/>
        </p:nvSpPr>
        <p:spPr>
          <a:xfrm>
            <a:off x="7315200" y="3886200"/>
            <a:ext cx="2148840" cy="365760"/>
          </a:xfrm>
          <a:prstGeom prst="rect">
            <a:avLst/>
          </a:prstGeom>
          <a:noFill/>
          <a:ln/>
        </p:spPr>
        <p:txBody>
          <a:bodyPr wrap="square" lIns="0" tIns="0" rIns="0" bIns="0" rtlCol="0" anchor="ctr"/>
          <a:lstStyle/>
          <a:p>
            <a:pPr algn="r" indent="0" marL="0">
              <a:buNone/>
            </a:pPr>
            <a:r>
              <a:rPr lang="en-US" sz="1200" b="1" dirty="0">
                <a:solidFill>
                  <a:schemeClr val="accent1"/>
                </a:solidFill>
              </a:rPr>
              <a:t>claim with lease</a:t>
            </a:r>
            <a:endParaRPr lang="en-US" sz="1200" dirty="0"/>
          </a:p>
        </p:txBody>
      </p:sp>
      <p:sp>
        <p:nvSpPr>
          <p:cNvPr id="23" name="mark-label-27"/>
          <p:cNvSpPr txBox="1"/>
          <p:nvPr/>
        </p:nvSpPr>
        <p:spPr>
          <a:xfrm>
            <a:off x="9692640" y="3840480"/>
            <a:ext cx="1280160" cy="457200"/>
          </a:xfrm>
          <a:prstGeom prst="rect">
            <a:avLst/>
          </a:prstGeom>
          <a:noFill/>
          <a:ln/>
        </p:spPr>
        <p:txBody>
          <a:bodyPr wrap="square" lIns="0" tIns="0" rIns="0" bIns="0" rtlCol="0" anchor="ctr"/>
          <a:lstStyle/>
          <a:p>
            <a:pPr algn="r" indent="0" marL="0">
              <a:buNone/>
            </a:pPr>
            <a:r>
              <a:rPr lang="en-US" sz="1100" dirty="0">
                <a:solidFill>
                  <a:schemeClr val="tx2"/>
                </a:solidFill>
              </a:rPr>
              <a:t>processed | failed | dead</a:t>
            </a:r>
            <a:endParaRPr lang="en-US" sz="1100" dirty="0"/>
          </a:p>
        </p:txBody>
      </p:sp>
      <p:sp>
        <p:nvSpPr>
          <p:cNvPr id="24" name="ops-28"/>
          <p:cNvSpPr txBox="1"/>
          <p:nvPr/>
        </p:nvSpPr>
        <p:spPr>
          <a:xfrm>
            <a:off x="548640" y="5806440"/>
            <a:ext cx="11094415" cy="457200"/>
          </a:xfrm>
          <a:prstGeom prst="roundRect">
            <a:avLst>
              <a:gd name="adj" fmla="val 16000"/>
            </a:avLst>
          </a:prstGeom>
          <a:solidFill>
            <a:schemeClr val="bg2"/>
          </a:solidFill>
          <a:ln w="6350">
            <a:solidFill>
              <a:schemeClr val="bg2"/>
            </a:solidFill>
          </a:ln>
        </p:spPr>
        <p:txBody>
          <a:bodyPr wrap="square" lIns="127000" tIns="127000" rIns="127000" bIns="127000" rtlCol="0" anchor="ctr"/>
          <a:lstStyle/>
          <a:p>
            <a:pPr indent="0" marL="0">
              <a:buNone/>
            </a:pPr>
            <a:r>
              <a:rPr lang="en-US" sz="1300" b="1" dirty="0">
                <a:solidFill>
                  <a:schemeClr val="tx1"/>
                </a:solidFill>
              </a:rPr>
              <a:t>Ops   </a:t>
            </a:r>
            <a:pPr indent="0" marL="0">
              <a:buNone/>
            </a:pPr>
            <a:r>
              <a:rPr lang="en-US" sz="1200" dirty="0">
                <a:solidFill>
                  <a:schemeClr val="tx1"/>
                </a:solidFill>
                <a:latin typeface="Courier New" pitchFamily="34" charset="0"/>
                <a:ea typeface="Courier New" pitchFamily="34" charset="-122"/>
                <a:cs typeface="Courier New" pitchFamily="34" charset="-120"/>
              </a:rPr>
              <a:t>GET /health    GET /admin/raw-events?status=dead    POST /admin/raw-events/{id}/replay</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payload's journey (push)</a:t>
            </a:r>
            <a:endParaRPr lang="en-US" sz="3400" dirty="0"/>
          </a:p>
        </p:txBody>
      </p:sp>
      <p:sp>
        <p:nvSpPr>
          <p:cNvPr id="3" name="card-29"/>
          <p:cNvSpPr/>
          <p:nvPr/>
        </p:nvSpPr>
        <p:spPr>
          <a:xfrm>
            <a:off x="548640" y="1325880"/>
            <a:ext cx="3383280" cy="2286000"/>
          </a:xfrm>
          <a:prstGeom prst="roundRect">
            <a:avLst>
              <a:gd name="adj" fmla="val 3200"/>
            </a:avLst>
          </a:prstGeom>
          <a:solidFill>
            <a:schemeClr val="bg1"/>
          </a:solidFill>
          <a:ln w="19050">
            <a:solidFill>
              <a:schemeClr val="tx1"/>
            </a:solidFill>
            <a:prstDash val="solid"/>
          </a:ln>
        </p:spPr>
      </p:sp>
      <p:sp>
        <p:nvSpPr>
          <p:cNvPr id="4" name="step-30"/>
          <p:cNvSpPr txBox="1"/>
          <p:nvPr/>
        </p:nvSpPr>
        <p:spPr>
          <a:xfrm>
            <a:off x="731520"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card-title-31"/>
          <p:cNvSpPr txBox="1"/>
          <p:nvPr/>
        </p:nvSpPr>
        <p:spPr>
          <a:xfrm>
            <a:off x="1325880"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Webhook checks</a:t>
            </a:r>
            <a:endParaRPr lang="en-US" sz="1800" dirty="0"/>
          </a:p>
        </p:txBody>
      </p:sp>
      <p:sp>
        <p:nvSpPr>
          <p:cNvPr id="6" name="card-body-32"/>
          <p:cNvSpPr txBox="1"/>
          <p:nvPr/>
        </p:nvSpPr>
        <p:spPr>
          <a:xfrm>
            <a:off x="731520"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API key → tenant (hash lookup)</a:t>
            </a:r>
            <a:endParaRPr lang="en-US" sz="1300" dirty="0"/>
          </a:p>
          <a:p>
            <a:pPr marL="342900" indent="-342900">
              <a:spcAft>
                <a:spcPts val="300"/>
              </a:spcAft>
              <a:buSzPct val="100000"/>
              <a:buChar char="•"/>
            </a:pPr>
            <a:r>
              <a:rPr lang="en-US" sz="1300" dirty="0">
                <a:solidFill>
                  <a:schemeClr val="tx1"/>
                </a:solidFill>
              </a:rPr>
              <a:t>source must belong to that tenant</a:t>
            </a:r>
            <a:endParaRPr lang="en-US" sz="1300" dirty="0"/>
          </a:p>
          <a:p>
            <a:pPr marL="342900" indent="-342900">
              <a:spcAft>
                <a:spcPts val="300"/>
              </a:spcAft>
              <a:buSzPct val="100000"/>
              <a:buChar char="•"/>
            </a:pPr>
            <a:r>
              <a:rPr lang="en-US" sz="1300" dirty="0">
                <a:solidFill>
                  <a:schemeClr val="tx1"/>
                </a:solidFill>
              </a:rPr>
              <a:t>HMAC-SHA256 over the raw bytes</a:t>
            </a:r>
            <a:endParaRPr lang="en-US" sz="1300" dirty="0"/>
          </a:p>
          <a:p>
            <a:pPr marL="342900" indent="-342900">
              <a:spcAft>
                <a:spcPts val="300"/>
              </a:spcAft>
              <a:buSzPct val="100000"/>
              <a:buChar char="•"/>
            </a:pPr>
            <a:r>
              <a:rPr lang="en-US" sz="1300" dirty="0">
                <a:solidFill>
                  <a:schemeClr val="tx1"/>
                </a:solidFill>
              </a:rPr>
              <a:t>fails: 401, 404, 409 or 400</a:t>
            </a:r>
            <a:endParaRPr lang="en-US" sz="1300" dirty="0"/>
          </a:p>
        </p:txBody>
      </p:sp>
      <p:sp>
        <p:nvSpPr>
          <p:cNvPr id="7" name="card-path-33"/>
          <p:cNvSpPr txBox="1"/>
          <p:nvPr/>
        </p:nvSpPr>
        <p:spPr>
          <a:xfrm>
            <a:off x="731520"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100" dirty="0"/>
          </a:p>
        </p:txBody>
      </p:sp>
      <p:sp>
        <p:nvSpPr>
          <p:cNvPr id="8" name="arrow-34"/>
          <p:cNvSpPr/>
          <p:nvPr/>
        </p:nvSpPr>
        <p:spPr>
          <a:xfrm>
            <a:off x="4005072" y="2468880"/>
            <a:ext cx="324612" cy="0"/>
          </a:xfrm>
          <a:prstGeom prst="line">
            <a:avLst/>
          </a:prstGeom>
          <a:noFill/>
          <a:ln w="25400">
            <a:solidFill>
              <a:schemeClr val="tx1"/>
            </a:solidFill>
            <a:prstDash val="solid"/>
            <a:tailEnd type="triangle"/>
          </a:ln>
        </p:spPr>
      </p:sp>
      <p:sp>
        <p:nvSpPr>
          <p:cNvPr id="9" name="card-35"/>
          <p:cNvSpPr/>
          <p:nvPr/>
        </p:nvSpPr>
        <p:spPr>
          <a:xfrm>
            <a:off x="4402836" y="1325880"/>
            <a:ext cx="3383280" cy="2286000"/>
          </a:xfrm>
          <a:prstGeom prst="roundRect">
            <a:avLst>
              <a:gd name="adj" fmla="val 3200"/>
            </a:avLst>
          </a:prstGeom>
          <a:solidFill>
            <a:schemeClr val="accent5"/>
          </a:solidFill>
          <a:ln w="31750">
            <a:solidFill>
              <a:schemeClr val="accent1"/>
            </a:solidFill>
            <a:prstDash val="solid"/>
          </a:ln>
        </p:spPr>
      </p:sp>
      <p:sp>
        <p:nvSpPr>
          <p:cNvPr id="10" name="step-36"/>
          <p:cNvSpPr txBox="1"/>
          <p:nvPr/>
        </p:nvSpPr>
        <p:spPr>
          <a:xfrm>
            <a:off x="4585716"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card-title-37"/>
          <p:cNvSpPr txBox="1"/>
          <p:nvPr/>
        </p:nvSpPr>
        <p:spPr>
          <a:xfrm>
            <a:off x="5180076"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Insert into raw_events</a:t>
            </a:r>
            <a:endParaRPr lang="en-US" sz="1800" dirty="0"/>
          </a:p>
        </p:txBody>
      </p:sp>
      <p:sp>
        <p:nvSpPr>
          <p:cNvPr id="12" name="card-body-38"/>
          <p:cNvSpPr txBox="1"/>
          <p:nvPr/>
        </p:nvSpPr>
        <p:spPr>
          <a:xfrm>
            <a:off x="4585716"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status = pending</a:t>
            </a:r>
            <a:endParaRPr lang="en-US" sz="1300" dirty="0"/>
          </a:p>
          <a:p>
            <a:pPr marL="342900" indent="-342900">
              <a:spcAft>
                <a:spcPts val="300"/>
              </a:spcAft>
              <a:buSzPct val="100000"/>
              <a:buChar char="•"/>
            </a:pPr>
            <a:r>
              <a:rPr lang="en-US" sz="1300" dirty="0">
                <a:solidFill>
                  <a:schemeClr val="tx1"/>
                </a:solidFill>
              </a:rPr>
              <a:t>UNIQUE (source_id, external_event_id)</a:t>
            </a:r>
            <a:endParaRPr lang="en-US" sz="1300" dirty="0"/>
          </a:p>
          <a:p>
            <a:pPr marL="342900" indent="-342900">
              <a:spcAft>
                <a:spcPts val="300"/>
              </a:spcAft>
              <a:buSzPct val="100000"/>
              <a:buChar char="•"/>
            </a:pPr>
            <a:r>
              <a:rPr lang="en-US" sz="1300" dirty="0">
                <a:solidFill>
                  <a:schemeClr val="tx1"/>
                </a:solidFill>
              </a:rPr>
              <a:t>202 {raw_event_id, duplicate}</a:t>
            </a:r>
            <a:endParaRPr lang="en-US" sz="1300" dirty="0"/>
          </a:p>
          <a:p>
            <a:pPr marL="342900" indent="-342900">
              <a:spcAft>
                <a:spcPts val="300"/>
              </a:spcAft>
              <a:buSzPct val="100000"/>
              <a:buChar char="•"/>
            </a:pPr>
            <a:r>
              <a:rPr lang="en-US" sz="1300" dirty="0">
                <a:solidFill>
                  <a:schemeClr val="tx1"/>
                </a:solidFill>
              </a:rPr>
              <a:t>storage down → 503, never 202</a:t>
            </a:r>
            <a:endParaRPr lang="en-US" sz="1300" dirty="0"/>
          </a:p>
        </p:txBody>
      </p:sp>
      <p:sp>
        <p:nvSpPr>
          <p:cNvPr id="13" name="card-path-39"/>
          <p:cNvSpPr txBox="1"/>
          <p:nvPr/>
        </p:nvSpPr>
        <p:spPr>
          <a:xfrm>
            <a:off x="4585716"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100" dirty="0"/>
          </a:p>
        </p:txBody>
      </p:sp>
      <p:sp>
        <p:nvSpPr>
          <p:cNvPr id="14" name="arrow-40"/>
          <p:cNvSpPr/>
          <p:nvPr/>
        </p:nvSpPr>
        <p:spPr>
          <a:xfrm>
            <a:off x="7859268" y="2468880"/>
            <a:ext cx="324612" cy="0"/>
          </a:xfrm>
          <a:prstGeom prst="line">
            <a:avLst/>
          </a:prstGeom>
          <a:noFill/>
          <a:ln w="25400">
            <a:solidFill>
              <a:schemeClr val="tx1"/>
            </a:solidFill>
            <a:prstDash val="solid"/>
            <a:tailEnd type="triangle"/>
          </a:ln>
        </p:spPr>
      </p:sp>
      <p:sp>
        <p:nvSpPr>
          <p:cNvPr id="15" name="card-41"/>
          <p:cNvSpPr/>
          <p:nvPr/>
        </p:nvSpPr>
        <p:spPr>
          <a:xfrm>
            <a:off x="8257032" y="1325880"/>
            <a:ext cx="3383280" cy="2286000"/>
          </a:xfrm>
          <a:prstGeom prst="roundRect">
            <a:avLst>
              <a:gd name="adj" fmla="val 3200"/>
            </a:avLst>
          </a:prstGeom>
          <a:solidFill>
            <a:schemeClr val="bg1"/>
          </a:solidFill>
          <a:ln w="19050">
            <a:solidFill>
              <a:schemeClr val="tx1"/>
            </a:solidFill>
            <a:prstDash val="solid"/>
          </a:ln>
        </p:spPr>
      </p:sp>
      <p:sp>
        <p:nvSpPr>
          <p:cNvPr id="16" name="step-42"/>
          <p:cNvSpPr txBox="1"/>
          <p:nvPr/>
        </p:nvSpPr>
        <p:spPr>
          <a:xfrm>
            <a:off x="8439912"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card-title-43"/>
          <p:cNvSpPr txBox="1"/>
          <p:nvPr/>
        </p:nvSpPr>
        <p:spPr>
          <a:xfrm>
            <a:off x="9034272"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Claim with a lease</a:t>
            </a:r>
            <a:endParaRPr lang="en-US" sz="1800" dirty="0"/>
          </a:p>
        </p:txBody>
      </p:sp>
      <p:sp>
        <p:nvSpPr>
          <p:cNvPr id="18" name="card-body-44"/>
          <p:cNvSpPr txBox="1"/>
          <p:nvPr/>
        </p:nvSpPr>
        <p:spPr>
          <a:xfrm>
            <a:off x="8439912"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one atomic UPDATE: pending and due, or lease expired</a:t>
            </a:r>
            <a:endParaRPr lang="en-US" sz="1300" dirty="0"/>
          </a:p>
          <a:p>
            <a:pPr marL="342900" indent="-342900">
              <a:spcAft>
                <a:spcPts val="300"/>
              </a:spcAft>
              <a:buSzPct val="100000"/>
              <a:buChar char="•"/>
            </a:pPr>
            <a:r>
              <a:rPr lang="en-US" sz="1300" dirty="0">
                <a:solidFill>
                  <a:schemeClr val="tx1"/>
                </a:solidFill>
              </a:rPr>
              <a:t>sets processing and lease_until</a:t>
            </a:r>
            <a:endParaRPr lang="en-US" sz="1300" dirty="0"/>
          </a:p>
          <a:p>
            <a:pPr marL="342900" indent="-342900">
              <a:spcAft>
                <a:spcPts val="300"/>
              </a:spcAft>
              <a:buSzPct val="100000"/>
              <a:buChar char="•"/>
            </a:pPr>
            <a:r>
              <a:rPr lang="en-US" sz="1300" dirty="0">
                <a:solidFill>
                  <a:schemeClr val="tx1"/>
                </a:solidFill>
              </a:rPr>
              <a:t>attempts + 1 on every claim</a:t>
            </a:r>
            <a:endParaRPr lang="en-US" sz="1300" dirty="0"/>
          </a:p>
        </p:txBody>
      </p:sp>
      <p:sp>
        <p:nvSpPr>
          <p:cNvPr id="19" name="card-path-45"/>
          <p:cNvSpPr txBox="1"/>
          <p:nvPr/>
        </p:nvSpPr>
        <p:spPr>
          <a:xfrm>
            <a:off x="8439912"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100" dirty="0"/>
          </a:p>
        </p:txBody>
      </p:sp>
      <p:sp>
        <p:nvSpPr>
          <p:cNvPr id="20" name="card-46"/>
          <p:cNvSpPr/>
          <p:nvPr/>
        </p:nvSpPr>
        <p:spPr>
          <a:xfrm>
            <a:off x="548640" y="3977640"/>
            <a:ext cx="3383280" cy="2286000"/>
          </a:xfrm>
          <a:prstGeom prst="roundRect">
            <a:avLst>
              <a:gd name="adj" fmla="val 3200"/>
            </a:avLst>
          </a:prstGeom>
          <a:solidFill>
            <a:schemeClr val="bg1"/>
          </a:solidFill>
          <a:ln w="19050">
            <a:solidFill>
              <a:schemeClr val="tx1"/>
            </a:solidFill>
            <a:prstDash val="solid"/>
          </a:ln>
        </p:spPr>
      </p:sp>
      <p:sp>
        <p:nvSpPr>
          <p:cNvPr id="21" name="step-47"/>
          <p:cNvSpPr txBox="1"/>
          <p:nvPr/>
        </p:nvSpPr>
        <p:spPr>
          <a:xfrm>
            <a:off x="731520"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card-title-48"/>
          <p:cNvSpPr txBox="1"/>
          <p:nvPr/>
        </p:nvSpPr>
        <p:spPr>
          <a:xfrm>
            <a:off x="1325880"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Connector transforms</a:t>
            </a:r>
            <a:endParaRPr lang="en-US" sz="1800" dirty="0"/>
          </a:p>
        </p:txBody>
      </p:sp>
      <p:sp>
        <p:nvSpPr>
          <p:cNvPr id="23" name="card-body-49"/>
          <p:cNvSpPr txBox="1"/>
          <p:nvPr/>
        </p:nvSpPr>
        <p:spPr>
          <a:xfrm>
            <a:off x="731520"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CONNECTORS[source.type].transform</a:t>
            </a:r>
            <a:endParaRPr lang="en-US" sz="1300" dirty="0"/>
          </a:p>
          <a:p>
            <a:pPr marL="342900" indent="-342900">
              <a:spcAft>
                <a:spcPts val="300"/>
              </a:spcAft>
              <a:buSzPct val="100000"/>
              <a:buChar char="•"/>
            </a:pPr>
            <a:r>
              <a:rPr lang="en-US" sz="1300" dirty="0">
                <a:solidFill>
                  <a:schemeClr val="tx1"/>
                </a:solidFill>
              </a:rPr>
              <a:t>Pydantic input model validates first</a:t>
            </a:r>
            <a:endParaRPr lang="en-US" sz="1300" dirty="0"/>
          </a:p>
          <a:p>
            <a:pPr marL="342900" indent="-342900">
              <a:spcAft>
                <a:spcPts val="300"/>
              </a:spcAft>
              <a:buSzPct val="100000"/>
              <a:buChar char="•"/>
            </a:pPr>
            <a:r>
              <a:rPr lang="en-US" sz="1300" dirty="0">
                <a:solidFill>
                  <a:schemeClr val="tx1"/>
                </a:solidFill>
              </a:rPr>
              <a:t>returns [FeedbackRecord]</a:t>
            </a:r>
            <a:endParaRPr lang="en-US" sz="1300" dirty="0"/>
          </a:p>
        </p:txBody>
      </p:sp>
      <p:sp>
        <p:nvSpPr>
          <p:cNvPr id="24" name="card-path-50"/>
          <p:cNvSpPr txBox="1"/>
          <p:nvPr/>
        </p:nvSpPr>
        <p:spPr>
          <a:xfrm>
            <a:off x="731520"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connectors/registry.py</a:t>
            </a:r>
            <a:endParaRPr lang="en-US" sz="1100" dirty="0"/>
          </a:p>
        </p:txBody>
      </p:sp>
      <p:sp>
        <p:nvSpPr>
          <p:cNvPr id="25" name="arrow-51"/>
          <p:cNvSpPr/>
          <p:nvPr/>
        </p:nvSpPr>
        <p:spPr>
          <a:xfrm>
            <a:off x="4005072" y="5120640"/>
            <a:ext cx="324612" cy="0"/>
          </a:xfrm>
          <a:prstGeom prst="line">
            <a:avLst/>
          </a:prstGeom>
          <a:noFill/>
          <a:ln w="25400">
            <a:solidFill>
              <a:schemeClr val="tx1"/>
            </a:solidFill>
            <a:prstDash val="solid"/>
            <a:tailEnd type="triangle"/>
          </a:ln>
        </p:spPr>
      </p:sp>
      <p:sp>
        <p:nvSpPr>
          <p:cNvPr id="26" name="card-52"/>
          <p:cNvSpPr/>
          <p:nvPr/>
        </p:nvSpPr>
        <p:spPr>
          <a:xfrm>
            <a:off x="4402836" y="3977640"/>
            <a:ext cx="3383280" cy="2286000"/>
          </a:xfrm>
          <a:prstGeom prst="roundRect">
            <a:avLst>
              <a:gd name="adj" fmla="val 3200"/>
            </a:avLst>
          </a:prstGeom>
          <a:solidFill>
            <a:schemeClr val="bg1"/>
          </a:solidFill>
          <a:ln w="19050">
            <a:solidFill>
              <a:schemeClr val="tx1"/>
            </a:solidFill>
            <a:prstDash val="solid"/>
          </a:ln>
        </p:spPr>
      </p:sp>
      <p:sp>
        <p:nvSpPr>
          <p:cNvPr id="27" name="step-53"/>
          <p:cNvSpPr txBox="1"/>
          <p:nvPr/>
        </p:nvSpPr>
        <p:spPr>
          <a:xfrm>
            <a:off x="4585716"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card-title-54"/>
          <p:cNvSpPr txBox="1"/>
          <p:nvPr/>
        </p:nvSpPr>
        <p:spPr>
          <a:xfrm>
            <a:off x="5180076"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Upsert the record</a:t>
            </a:r>
            <a:endParaRPr lang="en-US" sz="1800" dirty="0"/>
          </a:p>
        </p:txBody>
      </p:sp>
      <p:sp>
        <p:nvSpPr>
          <p:cNvPr id="29" name="card-body-55"/>
          <p:cNvSpPr txBox="1"/>
          <p:nvPr/>
        </p:nvSpPr>
        <p:spPr>
          <a:xfrm>
            <a:off x="4585716"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UNIQUE (source_id, external_id)</a:t>
            </a:r>
            <a:endParaRPr lang="en-US" sz="1300" dirty="0"/>
          </a:p>
          <a:p>
            <a:pPr marL="342900" indent="-342900">
              <a:spcAft>
                <a:spcPts val="300"/>
              </a:spcAft>
              <a:buSzPct val="100000"/>
              <a:buChar char="•"/>
            </a:pPr>
            <a:r>
              <a:rPr lang="en-US" sz="1300" dirty="0">
                <a:solidFill>
                  <a:schemeClr val="tx1"/>
                </a:solidFill>
              </a:rPr>
              <a:t>newer-or-equal version wins</a:t>
            </a:r>
            <a:endParaRPr lang="en-US" sz="1300" dirty="0"/>
          </a:p>
          <a:p>
            <a:pPr marL="342900" indent="-342900">
              <a:spcAft>
                <a:spcPts val="300"/>
              </a:spcAft>
              <a:buSzPct val="100000"/>
              <a:buChar char="•"/>
            </a:pPr>
            <a:r>
              <a:rPr lang="en-US" sz="1300" dirty="0">
                <a:solidFill>
                  <a:schemeClr val="tx1"/>
                </a:solidFill>
              </a:rPr>
              <a:t>then processed, failed (retry at 2^attempts) or dead</a:t>
            </a:r>
            <a:endParaRPr lang="en-US" sz="1300" dirty="0"/>
          </a:p>
        </p:txBody>
      </p:sp>
      <p:sp>
        <p:nvSpPr>
          <p:cNvPr id="30" name="card-path-56"/>
          <p:cNvSpPr txBox="1"/>
          <p:nvPr/>
        </p:nvSpPr>
        <p:spPr>
          <a:xfrm>
            <a:off x="4585716"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feedback_store.py</a:t>
            </a:r>
            <a:endParaRPr lang="en-US" sz="1100" dirty="0"/>
          </a:p>
        </p:txBody>
      </p:sp>
      <p:sp>
        <p:nvSpPr>
          <p:cNvPr id="31" name="arrow-57"/>
          <p:cNvSpPr/>
          <p:nvPr/>
        </p:nvSpPr>
        <p:spPr>
          <a:xfrm>
            <a:off x="7859268" y="5120640"/>
            <a:ext cx="324612" cy="0"/>
          </a:xfrm>
          <a:prstGeom prst="line">
            <a:avLst/>
          </a:prstGeom>
          <a:noFill/>
          <a:ln w="25400">
            <a:solidFill>
              <a:schemeClr val="tx1"/>
            </a:solidFill>
            <a:prstDash val="solid"/>
            <a:tailEnd type="triangle"/>
          </a:ln>
        </p:spPr>
      </p:sp>
      <p:sp>
        <p:nvSpPr>
          <p:cNvPr id="32" name="card-58"/>
          <p:cNvSpPr/>
          <p:nvPr/>
        </p:nvSpPr>
        <p:spPr>
          <a:xfrm>
            <a:off x="8257032" y="3977640"/>
            <a:ext cx="3383280" cy="2286000"/>
          </a:xfrm>
          <a:prstGeom prst="roundRect">
            <a:avLst>
              <a:gd name="adj" fmla="val 3200"/>
            </a:avLst>
          </a:prstGeom>
          <a:solidFill>
            <a:schemeClr val="bg1"/>
          </a:solidFill>
          <a:ln w="19050">
            <a:solidFill>
              <a:schemeClr val="tx1"/>
            </a:solidFill>
            <a:prstDash val="solid"/>
          </a:ln>
        </p:spPr>
      </p:sp>
      <p:sp>
        <p:nvSpPr>
          <p:cNvPr id="33" name="step-59"/>
          <p:cNvSpPr txBox="1"/>
          <p:nvPr/>
        </p:nvSpPr>
        <p:spPr>
          <a:xfrm>
            <a:off x="8439912"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4" name="card-title-60"/>
          <p:cNvSpPr txBox="1"/>
          <p:nvPr/>
        </p:nvSpPr>
        <p:spPr>
          <a:xfrm>
            <a:off x="9034272"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Query</a:t>
            </a:r>
            <a:endParaRPr lang="en-US" sz="1800" dirty="0"/>
          </a:p>
        </p:txBody>
      </p:sp>
      <p:sp>
        <p:nvSpPr>
          <p:cNvPr id="35" name="card-body-61"/>
          <p:cNvSpPr txBox="1"/>
          <p:nvPr/>
        </p:nvSpPr>
        <p:spPr>
          <a:xfrm>
            <a:off x="8439912"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GET /v1/records?source_id=&amp;kind=&amp;since=</a:t>
            </a:r>
            <a:endParaRPr lang="en-US" sz="1300" dirty="0"/>
          </a:p>
          <a:p>
            <a:pPr marL="342900" indent="-342900">
              <a:spcAft>
                <a:spcPts val="300"/>
              </a:spcAft>
              <a:buSzPct val="100000"/>
              <a:buChar char="•"/>
            </a:pPr>
            <a:r>
              <a:rPr lang="en-US" sz="1300" dirty="0">
                <a:solidFill>
                  <a:schemeClr val="tx1"/>
                </a:solidFill>
              </a:rPr>
              <a:t>every read filtered by the key's tenant</a:t>
            </a:r>
            <a:endParaRPr lang="en-US" sz="1300" dirty="0"/>
          </a:p>
          <a:p>
            <a:pPr marL="342900" indent="-342900">
              <a:spcAft>
                <a:spcPts val="300"/>
              </a:spcAft>
              <a:buSzPct val="100000"/>
              <a:buChar char="•"/>
            </a:pPr>
            <a:r>
              <a:rPr lang="en-US" sz="1300" dirty="0">
                <a:solidFill>
                  <a:schemeClr val="tx1"/>
                </a:solidFill>
              </a:rPr>
              <a:t>another tenant's id → 404, not 403</a:t>
            </a:r>
            <a:endParaRPr lang="en-US" sz="1300" dirty="0"/>
          </a:p>
        </p:txBody>
      </p:sp>
      <p:sp>
        <p:nvSpPr>
          <p:cNvPr id="36" name="card-path-62"/>
          <p:cNvSpPr txBox="1"/>
          <p:nvPr/>
        </p:nvSpPr>
        <p:spPr>
          <a:xfrm>
            <a:off x="8439912"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api/records.py</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Pull is just another producer</a:t>
            </a:r>
            <a:endParaRPr lang="en-US" sz="3400" dirty="0"/>
          </a:p>
        </p:txBody>
      </p:sp>
      <p:sp>
        <p:nvSpPr>
          <p:cNvPr id="3" name="pull-flow-63"/>
          <p:cNvSpPr txBox="1"/>
          <p:nvPr/>
        </p:nvSpPr>
        <p:spPr>
          <a:xfrm>
            <a:off x="548640" y="1371600"/>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SchedulerService tick</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or POST /v1/sources/{id}/sync</a:t>
            </a:r>
            <a:endParaRPr lang="en-US" sz="1400" dirty="0"/>
          </a:p>
        </p:txBody>
      </p:sp>
      <p:sp>
        <p:nvSpPr>
          <p:cNvPr id="4" name="arrow-64"/>
          <p:cNvSpPr/>
          <p:nvPr/>
        </p:nvSpPr>
        <p:spPr>
          <a:xfrm>
            <a:off x="2194560" y="2121408"/>
            <a:ext cx="0" cy="274320"/>
          </a:xfrm>
          <a:prstGeom prst="line">
            <a:avLst/>
          </a:prstGeom>
          <a:noFill/>
          <a:ln w="25400">
            <a:solidFill>
              <a:schemeClr val="tx1"/>
            </a:solidFill>
            <a:prstDash val="solid"/>
            <a:tailEnd type="triangle"/>
          </a:ln>
        </p:spPr>
      </p:sp>
      <p:sp>
        <p:nvSpPr>
          <p:cNvPr id="5" name="pull-flow-65"/>
          <p:cNvSpPr txBox="1"/>
          <p:nvPr/>
        </p:nvSpPr>
        <p:spPr>
          <a:xfrm>
            <a:off x="548640" y="2395728"/>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PullService.sync</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400" dirty="0"/>
          </a:p>
        </p:txBody>
      </p:sp>
      <p:sp>
        <p:nvSpPr>
          <p:cNvPr id="6" name="arrow-66"/>
          <p:cNvSpPr/>
          <p:nvPr/>
        </p:nvSpPr>
        <p:spPr>
          <a:xfrm>
            <a:off x="2194560" y="3145536"/>
            <a:ext cx="0" cy="274320"/>
          </a:xfrm>
          <a:prstGeom prst="line">
            <a:avLst/>
          </a:prstGeom>
          <a:noFill/>
          <a:ln w="25400">
            <a:solidFill>
              <a:schemeClr val="tx1"/>
            </a:solidFill>
            <a:prstDash val="solid"/>
            <a:tailEnd type="triangle"/>
          </a:ln>
        </p:spPr>
      </p:sp>
      <p:sp>
        <p:nvSpPr>
          <p:cNvPr id="7" name="pull-flow-67"/>
          <p:cNvSpPr txBox="1"/>
          <p:nvPr/>
        </p:nvSpPr>
        <p:spPr>
          <a:xfrm>
            <a:off x="548640" y="3419856"/>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DiscourseConnector.pull</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search.json, t/{id}/posts.json</a:t>
            </a:r>
            <a:endParaRPr lang="en-US" sz="1400" dirty="0"/>
          </a:p>
        </p:txBody>
      </p:sp>
      <p:sp>
        <p:nvSpPr>
          <p:cNvPr id="8" name="arrow-68"/>
          <p:cNvSpPr/>
          <p:nvPr/>
        </p:nvSpPr>
        <p:spPr>
          <a:xfrm>
            <a:off x="2194560" y="4169664"/>
            <a:ext cx="0" cy="274320"/>
          </a:xfrm>
          <a:prstGeom prst="line">
            <a:avLst/>
          </a:prstGeom>
          <a:noFill/>
          <a:ln w="25400">
            <a:solidFill>
              <a:schemeClr val="tx1"/>
            </a:solidFill>
            <a:prstDash val="solid"/>
            <a:tailEnd type="triangle"/>
          </a:ln>
        </p:spPr>
      </p:sp>
      <p:sp>
        <p:nvSpPr>
          <p:cNvPr id="9" name="pull-flow-69"/>
          <p:cNvSpPr txBox="1"/>
          <p:nvPr/>
        </p:nvSpPr>
        <p:spPr>
          <a:xfrm>
            <a:off x="548640" y="4443984"/>
            <a:ext cx="3291840" cy="749808"/>
          </a:xfrm>
          <a:prstGeom prst="roundRect">
            <a:avLst>
              <a:gd name="adj" fmla="val 9756"/>
            </a:avLst>
          </a:prstGeom>
          <a:solidFill>
            <a:schemeClr val="accent5"/>
          </a:solidFill>
          <a:ln w="31750">
            <a:solidFill>
              <a:schemeClr val="accent1"/>
            </a:solidFill>
          </a:ln>
        </p:spPr>
        <p:txBody>
          <a:bodyPr wrap="square" lIns="76200" tIns="76200" rIns="76200" bIns="76200" rtlCol="0" anchor="ctr"/>
          <a:lstStyle/>
          <a:p>
            <a:pPr algn="l" indent="0" marL="0">
              <a:spcAft>
                <a:spcPts val="300"/>
              </a:spcAft>
              <a:buNone/>
            </a:pPr>
            <a:r>
              <a:rPr lang="en-US" sz="1400" b="1" dirty="0">
                <a:solidFill>
                  <a:schemeClr val="tx1"/>
                </a:solidFill>
              </a:rPr>
              <a:t>IngestionService.accept</a:t>
            </a:r>
            <a:endParaRPr lang="en-US" sz="1400" dirty="0"/>
          </a:p>
          <a:p>
            <a:pPr algn="l" indent="0" marL="0">
              <a:buNone/>
            </a:pPr>
            <a:r>
              <a:rPr lang="en-US" sz="1100" dirty="0">
                <a:solidFill>
                  <a:schemeClr val="tx2"/>
                </a:solidFill>
              </a:rPr>
              <a:t>same call a webhook uses</a:t>
            </a:r>
            <a:endParaRPr lang="en-US" sz="1400" dirty="0"/>
          </a:p>
        </p:txBody>
      </p:sp>
      <p:sp>
        <p:nvSpPr>
          <p:cNvPr id="10" name="arrow-70"/>
          <p:cNvSpPr/>
          <p:nvPr/>
        </p:nvSpPr>
        <p:spPr>
          <a:xfrm>
            <a:off x="2194560" y="5193792"/>
            <a:ext cx="0" cy="274320"/>
          </a:xfrm>
          <a:prstGeom prst="line">
            <a:avLst/>
          </a:prstGeom>
          <a:noFill/>
          <a:ln w="25400">
            <a:solidFill>
              <a:schemeClr val="tx1"/>
            </a:solidFill>
            <a:prstDash val="solid"/>
            <a:tailEnd type="triangle"/>
          </a:ln>
        </p:spPr>
      </p:sp>
      <p:sp>
        <p:nvSpPr>
          <p:cNvPr id="11" name="pull-flow-71"/>
          <p:cNvSpPr txBox="1"/>
          <p:nvPr/>
        </p:nvSpPr>
        <p:spPr>
          <a:xfrm>
            <a:off x="548640" y="5468112"/>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SourceStore.update_cursor</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after the page is on disk</a:t>
            </a:r>
            <a:endParaRPr lang="en-US" sz="1400" dirty="0"/>
          </a:p>
        </p:txBody>
      </p:sp>
      <p:sp>
        <p:nvSpPr>
          <p:cNvPr id="12" name="pull-row-72"/>
          <p:cNvSpPr/>
          <p:nvPr/>
        </p:nvSpPr>
        <p:spPr>
          <a:xfrm>
            <a:off x="4343400" y="1371600"/>
            <a:ext cx="7299655" cy="1024128"/>
          </a:xfrm>
          <a:prstGeom prst="roundRect">
            <a:avLst>
              <a:gd name="adj" fmla="val 7143"/>
            </a:avLst>
          </a:prstGeom>
          <a:solidFill>
            <a:schemeClr val="bg2"/>
          </a:solidFill>
          <a:ln w="6350">
            <a:solidFill>
              <a:schemeClr val="bg2"/>
            </a:solidFill>
            <a:prstDash val="solid"/>
          </a:ln>
        </p:spPr>
      </p:sp>
      <p:sp>
        <p:nvSpPr>
          <p:cNvPr id="13" name="step-73"/>
          <p:cNvSpPr txBox="1"/>
          <p:nvPr/>
        </p:nvSpPr>
        <p:spPr>
          <a:xfrm>
            <a:off x="4572000" y="1655064"/>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4" name="pull-row-title-74"/>
          <p:cNvSpPr txBox="1"/>
          <p:nvPr/>
        </p:nvSpPr>
        <p:spPr>
          <a:xfrm>
            <a:off x="5212080" y="1481328"/>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Pages</a:t>
            </a:r>
            <a:endParaRPr lang="en-US" sz="1800" dirty="0"/>
          </a:p>
        </p:txBody>
      </p:sp>
      <p:sp>
        <p:nvSpPr>
          <p:cNvPr id="15" name="pull-row-body-75"/>
          <p:cNvSpPr txBox="1"/>
          <p:nvPr/>
        </p:nvSpPr>
        <p:spPr>
          <a:xfrm>
            <a:off x="7863840" y="1463040"/>
            <a:ext cx="3596335" cy="841248"/>
          </a:xfrm>
          <a:prstGeom prst="rect">
            <a:avLst/>
          </a:prstGeom>
          <a:noFill/>
          <a:ln/>
        </p:spPr>
        <p:txBody>
          <a:bodyPr wrap="square" lIns="0" tIns="0" rIns="0" bIns="0" rtlCol="0" anchor="ctr"/>
          <a:lstStyle/>
          <a:p>
            <a:pPr indent="0" marL="0">
              <a:buNone/>
            </a:pPr>
            <a:r>
              <a:rPr lang="en-US" sz="1400" dirty="0">
                <a:solidFill>
                  <a:schemeClr val="tx1"/>
                </a:solidFill>
              </a:rPr>
              <a:t>Search pages by date window, then fetch posts 20 ids per call. Every payload goes through the same accept as a webhook.</a:t>
            </a:r>
            <a:endParaRPr lang="en-US" sz="1400" dirty="0"/>
          </a:p>
        </p:txBody>
      </p:sp>
      <p:sp>
        <p:nvSpPr>
          <p:cNvPr id="16" name="pull-row-76"/>
          <p:cNvSpPr/>
          <p:nvPr/>
        </p:nvSpPr>
        <p:spPr>
          <a:xfrm>
            <a:off x="4343400" y="2615184"/>
            <a:ext cx="7299655" cy="1024128"/>
          </a:xfrm>
          <a:prstGeom prst="roundRect">
            <a:avLst>
              <a:gd name="adj" fmla="val 7143"/>
            </a:avLst>
          </a:prstGeom>
          <a:solidFill>
            <a:schemeClr val="bg2"/>
          </a:solidFill>
          <a:ln w="6350">
            <a:solidFill>
              <a:schemeClr val="bg2"/>
            </a:solidFill>
            <a:prstDash val="solid"/>
          </a:ln>
        </p:spPr>
      </p:sp>
      <p:sp>
        <p:nvSpPr>
          <p:cNvPr id="17" name="step-77"/>
          <p:cNvSpPr txBox="1"/>
          <p:nvPr/>
        </p:nvSpPr>
        <p:spPr>
          <a:xfrm>
            <a:off x="4572000" y="2898648"/>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pull-row-title-78"/>
          <p:cNvSpPr txBox="1"/>
          <p:nvPr/>
        </p:nvSpPr>
        <p:spPr>
          <a:xfrm>
            <a:off x="5212080" y="2724912"/>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Cursor after commit</a:t>
            </a:r>
            <a:endParaRPr lang="en-US" sz="1800" dirty="0"/>
          </a:p>
        </p:txBody>
      </p:sp>
      <p:sp>
        <p:nvSpPr>
          <p:cNvPr id="19" name="pull-row-body-79"/>
          <p:cNvSpPr txBox="1"/>
          <p:nvPr/>
        </p:nvSpPr>
        <p:spPr>
          <a:xfrm>
            <a:off x="7863840" y="2706624"/>
            <a:ext cx="3596335" cy="841248"/>
          </a:xfrm>
          <a:prstGeom prst="rect">
            <a:avLst/>
          </a:prstGeom>
          <a:noFill/>
          <a:ln/>
        </p:spPr>
        <p:txBody>
          <a:bodyPr wrap="square" lIns="0" tIns="0" rIns="0" bIns="0" rtlCol="0" anchor="ctr"/>
          <a:lstStyle/>
          <a:p>
            <a:pPr indent="0" marL="0">
              <a:buNone/>
            </a:pPr>
            <a:r>
              <a:rPr lang="en-US" sz="1400" dirty="0">
                <a:solidFill>
                  <a:schemeClr val="tx1"/>
                </a:solidFill>
              </a:rPr>
              <a:t>The bookmark moves only after the rows are on disk. A crash mid-poll re-fetches a page; the unique key absorbs the repeat.</a:t>
            </a:r>
            <a:endParaRPr lang="en-US" sz="1400" dirty="0"/>
          </a:p>
        </p:txBody>
      </p:sp>
      <p:sp>
        <p:nvSpPr>
          <p:cNvPr id="20" name="pull-row-80"/>
          <p:cNvSpPr/>
          <p:nvPr/>
        </p:nvSpPr>
        <p:spPr>
          <a:xfrm>
            <a:off x="4343400" y="3858768"/>
            <a:ext cx="7299655" cy="1024128"/>
          </a:xfrm>
          <a:prstGeom prst="roundRect">
            <a:avLst>
              <a:gd name="adj" fmla="val 7143"/>
            </a:avLst>
          </a:prstGeom>
          <a:solidFill>
            <a:schemeClr val="bg2"/>
          </a:solidFill>
          <a:ln w="6350">
            <a:solidFill>
              <a:schemeClr val="bg2"/>
            </a:solidFill>
            <a:prstDash val="solid"/>
          </a:ln>
        </p:spPr>
      </p:sp>
      <p:sp>
        <p:nvSpPr>
          <p:cNvPr id="21" name="step-81"/>
          <p:cNvSpPr txBox="1"/>
          <p:nvPr/>
        </p:nvSpPr>
        <p:spPr>
          <a:xfrm>
            <a:off x="4572000" y="4142232"/>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pull-row-title-82"/>
          <p:cNvSpPr txBox="1"/>
          <p:nvPr/>
        </p:nvSpPr>
        <p:spPr>
          <a:xfrm>
            <a:off x="5212080" y="3968496"/>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Overlap window</a:t>
            </a:r>
            <a:endParaRPr lang="en-US" sz="1800" dirty="0"/>
          </a:p>
        </p:txBody>
      </p:sp>
      <p:sp>
        <p:nvSpPr>
          <p:cNvPr id="23" name="pull-row-body-83"/>
          <p:cNvSpPr txBox="1"/>
          <p:nvPr/>
        </p:nvSpPr>
        <p:spPr>
          <a:xfrm>
            <a:off x="7863840" y="3950208"/>
            <a:ext cx="3596335" cy="841248"/>
          </a:xfrm>
          <a:prstGeom prst="rect">
            <a:avLst/>
          </a:prstGeom>
          <a:noFill/>
          <a:ln/>
        </p:spPr>
        <p:txBody>
          <a:bodyPr wrap="square" lIns="0" tIns="0" rIns="0" bIns="0" rtlCol="0" anchor="ctr"/>
          <a:lstStyle/>
          <a:p>
            <a:pPr indent="0" marL="0">
              <a:buNone/>
            </a:pPr>
            <a:r>
              <a:rPr lang="en-US" sz="1400" dirty="0">
                <a:solidFill>
                  <a:schemeClr val="tx1"/>
                </a:solidFill>
              </a:rPr>
              <a:t>The cursor is set to the newest post minus 60 s. We would rather fetch a post twice than miss it.</a:t>
            </a:r>
            <a:endParaRPr lang="en-US" sz="1400" dirty="0"/>
          </a:p>
        </p:txBody>
      </p:sp>
      <p:sp>
        <p:nvSpPr>
          <p:cNvPr id="24" name="pull-row-84"/>
          <p:cNvSpPr/>
          <p:nvPr/>
        </p:nvSpPr>
        <p:spPr>
          <a:xfrm>
            <a:off x="4343400" y="5102352"/>
            <a:ext cx="7299655" cy="1024128"/>
          </a:xfrm>
          <a:prstGeom prst="roundRect">
            <a:avLst>
              <a:gd name="adj" fmla="val 7143"/>
            </a:avLst>
          </a:prstGeom>
          <a:solidFill>
            <a:schemeClr val="bg2"/>
          </a:solidFill>
          <a:ln w="6350">
            <a:solidFill>
              <a:schemeClr val="bg2"/>
            </a:solidFill>
            <a:prstDash val="solid"/>
          </a:ln>
        </p:spPr>
      </p:sp>
      <p:sp>
        <p:nvSpPr>
          <p:cNvPr id="25" name="step-85"/>
          <p:cNvSpPr txBox="1"/>
          <p:nvPr/>
        </p:nvSpPr>
        <p:spPr>
          <a:xfrm>
            <a:off x="4572000" y="5385816"/>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6" name="pull-row-title-86"/>
          <p:cNvSpPr txBox="1"/>
          <p:nvPr/>
        </p:nvSpPr>
        <p:spPr>
          <a:xfrm>
            <a:off x="5212080" y="5212080"/>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Bounded window</a:t>
            </a:r>
            <a:endParaRPr lang="en-US" sz="1800" dirty="0"/>
          </a:p>
        </p:txBody>
      </p:sp>
      <p:sp>
        <p:nvSpPr>
          <p:cNvPr id="27" name="pull-row-body-87"/>
          <p:cNvSpPr txBox="1"/>
          <p:nvPr/>
        </p:nvSpPr>
        <p:spPr>
          <a:xfrm>
            <a:off x="7863840" y="5193792"/>
            <a:ext cx="3596335" cy="841248"/>
          </a:xfrm>
          <a:prstGeom prst="rect">
            <a:avLst/>
          </a:prstGeom>
          <a:noFill/>
          <a:ln/>
        </p:spPr>
        <p:txBody>
          <a:bodyPr wrap="square" lIns="0" tIns="0" rIns="0" bIns="0" rtlCol="0" anchor="ctr"/>
          <a:lstStyle/>
          <a:p>
            <a:pPr indent="0" marL="0">
              <a:buNone/>
            </a:pPr>
            <a:r>
              <a:rPr lang="en-US" sz="1400" dirty="0">
                <a:solidFill>
                  <a:schemeClr val="tx1"/>
                </a:solidFill>
              </a:rPr>
              <a:t>At most 20 search pages per window. A busier window errors loudly and the cursor stays put; a 429 or 5xx stops the run the same way.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record shape, keyed by source</a:t>
            </a:r>
            <a:endParaRPr lang="en-US" sz="3400" dirty="0"/>
          </a:p>
        </p:txBody>
      </p:sp>
      <p:sp>
        <p:nvSpPr>
          <p:cNvPr id="3" name="source-model-88"/>
          <p:cNvSpPr txBox="1"/>
          <p:nvPr/>
        </p:nvSpPr>
        <p:spPr>
          <a:xfrm>
            <a:off x="548640" y="1325880"/>
            <a:ext cx="3291840" cy="2926080"/>
          </a:xfrm>
          <a:prstGeom prst="roundRect">
            <a:avLst>
              <a:gd name="adj" fmla="val 2500"/>
            </a:avLst>
          </a:prstGeom>
          <a:solidFill>
            <a:schemeClr val="bg1"/>
          </a:solidFill>
          <a:ln w="19050">
            <a:solidFill>
              <a:schemeClr val="tx1"/>
            </a:solidFill>
          </a:ln>
        </p:spPr>
        <p:txBody>
          <a:bodyPr wrap="square" lIns="152400" tIns="152400" rIns="152400" bIns="152400" rtlCol="0" anchor="t"/>
          <a:lstStyle/>
          <a:p>
            <a:pPr algn="l" indent="0" marL="0">
              <a:spcAft>
                <a:spcPts val="300"/>
              </a:spcAft>
              <a:buNone/>
            </a:pPr>
            <a:r>
              <a:rPr lang="en-US" sz="1800" b="1" dirty="0">
                <a:solidFill>
                  <a:schemeClr val="tx1"/>
                </a:solidFill>
              </a:rPr>
              <a:t>Source</a:t>
            </a:r>
            <a:endParaRPr lang="en-US" sz="1800" dirty="0"/>
          </a:p>
          <a:p>
            <a:pPr algn="l" indent="0" marL="0">
              <a:buNone/>
            </a:pPr>
            <a:r>
              <a:rPr lang="en-US" sz="1300" i="1" dirty="0">
                <a:solidFill>
                  <a:schemeClr val="tx1"/>
                </a:solidFill>
              </a:rPr>
              <a:t>one tenant's configured instance</a:t>
            </a:r>
            <a:endParaRPr lang="en-US" sz="1800" dirty="0"/>
          </a:p>
          <a:p>
            <a:pPr algn="l" indent="0" marL="0">
              <a:buNone/>
            </a:pPr>
            <a:r>
              <a:rPr lang="en-US" sz="600" dirty="0">
                <a:solidFill>
                  <a:schemeClr val="tx2"/>
                </a:solidFill>
              </a:rPr>
              <a:t> </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id, tenant_id, type, name</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mode: push | pull</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config, webhook_secret</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cursor, enabled</a:t>
            </a:r>
            <a:endParaRPr lang="en-US" sz="1800" dirty="0"/>
          </a:p>
          <a:p>
            <a:pPr algn="l" indent="0" marL="0">
              <a:buNone/>
            </a:pPr>
            <a:r>
              <a:rPr lang="en-US" sz="600" dirty="0">
                <a:solidFill>
                  <a:schemeClr val="tx2"/>
                </a:solidFill>
              </a:rPr>
              <a:t> </a:t>
            </a:r>
            <a:endParaRPr lang="en-US" sz="1800" dirty="0"/>
          </a:p>
          <a:p>
            <a:pPr algn="l" indent="0" marL="0">
              <a:buNone/>
            </a:pPr>
            <a:r>
              <a:rPr lang="en-US" sz="1300" dirty="0">
                <a:solidFill>
                  <a:schemeClr val="tx2"/>
                </a:solidFill>
              </a:rPr>
              <a:t>Two Playstore apps = two rows, each with its own secret and cursor. Disabled, never deleted.</a:t>
            </a:r>
            <a:endParaRPr lang="en-US" sz="1800" dirty="0"/>
          </a:p>
        </p:txBody>
      </p:sp>
      <p:sp>
        <p:nvSpPr>
          <p:cNvPr id="4" name="records-card-89"/>
          <p:cNvSpPr/>
          <p:nvPr/>
        </p:nvSpPr>
        <p:spPr>
          <a:xfrm>
            <a:off x="4206240" y="1325880"/>
            <a:ext cx="7436815" cy="2926080"/>
          </a:xfrm>
          <a:prstGeom prst="roundRect">
            <a:avLst>
              <a:gd name="adj" fmla="val 2500"/>
            </a:avLst>
          </a:prstGeom>
          <a:solidFill>
            <a:schemeClr val="bg1"/>
          </a:solidFill>
          <a:ln w="19050">
            <a:solidFill>
              <a:schemeClr val="tx1"/>
            </a:solidFill>
            <a:prstDash val="solid"/>
          </a:ln>
        </p:spPr>
      </p:sp>
      <p:sp>
        <p:nvSpPr>
          <p:cNvPr id="5" name="records-title-90"/>
          <p:cNvSpPr txBox="1"/>
          <p:nvPr/>
        </p:nvSpPr>
        <p:spPr>
          <a:xfrm>
            <a:off x="4389120" y="1463040"/>
            <a:ext cx="7071055"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feedback_records</a:t>
            </a:r>
            <a:pPr indent="0" marL="0">
              <a:buNone/>
            </a:pPr>
            <a:r>
              <a:rPr lang="en-US" sz="1400" dirty="0">
                <a:solidFill>
                  <a:schemeClr val="tx2"/>
                </a:solidFill>
              </a:rPr>
              <a:t>   common columns + per-source metadata</a:t>
            </a:r>
            <a:endParaRPr lang="en-US" sz="1800" dirty="0"/>
          </a:p>
        </p:txBody>
      </p:sp>
      <p:sp>
        <p:nvSpPr>
          <p:cNvPr id="6" name="cols-a-91"/>
          <p:cNvSpPr txBox="1"/>
          <p:nvPr/>
        </p:nvSpPr>
        <p:spPr>
          <a:xfrm>
            <a:off x="4389120" y="2011680"/>
            <a:ext cx="242316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tenant_id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source_type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external_id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kind: review |</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  conversation | post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title, text</a:t>
            </a:r>
            <a:endParaRPr lang="en-US" sz="1250" dirty="0"/>
          </a:p>
        </p:txBody>
      </p:sp>
      <p:sp>
        <p:nvSpPr>
          <p:cNvPr id="7" name="cols-b-92"/>
          <p:cNvSpPr txBox="1"/>
          <p:nvPr/>
        </p:nvSpPr>
        <p:spPr>
          <a:xfrm>
            <a:off x="6812280" y="2011680"/>
            <a:ext cx="233172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author</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language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rating</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source_created_at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source_updated_at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deleted_at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connector_version</a:t>
            </a:r>
            <a:endParaRPr lang="en-US" sz="1250" dirty="0"/>
          </a:p>
        </p:txBody>
      </p:sp>
      <p:sp>
        <p:nvSpPr>
          <p:cNvPr id="8" name="metadata-93"/>
          <p:cNvSpPr txBox="1"/>
          <p:nvPr/>
        </p:nvSpPr>
        <p:spPr>
          <a:xfrm>
            <a:off x="9189720" y="2011680"/>
            <a:ext cx="2270455" cy="2057400"/>
          </a:xfrm>
          <a:prstGeom prst="roundRect">
            <a:avLst>
              <a:gd name="adj" fmla="val 2667"/>
            </a:avLst>
          </a:prstGeom>
          <a:solidFill>
            <a:schemeClr val="accent5"/>
          </a:solidFill>
          <a:ln w="6350">
            <a:solidFill>
              <a:schemeClr val="accent5"/>
            </a:solidFill>
          </a:ln>
        </p:spPr>
        <p:txBody>
          <a:bodyPr wrap="square" lIns="101600" tIns="101600" rIns="101600" bIns="101600" rtlCol="0" anchor="t"/>
          <a:lstStyle/>
          <a:p>
            <a:pPr indent="0" marL="0">
              <a:spcAft>
                <a:spcPts val="400"/>
              </a:spcAft>
              <a:buNone/>
            </a:pPr>
            <a:r>
              <a:rPr lang="en-US" sz="1200" b="1" dirty="0">
                <a:solidFill>
                  <a:schemeClr val="tx1"/>
                </a:solidFill>
              </a:rPr>
              <a:t>metadata JSON, one Pydantic model per source</a:t>
            </a:r>
            <a:endParaRPr lang="en-US" sz="1200" dirty="0"/>
          </a:p>
          <a:p>
            <a:pPr indent="0" marL="0">
              <a:buNone/>
            </a:pPr>
            <a:r>
              <a:rPr lang="en-US" sz="1200" b="1" dirty="0">
                <a:solidFill>
                  <a:schemeClr val="accent1"/>
                </a:solidFill>
              </a:rPr>
              <a:t>Playstore  </a:t>
            </a:r>
            <a:pPr indent="0" marL="0">
              <a:spcAft>
                <a:spcPts val="300"/>
              </a:spcAft>
              <a:buNone/>
            </a:pPr>
            <a:r>
              <a:rPr lang="en-US" sz="1200" dirty="0">
                <a:solidFill>
                  <a:schemeClr val="tx1"/>
                </a:solidFill>
              </a:rPr>
              <a:t>app_version, device, android_os_version</a:t>
            </a:r>
            <a:endParaRPr lang="en-US" sz="1200" dirty="0"/>
          </a:p>
          <a:p>
            <a:pPr indent="0" marL="0">
              <a:buNone/>
            </a:pPr>
            <a:r>
              <a:rPr lang="en-US" sz="1200" b="1" dirty="0">
                <a:solidFill>
                  <a:schemeClr val="accent1"/>
                </a:solidFill>
              </a:rPr>
              <a:t>Twitter  </a:t>
            </a:r>
            <a:pPr indent="0" marL="0">
              <a:spcAft>
                <a:spcPts val="300"/>
              </a:spcAft>
              <a:buNone/>
            </a:pPr>
            <a:r>
              <a:rPr lang="en-US" sz="1200" dirty="0">
                <a:solidFill>
                  <a:schemeClr val="tx1"/>
                </a:solidFill>
              </a:rPr>
              <a:t>country, retweets, likes</a:t>
            </a:r>
            <a:endParaRPr lang="en-US" sz="1200" dirty="0"/>
          </a:p>
          <a:p>
            <a:pPr indent="0" marL="0">
              <a:buNone/>
            </a:pPr>
            <a:r>
              <a:rPr lang="en-US" sz="1200" b="1" dirty="0">
                <a:solidFill>
                  <a:schemeClr val="accent1"/>
                </a:solidFill>
              </a:rPr>
              <a:t>Intercom  </a:t>
            </a:r>
            <a:pPr indent="0" marL="0">
              <a:spcAft>
                <a:spcPts val="300"/>
              </a:spcAft>
              <a:buNone/>
            </a:pPr>
            <a:r>
              <a:rPr lang="en-US" sz="1200" dirty="0">
                <a:solidFill>
                  <a:schemeClr val="tx1"/>
                </a:solidFill>
              </a:rPr>
              <a:t>part_count, tags, state</a:t>
            </a:r>
            <a:endParaRPr lang="en-US" sz="1200" dirty="0"/>
          </a:p>
          <a:p>
            <a:pPr indent="0" marL="0">
              <a:buNone/>
            </a:pPr>
            <a:r>
              <a:rPr lang="en-US" sz="1200" b="1" dirty="0">
                <a:solidFill>
                  <a:schemeClr val="accent1"/>
                </a:solidFill>
              </a:rPr>
              <a:t>Discourse  </a:t>
            </a:r>
            <a:pPr indent="0" marL="0">
              <a:spcAft>
                <a:spcPts val="300"/>
              </a:spcAft>
              <a:buNone/>
            </a:pPr>
            <a:r>
              <a:rPr lang="en-US" sz="1200" dirty="0">
                <a:solidFill>
                  <a:schemeClr val="tx1"/>
                </a:solidFill>
              </a:rPr>
              <a:t>topic_id, post_number, like_count, url</a:t>
            </a:r>
            <a:endParaRPr lang="en-US" sz="1200" dirty="0"/>
          </a:p>
        </p:txBody>
      </p:sp>
      <p:sp>
        <p:nvSpPr>
          <p:cNvPr id="9" name="keys-94"/>
          <p:cNvSpPr txBox="1"/>
          <p:nvPr/>
        </p:nvSpPr>
        <p:spPr>
          <a:xfrm>
            <a:off x="548640" y="4526280"/>
            <a:ext cx="6400800"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Uniqueness keys (database, not app code)</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raw_events        UNIQUE (source_id, external_event_id)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feedback_records  UNIQUE (source_id, external_id)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composite FK (source_id, tenant_id) → sources</a:t>
            </a:r>
            <a:endParaRPr lang="en-US" sz="1700" dirty="0"/>
          </a:p>
        </p:txBody>
      </p:sp>
      <p:sp>
        <p:nvSpPr>
          <p:cNvPr id="10" name="tombstones-95"/>
          <p:cNvSpPr txBox="1"/>
          <p:nvPr/>
        </p:nvSpPr>
        <p:spPr>
          <a:xfrm>
            <a:off x="7315200" y="4526280"/>
            <a:ext cx="4327855"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Tombstones</a:t>
            </a:r>
            <a:endParaRPr lang="en-US" sz="1700" dirty="0"/>
          </a:p>
          <a:p>
            <a:pPr algn="l" indent="0" marL="0">
              <a:buNone/>
            </a:pPr>
            <a:r>
              <a:rPr lang="en-US" sz="1500" dirty="0">
                <a:solidFill>
                  <a:schemeClr val="tx1"/>
                </a:solidFill>
              </a:rPr>
              <a:t>deleted_at is set once and hidden from reads by default.</a:t>
            </a:r>
            <a:endParaRPr lang="en-US" sz="1700" dirty="0"/>
          </a:p>
          <a:p>
            <a:pPr algn="l" indent="0" marL="0">
              <a:buNone/>
            </a:pPr>
            <a:r>
              <a:rPr lang="en-US" sz="1500" dirty="0">
                <a:solidFill>
                  <a:schemeClr val="tx1"/>
                </a:solidFill>
              </a:rPr>
              <a:t>A later edit never clears it; replay re-applies the delete.</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Same input, same result: idempotency and replay</a:t>
            </a:r>
            <a:endParaRPr lang="en-US" sz="3400" dirty="0"/>
          </a:p>
        </p:txBody>
      </p:sp>
      <p:sp>
        <p:nvSpPr>
          <p:cNvPr id="3" name="idem-card-96"/>
          <p:cNvSpPr/>
          <p:nvPr/>
        </p:nvSpPr>
        <p:spPr>
          <a:xfrm>
            <a:off x="548640" y="1325880"/>
            <a:ext cx="3383280" cy="4937760"/>
          </a:xfrm>
          <a:prstGeom prst="roundRect">
            <a:avLst>
              <a:gd name="adj" fmla="val 2162"/>
            </a:avLst>
          </a:prstGeom>
          <a:solidFill>
            <a:schemeClr val="bg1"/>
          </a:solidFill>
          <a:ln w="19050">
            <a:solidFill>
              <a:schemeClr val="tx1"/>
            </a:solidFill>
            <a:prstDash val="solid"/>
          </a:ln>
        </p:spPr>
      </p:sp>
      <p:sp>
        <p:nvSpPr>
          <p:cNvPr id="4" name="callout-bg-97"/>
          <p:cNvSpPr/>
          <p:nvPr/>
        </p:nvSpPr>
        <p:spPr>
          <a:xfrm>
            <a:off x="731520" y="1508760"/>
            <a:ext cx="3017520" cy="1325880"/>
          </a:xfrm>
          <a:prstGeom prst="roundRect">
            <a:avLst>
              <a:gd name="adj" fmla="val 4138"/>
            </a:avLst>
          </a:prstGeom>
          <a:solidFill>
            <a:schemeClr val="accent5"/>
          </a:solidFill>
          <a:ln w="6350">
            <a:solidFill>
              <a:schemeClr val="accent5"/>
            </a:solidFill>
            <a:prstDash val="solid"/>
          </a:ln>
        </p:spPr>
      </p:sp>
      <p:sp>
        <p:nvSpPr>
          <p:cNvPr id="5" name="callout-98"/>
          <p:cNvSpPr txBox="1"/>
          <p:nvPr/>
        </p:nvSpPr>
        <p:spPr>
          <a:xfrm>
            <a:off x="822960"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2 → 1</a:t>
            </a:r>
            <a:endParaRPr lang="en-US" sz="3600" dirty="0"/>
          </a:p>
        </p:txBody>
      </p:sp>
      <p:sp>
        <p:nvSpPr>
          <p:cNvPr id="6" name="callout-label-99"/>
          <p:cNvSpPr txBox="1"/>
          <p:nvPr/>
        </p:nvSpPr>
        <p:spPr>
          <a:xfrm>
            <a:off x="822960"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deliveries → rows</a:t>
            </a:r>
            <a:endParaRPr lang="en-US" sz="1300" dirty="0"/>
          </a:p>
        </p:txBody>
      </p:sp>
      <p:sp>
        <p:nvSpPr>
          <p:cNvPr id="7" name="idem-head-100"/>
          <p:cNvSpPr txBox="1"/>
          <p:nvPr/>
        </p:nvSpPr>
        <p:spPr>
          <a:xfrm>
            <a:off x="777240"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Duplicate webhook</a:t>
            </a:r>
            <a:endParaRPr lang="en-US" sz="2000" dirty="0"/>
          </a:p>
        </p:txBody>
      </p:sp>
      <p:sp>
        <p:nvSpPr>
          <p:cNvPr id="8" name="idem-body-101"/>
          <p:cNvSpPr txBox="1"/>
          <p:nvPr/>
        </p:nvSpPr>
        <p:spPr>
          <a:xfrm>
            <a:off x="777240"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Same item and same update time give the same external_event_id.</a:t>
            </a:r>
            <a:endParaRPr lang="en-US" sz="1600" dirty="0"/>
          </a:p>
          <a:p>
            <a:pPr marL="342900" indent="-342900">
              <a:spcAft>
                <a:spcPts val="600"/>
              </a:spcAft>
              <a:buSzPct val="100000"/>
              <a:buChar char="•"/>
            </a:pPr>
            <a:r>
              <a:rPr lang="en-US" sz="1600" dirty="0">
                <a:solidFill>
                  <a:schemeClr val="tx1"/>
                </a:solidFill>
              </a:rPr>
              <a:t>UNIQUE (source_id, external_event_id) drops the second copy.</a:t>
            </a:r>
            <a:endParaRPr lang="en-US" sz="1600" dirty="0"/>
          </a:p>
          <a:p>
            <a:pPr marL="342900" indent="-342900">
              <a:spcAft>
                <a:spcPts val="600"/>
              </a:spcAft>
              <a:buSzPct val="100000"/>
              <a:buChar char="•"/>
            </a:pPr>
            <a:r>
              <a:rPr lang="en-US" sz="1600" dirty="0">
                <a:solidFill>
                  <a:schemeClr val="tx1"/>
                </a:solidFill>
              </a:rPr>
              <a:t>We still answer 202, duplicate=true, so the sender stops retrying.</a:t>
            </a:r>
            <a:endParaRPr lang="en-US" sz="1600" dirty="0"/>
          </a:p>
        </p:txBody>
      </p:sp>
      <p:sp>
        <p:nvSpPr>
          <p:cNvPr id="9" name="idem-card-102"/>
          <p:cNvSpPr/>
          <p:nvPr/>
        </p:nvSpPr>
        <p:spPr>
          <a:xfrm>
            <a:off x="4402836" y="1325880"/>
            <a:ext cx="3383280" cy="4937760"/>
          </a:xfrm>
          <a:prstGeom prst="roundRect">
            <a:avLst>
              <a:gd name="adj" fmla="val 2162"/>
            </a:avLst>
          </a:prstGeom>
          <a:solidFill>
            <a:schemeClr val="bg1"/>
          </a:solidFill>
          <a:ln w="19050">
            <a:solidFill>
              <a:schemeClr val="tx1"/>
            </a:solidFill>
            <a:prstDash val="solid"/>
          </a:ln>
        </p:spPr>
      </p:sp>
      <p:sp>
        <p:nvSpPr>
          <p:cNvPr id="10" name="callout-bg-103"/>
          <p:cNvSpPr/>
          <p:nvPr/>
        </p:nvSpPr>
        <p:spPr>
          <a:xfrm>
            <a:off x="4585716" y="1508760"/>
            <a:ext cx="3017520" cy="1325880"/>
          </a:xfrm>
          <a:prstGeom prst="roundRect">
            <a:avLst>
              <a:gd name="adj" fmla="val 4138"/>
            </a:avLst>
          </a:prstGeom>
          <a:solidFill>
            <a:schemeClr val="accent5"/>
          </a:solidFill>
          <a:ln w="6350">
            <a:solidFill>
              <a:schemeClr val="accent5"/>
            </a:solidFill>
            <a:prstDash val="solid"/>
          </a:ln>
        </p:spPr>
      </p:sp>
      <p:sp>
        <p:nvSpPr>
          <p:cNvPr id="11" name="callout-104"/>
          <p:cNvSpPr txBox="1"/>
          <p:nvPr/>
        </p:nvSpPr>
        <p:spPr>
          <a:xfrm>
            <a:off x="4677156"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newest wins</a:t>
            </a:r>
            <a:endParaRPr lang="en-US" sz="3600" dirty="0"/>
          </a:p>
        </p:txBody>
      </p:sp>
      <p:sp>
        <p:nvSpPr>
          <p:cNvPr id="12" name="callout-label-105"/>
          <p:cNvSpPr txBox="1"/>
          <p:nvPr/>
        </p:nvSpPr>
        <p:spPr>
          <a:xfrm>
            <a:off x="4677156"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by the source's own timestamp</a:t>
            </a:r>
            <a:endParaRPr lang="en-US" sz="1300" dirty="0"/>
          </a:p>
        </p:txBody>
      </p:sp>
      <p:sp>
        <p:nvSpPr>
          <p:cNvPr id="13" name="idem-head-106"/>
          <p:cNvSpPr txBox="1"/>
          <p:nvPr/>
        </p:nvSpPr>
        <p:spPr>
          <a:xfrm>
            <a:off x="4631436"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Out-of-order edit</a:t>
            </a:r>
            <a:endParaRPr lang="en-US" sz="2000" dirty="0"/>
          </a:p>
        </p:txBody>
      </p:sp>
      <p:sp>
        <p:nvSpPr>
          <p:cNvPr id="14" name="idem-body-107"/>
          <p:cNvSpPr txBox="1"/>
          <p:nvPr/>
        </p:nvSpPr>
        <p:spPr>
          <a:xfrm>
            <a:off x="4631436"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Upsert compares COALESCE(source_updated_at, source_created_at).</a:t>
            </a:r>
            <a:endParaRPr lang="en-US" sz="1600" dirty="0"/>
          </a:p>
          <a:p>
            <a:pPr marL="342900" indent="-342900">
              <a:spcAft>
                <a:spcPts val="600"/>
              </a:spcAft>
              <a:buSzPct val="100000"/>
              <a:buChar char="•"/>
            </a:pPr>
            <a:r>
              <a:rPr lang="en-US" sz="1600" dirty="0">
                <a:solidFill>
                  <a:schemeClr val="tx1"/>
                </a:solidFill>
              </a:rPr>
              <a:t>An older copy is skipped; an equal one is accepted, so replay works.</a:t>
            </a:r>
            <a:endParaRPr lang="en-US" sz="1600" dirty="0"/>
          </a:p>
        </p:txBody>
      </p:sp>
      <p:sp>
        <p:nvSpPr>
          <p:cNvPr id="15" name="idem-card-108"/>
          <p:cNvSpPr/>
          <p:nvPr/>
        </p:nvSpPr>
        <p:spPr>
          <a:xfrm>
            <a:off x="8257032" y="1325880"/>
            <a:ext cx="3383280" cy="4937760"/>
          </a:xfrm>
          <a:prstGeom prst="roundRect">
            <a:avLst>
              <a:gd name="adj" fmla="val 2162"/>
            </a:avLst>
          </a:prstGeom>
          <a:solidFill>
            <a:schemeClr val="bg1"/>
          </a:solidFill>
          <a:ln w="19050">
            <a:solidFill>
              <a:schemeClr val="tx1"/>
            </a:solidFill>
            <a:prstDash val="solid"/>
          </a:ln>
        </p:spPr>
      </p:sp>
      <p:sp>
        <p:nvSpPr>
          <p:cNvPr id="16" name="callout-bg-109"/>
          <p:cNvSpPr/>
          <p:nvPr/>
        </p:nvSpPr>
        <p:spPr>
          <a:xfrm>
            <a:off x="8439912" y="1508760"/>
            <a:ext cx="3017520" cy="1325880"/>
          </a:xfrm>
          <a:prstGeom prst="roundRect">
            <a:avLst>
              <a:gd name="adj" fmla="val 4138"/>
            </a:avLst>
          </a:prstGeom>
          <a:solidFill>
            <a:schemeClr val="accent5"/>
          </a:solidFill>
          <a:ln w="6350">
            <a:solidFill>
              <a:schemeClr val="accent5"/>
            </a:solidFill>
            <a:prstDash val="solid"/>
          </a:ln>
        </p:spPr>
      </p:sp>
      <p:sp>
        <p:nvSpPr>
          <p:cNvPr id="17" name="callout-110"/>
          <p:cNvSpPr txBox="1"/>
          <p:nvPr/>
        </p:nvSpPr>
        <p:spPr>
          <a:xfrm>
            <a:off x="8531352"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fix + replay</a:t>
            </a:r>
            <a:endParaRPr lang="en-US" sz="3600" dirty="0"/>
          </a:p>
        </p:txBody>
      </p:sp>
      <p:sp>
        <p:nvSpPr>
          <p:cNvPr id="18" name="callout-label-111"/>
          <p:cNvSpPr txBox="1"/>
          <p:nvPr/>
        </p:nvSpPr>
        <p:spPr>
          <a:xfrm>
            <a:off x="8531352"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no re-fetch, nothing lost</a:t>
            </a:r>
            <a:endParaRPr lang="en-US" sz="1300" dirty="0"/>
          </a:p>
        </p:txBody>
      </p:sp>
      <p:sp>
        <p:nvSpPr>
          <p:cNvPr id="19" name="idem-head-112"/>
          <p:cNvSpPr txBox="1"/>
          <p:nvPr/>
        </p:nvSpPr>
        <p:spPr>
          <a:xfrm>
            <a:off x="8485632"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Transformer bug</a:t>
            </a:r>
            <a:endParaRPr lang="en-US" sz="2000" dirty="0"/>
          </a:p>
        </p:txBody>
      </p:sp>
      <p:sp>
        <p:nvSpPr>
          <p:cNvPr id="20" name="idem-body-113"/>
          <p:cNvSpPr txBox="1"/>
          <p:nvPr/>
        </p:nvSpPr>
        <p:spPr>
          <a:xfrm>
            <a:off x="8485632"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Raw payloads are kept verbatim.</a:t>
            </a:r>
            <a:endParaRPr lang="en-US" sz="1600" dirty="0"/>
          </a:p>
          <a:p>
            <a:pPr marL="342900" indent="-342900">
              <a:spcAft>
                <a:spcPts val="600"/>
              </a:spcAft>
              <a:buSzPct val="100000"/>
              <a:buChar char="•"/>
            </a:pPr>
            <a:r>
              <a:rPr lang="en-US" sz="1600" dirty="0">
                <a:solidFill>
                  <a:schemeClr val="tx1"/>
                </a:solidFill>
              </a:rPr>
              <a:t>Fix the connector, bump connector_version, replay the window.</a:t>
            </a:r>
            <a:endParaRPr lang="en-US" sz="1600" dirty="0"/>
          </a:p>
          <a:p>
            <a:pPr marL="342900" indent="-342900">
              <a:spcAft>
                <a:spcPts val="600"/>
              </a:spcAft>
              <a:buSzPct val="100000"/>
              <a:buChar char="•"/>
            </a:pPr>
            <a:r>
              <a:rPr lang="en-US" sz="1600" dirty="0">
                <a:solidFill>
                  <a:schemeClr val="tx1"/>
                </a:solidFill>
              </a:rPr>
              <a:t>Replay runs in raw_events.id order, so deletes are applied again.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When something breaks</a:t>
            </a:r>
            <a:endParaRPr lang="en-US" sz="3400" dirty="0"/>
          </a:p>
        </p:txBody>
      </p:sp>
      <p:graphicFrame>
        <p:nvGraphicFramePr>
          <p:cNvPr id="9" name="failures-114"/>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43200"/>
                <a:gridCol w="8351215"/>
              </a:tblGrid>
              <a:tr h="411480">
                <a:tc>
                  <a:txBody>
                    <a:bodyPr/>
                    <a:lstStyle/>
                    <a:p>
                      <a:pPr indent="0" marL="0">
                        <a:buNone/>
                      </a:pPr>
                      <a:r>
                        <a:rPr lang="en-US" sz="1500" b="1" dirty="0">
                          <a:solidFill>
                            <a:schemeClr val="bg1"/>
                          </a:solidFill>
                        </a:rPr>
                        <a:t>Scenario</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The one-sentence answer</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DB down on push</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We never say yes before the row is on disk, so the sender gets a 503 and retries, and nothing we accepted is lost.</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Worker dies mid-event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The lease runs out, the row is picked up again, and the upsert makes doing it twice the same as doing it once.</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Poison payload</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A payload that retrying cannot fix goes straight to the dead list with its reason, and waits there for a fix and a replay.</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10k burst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Inserts are cheap, the 202 stays fast, the backlog drains at the worker's pace. SQLite is one writer; past that, DATABASE_URL points at Postgres.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Two workers</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It is safe because the claim is a single statement and the upsert is idempotent; in production one scheduler runs.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Rate-limited pull</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We stop, keep what we already saved, and try again next tick from the same bookmark; the unique key drops the repeats.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Built to grow: new sources, new infrastructure</a:t>
            </a:r>
            <a:endParaRPr lang="en-US" sz="3400" dirty="0"/>
          </a:p>
        </p:txBody>
      </p:sp>
      <p:sp>
        <p:nvSpPr>
          <p:cNvPr id="3" name="zendesk-head-115"/>
          <p:cNvSpPr txBox="1"/>
          <p:nvPr/>
        </p:nvSpPr>
        <p:spPr>
          <a:xfrm>
            <a:off x="548640" y="1325880"/>
            <a:ext cx="374904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Add Zendesk in four pieces</a:t>
            </a:r>
            <a:endParaRPr lang="en-US" sz="1900" dirty="0"/>
          </a:p>
        </p:txBody>
      </p:sp>
      <p:sp>
        <p:nvSpPr>
          <p:cNvPr id="4" name="step-116"/>
          <p:cNvSpPr txBox="1"/>
          <p:nvPr/>
        </p:nvSpPr>
        <p:spPr>
          <a:xfrm>
            <a:off x="548640" y="1965960"/>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zendesk-step-117"/>
          <p:cNvSpPr txBox="1"/>
          <p:nvPr/>
        </p:nvSpPr>
        <p:spPr>
          <a:xfrm>
            <a:off x="1097280" y="1874520"/>
            <a:ext cx="3200400" cy="731520"/>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connectors/zendesk.py</a:t>
            </a:r>
            <a:endParaRPr lang="en-US" sz="1300" dirty="0"/>
          </a:p>
          <a:p>
            <a:pPr indent="0" marL="0">
              <a:buNone/>
            </a:pPr>
            <a:r>
              <a:rPr lang="en-US" sz="1300" dirty="0">
                <a:solidFill>
                  <a:schemeClr val="tx2"/>
                </a:solidFill>
              </a:rPr>
              <a:t>input model, external_event_id, transform, signature</a:t>
            </a:r>
            <a:endParaRPr lang="en-US" sz="1300" dirty="0"/>
          </a:p>
        </p:txBody>
      </p:sp>
      <p:sp>
        <p:nvSpPr>
          <p:cNvPr id="6" name="step-118"/>
          <p:cNvSpPr txBox="1"/>
          <p:nvPr/>
        </p:nvSpPr>
        <p:spPr>
          <a:xfrm>
            <a:off x="548640" y="2834640"/>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zendesk-step-119"/>
          <p:cNvSpPr txBox="1"/>
          <p:nvPr/>
        </p:nvSpPr>
        <p:spPr>
          <a:xfrm>
            <a:off x="1097280" y="2743200"/>
            <a:ext cx="3200400" cy="731520"/>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domain/metadata.py</a:t>
            </a:r>
            <a:endParaRPr lang="en-US" sz="1300" dirty="0"/>
          </a:p>
          <a:p>
            <a:pPr indent="0" marL="0">
              <a:buNone/>
            </a:pPr>
            <a:r>
              <a:rPr lang="en-US" sz="1300" dirty="0">
                <a:solidFill>
                  <a:schemeClr val="tx2"/>
                </a:solidFill>
              </a:rPr>
              <a:t>ZendeskMetadata in the union</a:t>
            </a:r>
            <a:endParaRPr lang="en-US" sz="1300" dirty="0"/>
          </a:p>
        </p:txBody>
      </p:sp>
      <p:sp>
        <p:nvSpPr>
          <p:cNvPr id="8" name="step-120"/>
          <p:cNvSpPr txBox="1"/>
          <p:nvPr/>
        </p:nvSpPr>
        <p:spPr>
          <a:xfrm>
            <a:off x="548640" y="3703320"/>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zendesk-step-121"/>
          <p:cNvSpPr txBox="1"/>
          <p:nvPr/>
        </p:nvSpPr>
        <p:spPr>
          <a:xfrm>
            <a:off x="1097280" y="3611880"/>
            <a:ext cx="3200400" cy="731520"/>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connectors/registry.py</a:t>
            </a:r>
            <a:endParaRPr lang="en-US" sz="1300" dirty="0"/>
          </a:p>
          <a:p>
            <a:pPr indent="0" marL="0">
              <a:buNone/>
            </a:pPr>
            <a:r>
              <a:rPr lang="en-US" sz="1300" dirty="0">
                <a:solidFill>
                  <a:schemeClr val="tx2"/>
                </a:solidFill>
              </a:rPr>
              <a:t>one ZendeskConnector() entry</a:t>
            </a:r>
            <a:endParaRPr lang="en-US" sz="1300" dirty="0"/>
          </a:p>
        </p:txBody>
      </p:sp>
      <p:sp>
        <p:nvSpPr>
          <p:cNvPr id="10" name="step-122"/>
          <p:cNvSpPr txBox="1"/>
          <p:nvPr/>
        </p:nvSpPr>
        <p:spPr>
          <a:xfrm>
            <a:off x="548640" y="4572000"/>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zendesk-step-123"/>
          <p:cNvSpPr txBox="1"/>
          <p:nvPr/>
        </p:nvSpPr>
        <p:spPr>
          <a:xfrm>
            <a:off x="1097280" y="4480560"/>
            <a:ext cx="3200400" cy="731520"/>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tests/fixtures/zendesk/</a:t>
            </a:r>
            <a:endParaRPr lang="en-US" sz="1300" dirty="0"/>
          </a:p>
          <a:p>
            <a:pPr indent="0" marL="0">
              <a:buNone/>
            </a:pPr>
            <a:r>
              <a:rPr lang="en-US" sz="1300" dirty="0">
                <a:solidFill>
                  <a:schemeClr val="tx2"/>
                </a:solidFill>
              </a:rPr>
              <a:t>ticket, edited ticket, malformed</a:t>
            </a:r>
            <a:endParaRPr lang="en-US" sz="1300" dirty="0"/>
          </a:p>
        </p:txBody>
      </p:sp>
      <p:sp>
        <p:nvSpPr>
          <p:cNvPr id="12" name="zendesk-foot-124"/>
          <p:cNvSpPr txBox="1"/>
          <p:nvPr/>
        </p:nvSpPr>
        <p:spPr>
          <a:xfrm>
            <a:off x="548640" y="5440680"/>
            <a:ext cx="3749040" cy="777240"/>
          </a:xfrm>
          <a:prstGeom prst="rect">
            <a:avLst/>
          </a:prstGeom>
          <a:noFill/>
          <a:ln/>
        </p:spPr>
        <p:txBody>
          <a:bodyPr wrap="square" lIns="0" tIns="0" rIns="0" bIns="0" rtlCol="0" anchor="t"/>
          <a:lstStyle/>
          <a:p>
            <a:pPr indent="0" marL="0">
              <a:buNone/>
            </a:pPr>
            <a:r>
              <a:rPr lang="en-US" sz="1400" i="1" dirty="0">
                <a:solidFill>
                  <a:schemeClr val="tx1"/>
                </a:solidFill>
              </a:rPr>
              <a:t>The contract test fails until all four exist. No service, route, worker or table changes.</a:t>
            </a:r>
            <a:endParaRPr lang="en-US" sz="1400" dirty="0"/>
          </a:p>
        </p:txBody>
      </p:sp>
      <p:sp>
        <p:nvSpPr>
          <p:cNvPr id="13" name="ports-head-125"/>
          <p:cNvSpPr txBox="1"/>
          <p:nvPr/>
        </p:nvSpPr>
        <p:spPr>
          <a:xfrm>
            <a:off x="4617720" y="1325880"/>
            <a:ext cx="324612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Ports and adapters</a:t>
            </a:r>
            <a:endParaRPr lang="en-US" sz="1900" dirty="0"/>
          </a:p>
        </p:txBody>
      </p:sp>
      <p:sp>
        <p:nvSpPr>
          <p:cNvPr id="14" name="svc-126"/>
          <p:cNvSpPr txBox="1"/>
          <p:nvPr/>
        </p:nvSpPr>
        <p:spPr>
          <a:xfrm>
            <a:off x="4617720" y="18745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services/</a:t>
            </a:r>
            <a:endParaRPr lang="en-US" sz="1400" dirty="0"/>
          </a:p>
          <a:p>
            <a:pPr algn="l" indent="0" marL="0">
              <a:buNone/>
            </a:pPr>
            <a:r>
              <a:rPr lang="en-US" sz="1250" dirty="0">
                <a:solidFill>
                  <a:schemeClr val="tx2"/>
                </a:solidFill>
              </a:rPr>
              <a:t>ingestion, pipeline, worker, pull, scheduler</a:t>
            </a:r>
            <a:endParaRPr lang="en-US" sz="1400" dirty="0"/>
          </a:p>
        </p:txBody>
      </p:sp>
      <p:sp>
        <p:nvSpPr>
          <p:cNvPr id="15" name="ports-127"/>
          <p:cNvSpPr txBox="1"/>
          <p:nvPr/>
        </p:nvSpPr>
        <p:spPr>
          <a:xfrm>
            <a:off x="4617720" y="3246120"/>
            <a:ext cx="3246120" cy="1051560"/>
          </a:xfrm>
          <a:prstGeom prst="roundRect">
            <a:avLst>
              <a:gd name="adj" fmla="val 695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ports/ (Protocols)</a:t>
            </a:r>
            <a:endParaRPr lang="en-US" sz="1400" dirty="0"/>
          </a:p>
          <a:p>
            <a:pPr algn="l" indent="0" marL="0">
              <a:buNone/>
            </a:pPr>
            <a:r>
              <a:rPr lang="en-US" sz="1200" dirty="0">
                <a:solidFill>
                  <a:schemeClr val="tx2"/>
                </a:solidFill>
              </a:rPr>
              <a:t>TenantStore, SourceStore, FeedbackStore, RawEventQueue, HttpClient, Clock</a:t>
            </a:r>
            <a:endParaRPr lang="en-US" sz="1400" dirty="0"/>
          </a:p>
        </p:txBody>
      </p:sp>
      <p:sp>
        <p:nvSpPr>
          <p:cNvPr id="16" name="adapters-128"/>
          <p:cNvSpPr txBox="1"/>
          <p:nvPr/>
        </p:nvSpPr>
        <p:spPr>
          <a:xfrm>
            <a:off x="4617720" y="46177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adapters/</a:t>
            </a:r>
            <a:endParaRPr lang="en-US" sz="1400" dirty="0"/>
          </a:p>
          <a:p>
            <a:pPr algn="l" indent="0" marL="0">
              <a:buNone/>
            </a:pPr>
            <a:r>
              <a:rPr lang="en-US" sz="1250" dirty="0">
                <a:solidFill>
                  <a:schemeClr val="tx2"/>
                </a:solidFill>
              </a:rPr>
              <a:t>sqlalchemy/, http/HttpxClient, memory/ fakes for tests</a:t>
            </a:r>
            <a:endParaRPr lang="en-US" sz="1400" dirty="0"/>
          </a:p>
        </p:txBody>
      </p:sp>
      <p:sp>
        <p:nvSpPr>
          <p:cNvPr id="17" name="arrow-129"/>
          <p:cNvSpPr/>
          <p:nvPr/>
        </p:nvSpPr>
        <p:spPr>
          <a:xfrm>
            <a:off x="6240780" y="2926080"/>
            <a:ext cx="0" cy="320040"/>
          </a:xfrm>
          <a:prstGeom prst="line">
            <a:avLst/>
          </a:prstGeom>
          <a:noFill/>
          <a:ln w="25400">
            <a:solidFill>
              <a:schemeClr val="tx1"/>
            </a:solidFill>
            <a:prstDash val="solid"/>
            <a:tailEnd type="triangle"/>
          </a:ln>
        </p:spPr>
      </p:sp>
      <p:sp>
        <p:nvSpPr>
          <p:cNvPr id="18" name="arrow-130"/>
          <p:cNvSpPr/>
          <p:nvPr/>
        </p:nvSpPr>
        <p:spPr>
          <a:xfrm flipV="1">
            <a:off x="6240780" y="4297680"/>
            <a:ext cx="0" cy="320040"/>
          </a:xfrm>
          <a:prstGeom prst="line">
            <a:avLst/>
          </a:prstGeom>
          <a:noFill/>
          <a:ln w="25400">
            <a:solidFill>
              <a:schemeClr val="tx1"/>
            </a:solidFill>
            <a:prstDash val="solid"/>
            <a:tailEnd type="triangle"/>
          </a:ln>
        </p:spPr>
      </p:sp>
      <p:sp>
        <p:nvSpPr>
          <p:cNvPr id="19" name="ports-foot-131"/>
          <p:cNvSpPr txBox="1"/>
          <p:nvPr/>
        </p:nvSpPr>
        <p:spPr>
          <a:xfrm>
            <a:off x="4617720" y="5760720"/>
            <a:ext cx="3246120" cy="457200"/>
          </a:xfrm>
          <a:prstGeom prst="rect">
            <a:avLst/>
          </a:prstGeom>
          <a:noFill/>
          <a:ln/>
        </p:spPr>
        <p:txBody>
          <a:bodyPr wrap="square" lIns="0" tIns="0" rIns="0" bIns="0" rtlCol="0" anchor="t"/>
          <a:lstStyle/>
          <a:p>
            <a:pPr indent="0" marL="0">
              <a:buNone/>
            </a:pPr>
            <a:r>
              <a:rPr lang="en-US" sz="1250" i="1" dirty="0">
                <a:solidFill>
                  <a:schemeClr val="tx2"/>
                </a:solidFill>
              </a:rPr>
              <a:t>One contract test runs on SQLite and on the fake.</a:t>
            </a:r>
            <a:endParaRPr lang="en-US" sz="1250" dirty="0"/>
          </a:p>
        </p:txBody>
      </p:sp>
      <p:sp>
        <p:nvSpPr>
          <p:cNvPr id="20" name="swap-head-132"/>
          <p:cNvSpPr txBox="1"/>
          <p:nvPr/>
        </p:nvSpPr>
        <p:spPr>
          <a:xfrm>
            <a:off x="8275320" y="1325880"/>
            <a:ext cx="3367735"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Swaps, honestly</a:t>
            </a:r>
            <a:endParaRPr lang="en-US" sz="1900" dirty="0"/>
          </a:p>
        </p:txBody>
      </p:sp>
      <p:sp>
        <p:nvSpPr>
          <p:cNvPr id="21" name="pg-133"/>
          <p:cNvSpPr txBox="1"/>
          <p:nvPr/>
        </p:nvSpPr>
        <p:spPr>
          <a:xfrm>
            <a:off x="8275320" y="1874520"/>
            <a:ext cx="3367735" cy="1920240"/>
          </a:xfrm>
          <a:prstGeom prst="roundRect">
            <a:avLst>
              <a:gd name="adj" fmla="val 3810"/>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Postgres</a:t>
            </a:r>
            <a:endParaRPr lang="en-US" sz="1700" dirty="0"/>
          </a:p>
          <a:p>
            <a:pPr algn="l" indent="0" marL="0">
              <a:buNone/>
            </a:pPr>
            <a:r>
              <a:rPr lang="en-US" sz="1400" dirty="0">
                <a:solidFill>
                  <a:schemeClr val="tx1"/>
                </a:solidFill>
              </a:rPr>
              <a:t>Set FI_DATABASE_URL, add a driver.</a:t>
            </a:r>
            <a:endParaRPr lang="en-US" sz="1700" dirty="0"/>
          </a:p>
          <a:p>
            <a:pPr algn="l" indent="0" marL="0">
              <a:buNone/>
            </a:pPr>
            <a:r>
              <a:rPr lang="en-US" sz="1400" dirty="0">
                <a:solidFill>
                  <a:schemeClr val="tx2"/>
                </a:solidFill>
              </a:rPr>
              <a:t>Three queries change: the claim gets SKIP LOCKED; upsert and enqueue become INSERT ... ON CONFLICT.</a:t>
            </a:r>
            <a:endParaRPr lang="en-US" sz="1700" dirty="0"/>
          </a:p>
          <a:p>
            <a:pPr algn="l" indent="0" marL="0">
              <a:buNone/>
            </a:pPr>
            <a:r>
              <a:rPr lang="en-US" sz="1400" dirty="0">
                <a:solidFill>
                  <a:schemeClr val="tx2"/>
                </a:solidFill>
              </a:rPr>
              <a:t>Add Alembic migrations.</a:t>
            </a:r>
            <a:endParaRPr lang="en-US" sz="1700" dirty="0"/>
          </a:p>
        </p:txBody>
      </p:sp>
      <p:sp>
        <p:nvSpPr>
          <p:cNvPr id="22" name="broker-134"/>
          <p:cNvSpPr txBox="1"/>
          <p:nvPr/>
        </p:nvSpPr>
        <p:spPr>
          <a:xfrm>
            <a:off x="8275320" y="4069080"/>
            <a:ext cx="3367735" cy="2148840"/>
          </a:xfrm>
          <a:prstGeom prst="roundRect">
            <a:avLst>
              <a:gd name="adj" fmla="val 3404"/>
            </a:avLst>
          </a:prstGeom>
          <a:solidFill>
            <a:schemeClr val="accent5"/>
          </a:solidFill>
          <a:ln w="31750">
            <a:solidFill>
              <a:schemeClr val="accent1"/>
            </a:solidFill>
          </a:ln>
        </p:spPr>
        <p:txBody>
          <a:bodyPr wrap="square" lIns="127000" tIns="127000" rIns="127000" bIns="127000" rtlCol="0" anchor="t"/>
          <a:lstStyle/>
          <a:p>
            <a:pPr algn="l" indent="0" marL="0">
              <a:spcAft>
                <a:spcPts val="300"/>
              </a:spcAft>
              <a:buNone/>
            </a:pPr>
            <a:r>
              <a:rPr lang="en-US" sz="1700" b="1" dirty="0">
                <a:solidFill>
                  <a:schemeClr val="tx1"/>
                </a:solidFill>
              </a:rPr>
              <a:t>Kafka or SQS</a:t>
            </a:r>
            <a:endParaRPr lang="en-US" sz="1700" dirty="0"/>
          </a:p>
          <a:p>
            <a:pPr algn="l" indent="0" marL="0">
              <a:buNone/>
            </a:pPr>
            <a:r>
              <a:rPr lang="en-US" sz="1400" b="1" dirty="0">
                <a:solidFill>
                  <a:schemeClr val="accent1"/>
                </a:solidFill>
              </a:rPr>
              <a:t>A new adapter and a new retry model.</a:t>
            </a:r>
            <a:endParaRPr lang="en-US" sz="1700" dirty="0"/>
          </a:p>
          <a:p>
            <a:pPr algn="l" indent="0" marL="0">
              <a:buNone/>
            </a:pPr>
            <a:r>
              <a:rPr lang="en-US" sz="1400" dirty="0">
                <a:solidFill>
                  <a:schemeClr val="tx2"/>
                </a:solidFill>
              </a:rPr>
              <a:t>SQS: visibility timeout. Kafka: no per-message delay, so retry topics.</a:t>
            </a:r>
            <a:endParaRPr lang="en-US" sz="1700" dirty="0"/>
          </a:p>
          <a:p>
            <a:pPr algn="l" indent="0" marL="0">
              <a:buNone/>
            </a:pPr>
            <a:r>
              <a:rPr lang="en-US" sz="1400" dirty="0">
                <a:solidFill>
                  <a:schemeClr val="tx2"/>
                </a:solidFill>
              </a:rPr>
              <a:t>Keep raw_events as the log; put ids on the broker.</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bg1"/>
                </a:solidFill>
              </a:rPr>
              <a:t>What I would do next, and the demo</a:t>
            </a:r>
            <a:endParaRPr lang="en-US" sz="3400" dirty="0"/>
          </a:p>
        </p:txBody>
      </p:sp>
      <p:sp>
        <p:nvSpPr>
          <p:cNvPr id="3" name="next-head-135"/>
          <p:cNvSpPr txBox="1"/>
          <p:nvPr/>
        </p:nvSpPr>
        <p:spPr>
          <a:xfrm>
            <a:off x="548640" y="1325880"/>
            <a:ext cx="5394960" cy="411480"/>
          </a:xfrm>
          <a:prstGeom prst="rect">
            <a:avLst/>
          </a:prstGeom>
          <a:noFill/>
          <a:ln/>
        </p:spPr>
        <p:txBody>
          <a:bodyPr wrap="square" lIns="0" tIns="0" rIns="0" bIns="0" rtlCol="0" anchor="ctr"/>
          <a:lstStyle/>
          <a:p>
            <a:pPr indent="0" marL="0">
              <a:buNone/>
            </a:pPr>
            <a:r>
              <a:rPr lang="en-US" sz="1800" b="1" dirty="0">
                <a:solidFill>
                  <a:schemeClr val="accent4"/>
                </a:solidFill>
                <a:latin typeface="Arial" pitchFamily="34" charset="0"/>
                <a:ea typeface="Arial" pitchFamily="34" charset="-122"/>
                <a:cs typeface="Arial" pitchFamily="34" charset="-120"/>
              </a:rPr>
              <a:t>Top three from the debt ledger</a:t>
            </a:r>
            <a:endParaRPr lang="en-US" sz="1800" dirty="0"/>
          </a:p>
        </p:txBody>
      </p:sp>
      <p:sp>
        <p:nvSpPr>
          <p:cNvPr id="4" name="step-136"/>
          <p:cNvSpPr txBox="1"/>
          <p:nvPr/>
        </p:nvSpPr>
        <p:spPr>
          <a:xfrm>
            <a:off x="548640" y="19659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next-item-137"/>
          <p:cNvSpPr txBox="1"/>
          <p:nvPr/>
        </p:nvSpPr>
        <p:spPr>
          <a:xfrm>
            <a:off x="1280160" y="19202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Lift the Discourse 20-page cap</a:t>
            </a:r>
            <a:endParaRPr lang="en-US" sz="1900" dirty="0"/>
          </a:p>
          <a:p>
            <a:pPr indent="0" marL="0">
              <a:buNone/>
            </a:pPr>
            <a:r>
              <a:rPr lang="en-US" sz="1500" dirty="0">
                <a:solidFill>
                  <a:schemeClr val="accent4"/>
                </a:solidFill>
              </a:rPr>
              <a:t>The only shortcut that can leave a source stuck failing until a person steps in.</a:t>
            </a:r>
            <a:endParaRPr lang="en-US" sz="1900" dirty="0"/>
          </a:p>
        </p:txBody>
      </p:sp>
      <p:sp>
        <p:nvSpPr>
          <p:cNvPr id="6" name="step-138"/>
          <p:cNvSpPr txBox="1"/>
          <p:nvPr/>
        </p:nvSpPr>
        <p:spPr>
          <a:xfrm>
            <a:off x="548640" y="33375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7" name="next-item-139"/>
          <p:cNvSpPr txBox="1"/>
          <p:nvPr/>
        </p:nvSpPr>
        <p:spPr>
          <a:xfrm>
            <a:off x="1280160" y="32918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Add migrations (Alembic)</a:t>
            </a:r>
            <a:endParaRPr lang="en-US" sz="1900" dirty="0"/>
          </a:p>
          <a:p>
            <a:pPr indent="0" marL="0">
              <a:buNone/>
            </a:pPr>
            <a:r>
              <a:rPr lang="en-US" sz="1500" dirty="0">
                <a:solidFill>
                  <a:schemeClr val="accent4"/>
                </a:solidFill>
              </a:rPr>
              <a:t>The first schema change on real data turns “delete the db file” into data loss.</a:t>
            </a:r>
            <a:endParaRPr lang="en-US" sz="1900" dirty="0"/>
          </a:p>
        </p:txBody>
      </p:sp>
      <p:sp>
        <p:nvSpPr>
          <p:cNvPr id="8" name="step-140"/>
          <p:cNvSpPr txBox="1"/>
          <p:nvPr/>
        </p:nvSpPr>
        <p:spPr>
          <a:xfrm>
            <a:off x="548640" y="47091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9" name="next-item-141"/>
          <p:cNvSpPr txBox="1"/>
          <p:nvPr/>
        </p:nvSpPr>
        <p:spPr>
          <a:xfrm>
            <a:off x="1280160" y="46634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Replace the shared bootstrap token</a:t>
            </a:r>
            <a:endParaRPr lang="en-US" sz="1900" dirty="0"/>
          </a:p>
          <a:p>
            <a:pPr indent="0" marL="0">
              <a:buNone/>
            </a:pPr>
            <a:r>
              <a:rPr lang="en-US" sz="1500" dirty="0">
                <a:solidFill>
                  <a:schemeClr val="accent4"/>
                </a:solidFill>
              </a:rPr>
              <a:t>The one security gap: a leaked token creates tenants, with no audit trail.</a:t>
            </a:r>
            <a:endParaRPr lang="en-US" sz="1900" dirty="0"/>
          </a:p>
        </p:txBody>
      </p:sp>
      <p:sp>
        <p:nvSpPr>
          <p:cNvPr id="10" name="demo-card-142"/>
          <p:cNvSpPr/>
          <p:nvPr/>
        </p:nvSpPr>
        <p:spPr>
          <a:xfrm>
            <a:off x="6400800" y="1325880"/>
            <a:ext cx="5242255" cy="4343400"/>
          </a:xfrm>
          <a:prstGeom prst="roundRect">
            <a:avLst>
              <a:gd name="adj" fmla="val 1684"/>
            </a:avLst>
          </a:prstGeom>
          <a:solidFill>
            <a:schemeClr val="accent6"/>
          </a:solidFill>
          <a:ln w="6350">
            <a:solidFill>
              <a:schemeClr val="accent6"/>
            </a:solidFill>
            <a:prstDash val="solid"/>
          </a:ln>
        </p:spPr>
      </p:sp>
      <p:sp>
        <p:nvSpPr>
          <p:cNvPr id="11" name="demo-head-143"/>
          <p:cNvSpPr txBox="1"/>
          <p:nvPr/>
        </p:nvSpPr>
        <p:spPr>
          <a:xfrm>
            <a:off x="6675120" y="1508760"/>
            <a:ext cx="4693615"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Demo  </a:t>
            </a:r>
            <a:pPr indent="0" marL="0">
              <a:buNone/>
            </a:pPr>
            <a:r>
              <a:rPr lang="en-US" sz="1500" b="1" dirty="0">
                <a:solidFill>
                  <a:schemeClr val="accent1"/>
                </a:solidFill>
                <a:latin typeface="Courier New" pitchFamily="34" charset="0"/>
                <a:ea typeface="Courier New" pitchFamily="34" charset="-122"/>
                <a:cs typeface="Courier New" pitchFamily="34" charset="-120"/>
              </a:rPr>
              <a:t>./scripts/demo.sh</a:t>
            </a:r>
            <a:endParaRPr lang="en-US" sz="1800" dirty="0"/>
          </a:p>
        </p:txBody>
      </p:sp>
      <p:sp>
        <p:nvSpPr>
          <p:cNvPr id="12" name="demo-steps-144"/>
          <p:cNvSpPr txBox="1"/>
          <p:nvPr/>
        </p:nvSpPr>
        <p:spPr>
          <a:xfrm>
            <a:off x="6675120" y="2103120"/>
            <a:ext cx="4693615" cy="338328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700" dirty="0">
                <a:solidFill>
                  <a:schemeClr val="bg1"/>
                </a:solidFill>
              </a:rPr>
              <a:t>Start the server, show /health</a:t>
            </a:r>
            <a:endParaRPr lang="en-US" sz="1700" dirty="0"/>
          </a:p>
          <a:p>
            <a:pPr marL="342900" indent="-342900">
              <a:spcAft>
                <a:spcPts val="900"/>
              </a:spcAft>
              <a:buSzPct val="100000"/>
              <a:buFont typeface="+mj-lt"/>
              <a:buAutoNum type="arabicPeriod" startAt="1"/>
            </a:pPr>
            <a:r>
              <a:rPr lang="en-US" sz="1700" dirty="0">
                <a:solidFill>
                  <a:schemeClr val="bg1"/>
                </a:solidFill>
              </a:rPr>
              <a:t>Seed two tenants: acme and globex</a:t>
            </a:r>
            <a:endParaRPr lang="en-US" sz="1700" dirty="0"/>
          </a:p>
          <a:p>
            <a:pPr marL="342900" indent="-342900">
              <a:spcAft>
                <a:spcPts val="900"/>
              </a:spcAft>
              <a:buSzPct val="100000"/>
              <a:buFont typeface="+mj-lt"/>
              <a:buAutoNum type="arabicPeriod" startAt="1"/>
            </a:pPr>
            <a:r>
              <a:rPr lang="en-US" sz="1700" dirty="0">
                <a:solidFill>
                  <a:schemeClr val="bg1"/>
                </a:solidFill>
              </a:rPr>
              <a:t>Same review twice: duplicate false, then true</a:t>
            </a:r>
            <a:endParaRPr lang="en-US" sz="1700" dirty="0"/>
          </a:p>
          <a:p>
            <a:pPr marL="342900" indent="-342900">
              <a:spcAft>
                <a:spcPts val="900"/>
              </a:spcAft>
              <a:buSzPct val="100000"/>
              <a:buFont typeface="+mj-lt"/>
              <a:buAutoNum type="arabicPeriod" startAt="1"/>
            </a:pPr>
            <a:r>
              <a:rPr lang="en-US" sz="1700" dirty="0">
                <a:solidFill>
                  <a:schemeClr val="bg1"/>
                </a:solidFill>
              </a:rPr>
              <a:t>Same review to a second Play Store source</a:t>
            </a:r>
            <a:endParaRPr lang="en-US" sz="1700" dirty="0"/>
          </a:p>
          <a:p>
            <a:pPr marL="342900" indent="-342900">
              <a:spcAft>
                <a:spcPts val="900"/>
              </a:spcAft>
              <a:buSzPct val="100000"/>
              <a:buFont typeface="+mj-lt"/>
              <a:buAutoNum type="arabicPeriod" startAt="1"/>
            </a:pPr>
            <a:r>
              <a:rPr lang="en-US" sz="1700" dirty="0">
                <a:solidFill>
                  <a:schemeClr val="bg1"/>
                </a:solidFill>
              </a:rPr>
              <a:t>acme sees two records; globex sees none</a:t>
            </a:r>
            <a:endParaRPr lang="en-US" sz="1700" dirty="0"/>
          </a:p>
          <a:p>
            <a:pPr marL="342900" indent="-342900">
              <a:spcAft>
                <a:spcPts val="900"/>
              </a:spcAft>
              <a:buSzPct val="100000"/>
              <a:buFont typeface="+mj-lt"/>
              <a:buAutoNum type="arabicPeriod" startAt="1"/>
            </a:pPr>
            <a:r>
              <a:rPr lang="en-US" sz="1700" dirty="0">
                <a:solidFill>
                  <a:schemeClr val="bg1"/>
                </a:solidFill>
              </a:rPr>
              <a:t>Malformed payload goes dead; replay it</a:t>
            </a:r>
            <a:endParaRPr lang="en-US" sz="1700" dirty="0"/>
          </a:p>
          <a:p>
            <a:pPr marL="342900" indent="-342900">
              <a:spcAft>
                <a:spcPts val="900"/>
              </a:spcAft>
              <a:buSzPct val="100000"/>
              <a:buFont typeface="+mj-lt"/>
              <a:buAutoNum type="arabicPeriod" startAt="1"/>
            </a:pPr>
            <a:r>
              <a:rPr lang="en-US" sz="1700" dirty="0">
                <a:solidFill>
                  <a:schemeClr val="bg1"/>
                </a:solidFill>
              </a:rPr>
              <a:t>Live Discourse sync, then the posts</a:t>
            </a:r>
            <a:endParaRPr lang="en-US" sz="1700" dirty="0"/>
          </a:p>
          <a:p>
            <a:pPr marL="342900" indent="-342900">
              <a:spcAft>
                <a:spcPts val="900"/>
              </a:spcAft>
              <a:buSzPct val="100000"/>
              <a:buFont typeface="+mj-lt"/>
              <a:buAutoNum type="arabicPeriod" startAt="1"/>
            </a:pPr>
            <a:r>
              <a:rPr lang="en-US" sz="1700" dirty="0">
                <a:solidFill>
                  <a:schemeClr val="bg1"/>
                </a:solidFill>
              </a:rPr>
              <a:t>20 pushes queued, kill -9, restart: drains</a:t>
            </a:r>
            <a:endParaRPr lang="en-US" sz="1700" dirty="0"/>
          </a:p>
          <a:p>
            <a:pPr marL="342900" indent="-342900">
              <a:spcAft>
                <a:spcPts val="900"/>
              </a:spcAft>
              <a:buSzPct val="100000"/>
              <a:buFont typeface="+mj-lt"/>
              <a:buAutoNum type="arabicPeriod" startAt="1"/>
            </a:pPr>
            <a:r>
              <a:rPr lang="en-US" sz="1700" dirty="0">
                <a:solidFill>
                  <a:schemeClr val="bg1"/>
                </a:solidFill>
              </a:rPr>
              <a:t>Stop the server: “done”</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Whiteboard Ink">
  <a:themeElements>
    <a:clrScheme name="Whiteboard Ink">
      <a:dk1>
        <a:srgbClr val="1A1D21"/>
      </a:dk1>
      <a:lt1>
        <a:srgbClr val="FFFFFF"/>
      </a:lt1>
      <a:dk2>
        <a:srgbClr val="495057"/>
      </a:dk2>
      <a:lt2>
        <a:srgbClr val="F1F3F5"/>
      </a:lt2>
      <a:accent1>
        <a:srgbClr val="E8590C"/>
      </a:accent1>
      <a:accent2>
        <a:srgbClr val="2B8A3E"/>
      </a:accent2>
      <a:accent3>
        <a:srgbClr val="C92A2A"/>
      </a:accent3>
      <a:accent4>
        <a:srgbClr val="ADB5BD"/>
      </a:accent4>
      <a:accent5>
        <a:srgbClr val="FFF0E0"/>
      </a:accent5>
      <a:accent6>
        <a:srgbClr val="2C3137"/>
      </a:accent6>
      <a:hlink>
        <a:srgbClr val="1971C2"/>
      </a:hlink>
      <a:folHlink>
        <a:srgbClr val="862E9C"/>
      </a:folHlink>
    </a:clrScheme>
    <a:fontScheme name="Whiteboard In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Feedback Ingestion Service</dc:title>
  <dc:subject>PptxGenJS Presentation</dc:subject>
  <dc:creator>Feedback ingestion take-home</dc:creator>
  <cp:lastModifiedBy>Feedback ingestion take-home</cp:lastModifiedBy>
  <cp:revision>1</cp:revision>
  <dcterms:created xsi:type="dcterms:W3CDTF">2026-10-02T20:31:10Z</dcterms:created>
  <dcterms:modified xsi:type="dcterms:W3CDTF">2026-10-02T20:31:10Z</dcterms:modified>
</cp:coreProperties>
</file>